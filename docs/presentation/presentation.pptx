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Segoe UI Symbol" panose="020B0502040204020203" pitchFamily="3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963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to nazwa, którą ROPS w Krakowie nadał cyfrowemu sercu planowanego Małopolskiego Hubu Innowacji Społecznych. Partner sam opisał zadanie tak: nie kolejny katalog, tylko narzędzie, które łączy problem z rozwiązaniem, wiedzą i ludźmi, a gdy rozwiązania jeszcze nie ma, pomaga znaleźć drogę do jego stworzenia. Zbudowaliśmy działający prototyp: stronę dla osób zgłaszających potrzeby i panel dla ROPS. Kolejne slajdy pokazują moduł po module, jak prototyp realizuje wyzwanie. Na telefonie widać prawdziwą drogę z prototypu.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pierwszy, obowiązkowy: matchmaking społeczny. To prawdziwa droga z prototypu dla przypadku testowego P01: samotni seniorzy w wiejskiej gminie Laskowa. Składa się z czterech części. Rozwiązania: sprawdzone innowacje, każda z uzasadnieniem opartym na cytatach ze źródła i z informacją, czego wymaga. Wiedza: poradniki i modele usług ROPS. Ludzie: autorzy, opiekun kategorii w ROPS i osoby, które zgłosiły gotowość do pomocy. Ścieżka wdrożenia: programy, z których można to sfinansować, z kwotami, terminami i kolejnymi krokami. To nie lista wyników wyszukiwania, tylko odpowiedź na pytanie, co zrobić dalej.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Drugi element modułu pierwszego: podobne przypadki. Pod rozwiązaniami widać potrzeby z banku potrzeb i fiszki pomysłów podobne do tej, ale tylko te, na których publikację zgodził się autor i które zaakceptował ROPS. Ktoś zapyta: czy to nie zwykła wyszukiwarka albo czatbot do katalogu? Nie. Wyszukiwarka daje linki, czatbot z RAG pisze zgrabny akapit, a oba narzędzia odpowiadają na każde pytanie. HubMI układa drogę według reguł, na podstawie opracowanych danych: kwoty i terminy pochodzą z trzydziestu ścieżek, do których model nie ma dostępu; model tylko wybiera i wyjaśnia, a program sprawdza każde odwołanie i każdy cytat. I potrafi powiedzieć „nie”: przez tegoroczną suszę w studniach w gminie Dobra zabrakło wody, nic w katalogach nie pasuje, a narzędzie mówi to wprost i proponuje wpis do banku potrzeb; na jego podstawie powstaje fiszka dla inkubatora. Trafność sprawdzamy na przypadkach testowych: we wszystkich siedmiu, dla których istnieje sprawdzone rozwiązanie, właściwa innowacja jest wśród trzech proponowanych.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czwarty, tester innowacji. Przy każdej innowacji jest przycisk „Oceń albo zgłoś się do testów”. Można wystawić ocenę od jednego do pięciu, zaznaczyć, skąd zna się rozwiązanie, napisać opinię, zaproponować ulepszenie i zgłosić się do testów, jako użytkownik albo jako organizacja, która wdroży rozwiązanie na próbę w swojej gminie. Opinię można wysłać anonimowo. Każdy tekst przechodzi przez filtr bezpieczeństwa, a do autorów innowacji trafia za pośrednictwem ROPS, gdy zatwierdzi go pracownik. Na stronie innowacji widać średnią ocen, liczbę zgłoszeń do testów i propozycji ulepszeń, ale nigdy treści ani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piąty, platforma aktywnej komunikacji. Rozmowa z ROPS nie wymaga zakładania konta ani podawania e-maila: po wysłaniu pytania jego autor dostaje prywatny link, a przeglądarka zapisuje go w „Moich rozmowach”. Pytanie można zadać przy każdej innowacji, fiszce pomysłu i ogłoszeniu, więc od razu wiadomo, czego dotyczy. Odpowiada pracownik ROPS, który podpisuje się nazwiskiem. Gdy potrzebny jest ekspert, ROPS zaprasza mentora: mentor dostaje własny link do tej jednej rozmowy i nie ma dostępu do panelu. Partnerstwom międzysektorowym służy tablica ogłoszeń „Szukam partnera” i „Oferuję współpracę” z filtrem według sektora; ogłoszenie pojawia się po zatwierdzeniu przez ROPS, a odpowiedzi przekazuje ROPS, bez publikowania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szósty, panel administratora. Pracownik ROPS loguje się, podając imię i nazwisko oraz kod dostępu. Pulpit pokazuje, co czeka na decyzję i co pojawiło się od ostatniej wizyty: w ten sposób administrator dowiaduje się o nowym pomyśle. Pracownik nadaje fiszce status i pisze odpowiedź, którą autor od razu widzi na stronie swojej fiszki, z datą; to właśnie ścieżka odpowiedzi, o którą pyta partner. Wiedzę można zmienić w kilka sekund: oznaczenie „Sprawdzone przez ROPS”, poprawiony opis, nowy film albo nowy materiał są widoczne od razu, także w drogach utworzonych wcześniej. Każda decyzja jest odnotowana z nazwiskiem osoby, która ją podjęła, a dane można wyeksportować do CSV.</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Wystąpienie partnera zapowiadające zadanie nosiło tytuł „Od empatii do technologii”. Dlatego każdy tekst najpierw przechodzi przez filtr bezpieczeństwa: na potrzebę społeczności narzędzie odpowiada drogą; osoba w kryzysie dostaje numery telefonów zaufania i adres lokalnego ośrodka pomocy społecznej, a nie listę innowacji; prośbę, która ma kogoś wykluczyć, odrzucamy uprzejmie, z możliwością odwołania. Potem polski model PolDense wyszukuje kandydatów, a Bielik, otwarty polski model, wybiera i wyjaśnia. Nie kierowaliśmy się nazwą: przed hackathonem porównaliśmy Bielika z czterema innymi modelami językowymi na polskich przykładach, a PolDense z pięcioma innymi modelami wyszukiwania na wszystkich 381 opisach innowacji; wyniki są w repozytorium. Model nie może wymyślić rozwiązania ani kwoty: każde odwołanie i cytat jest sprawdzane, a kwoty pochodzą z opracowanej tabeli. Wszystko, co dotyczy konkretnej osoby, czeka na decyzję pracownika ROPS w panelu, a narzędzie niczego nikomu nie wysyła.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Zadanie wymaga koncepcji, a nie tylko oprogramowania. To, co widzieliście, działa dziś: droga dla osób zgłaszających potrzeby, a obok fiszka pomysłu, tester innowacji, rozmowy z ROPS i mentorami oraz tablica partnerstw. Z siedmiu modułów wyzwania pięć działa w całości, a dwa – częściowo. Zasobnik wiedzy celowo nie jest kolejnym katalogiem, bo partner wyraźnie tego nie chce: wiedza jest częścią drogi, z linkami do wszystkich materiałów, dokumentów i filmów. Każdy wpis trafia do panelu ROPS: decyzję podejmuje pracownik, a system odnotowuje ją z jego nazwiskiem; autor pomysłu widzi odpowiedź na stronie swojej fiszki. Plan rozwoju dotyczy ludzi wokół narzędzia: trzech ról, które mogą pełnić trzy osoby albo jedna – opiekun kategorii, czyli osoba kontaktowa w każdej drodze, redaktor katalogu i koordynator banku potrzeb. Usługa domknie trzy cykle: potrzeba staje się wdrożeniem; potrzeba bez rozwiązania staje się tematem naboru do inkubatora, a potem nową innowacją; sprawdzona innowacja trafia tam, gdzie jest potrzebna. Utrzymanie jest tanie: jeden serwer 4 GB dla aplikacji i polskiego modelu wyszukiwania to 24 dolary miesięcznie na AWS Lightsail; w wersji docelowej PostgreSQL z pgvector na RDS, około 30 dolarów miesięcznie (prototyp zapisuje wpisy w jednym pliku). Jedno zapytanie do Bielika przez Hugging Face to około pięciu tysięcy tokenów po 40 centów za milion, czyli jedna piąta centa; cała droga to cztery zapytania, łącznie poniżej jednego centa.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 wszystkich: ROPS prowadził inkubator dostępności, więc postawiliśmy sobie poprzeczkę wyżej, niż wymaga prawo: krój pisma dla osób słabowidzących, kontrast 7:1, trzy motywy, pełna obsługa klawiaturą i automatyczny test każdego ekranu. Osoba niewidoma może opisać i zapisać potrzebę za pomocą czytnika ekranu: każde pole ma etykietę, czytnik informuje o każdym etapie oczekiwania, a o wymaganej zgodzie informujemy przed pierwszą próbą wysłania. Wszystko, co pokazuje narzędzie, pochodzi z otwartych danych, z linkiem do źródła i informacją o licencji; katalogi pozostają nadrzędnym źródłem danych. Przy budowie pomagali nam agenci AI piszący kod; pomysł i decyzje są nasze, a każdą z nich zapisujemy w jawnym rejestrze decyzji projektu. Dziękujemy.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ZADANIE HUBMI.PL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od potrzeby</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do rozwiązania</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Więcej niż katalog – wsparcie w działaniu</a:t>
            </a:r>
            <a:endParaRPr lang="en-US" sz="2800" dirty="0"/>
          </a:p>
        </p:txBody>
      </p:sp>
      <p:sp>
        <p:nvSpPr>
          <p:cNvPr id="5" name="Shape 3"/>
          <p:cNvSpPr/>
          <p:nvPr/>
        </p:nvSpPr>
        <p:spPr>
          <a:xfrm>
            <a:off x="640080" y="3840480"/>
            <a:ext cx="54864" cy="1371600"/>
          </a:xfrm>
          <a:prstGeom prst="rect">
            <a:avLst/>
          </a:prstGeom>
          <a:solidFill>
            <a:srgbClr val="9DC3F7"/>
          </a:solidFill>
          <a:ln w="12700">
            <a:solidFill>
              <a:srgbClr val="9DC3F7"/>
            </a:solidFill>
            <a:prstDash val="solid"/>
          </a:ln>
        </p:spPr>
      </p:sp>
      <p:sp>
        <p:nvSpPr>
          <p:cNvPr id="6" name="Text 4"/>
          <p:cNvSpPr txBox="1"/>
          <p:nvPr/>
        </p:nvSpPr>
        <p:spPr>
          <a:xfrm>
            <a:off x="868680" y="3794760"/>
            <a:ext cx="6720840" cy="1463040"/>
          </a:xfrm>
          <a:prstGeom prst="rect">
            <a:avLst/>
          </a:prstGeom>
          <a:noFill/>
          <a:ln/>
        </p:spPr>
        <p:txBody>
          <a:bodyPr wrap="square" lIns="0" tIns="0" rIns="0" bIns="0" rtlCol="0" anchor="t"/>
          <a:lstStyle/>
          <a:p>
            <a:pPr marL="0" indent="0">
              <a:lnSpc>
                <a:spcPct val="110000"/>
              </a:lnSpc>
              <a:buNone/>
            </a:pPr>
            <a:r>
              <a:rPr lang="en-US" sz="1500" i="1" dirty="0">
                <a:solidFill>
                  <a:srgbClr val="DCE6F2"/>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600"/>
              </a:spcBef>
              <a:buNone/>
            </a:pPr>
            <a:r>
              <a:rPr lang="en-US" sz="1100" b="1" dirty="0">
                <a:solidFill>
                  <a:srgbClr val="9DC3F7"/>
                </a:solidFill>
                <a:latin typeface="Atkinson Hyperlegible Next" pitchFamily="34" charset="0"/>
                <a:ea typeface="Atkinson Hyperlegible Next" pitchFamily="34" charset="-122"/>
                <a:cs typeface="Atkinson Hyperlegible Next" pitchFamily="34" charset="-120"/>
              </a:rPr>
              <a:t>ROPS w Krakowie, zadanie HubMI.pl</a:t>
            </a:r>
            <a:endParaRPr lang="en-US" sz="1500" dirty="0"/>
          </a:p>
        </p:txBody>
      </p:sp>
      <p:sp>
        <p:nvSpPr>
          <p:cNvPr id="7" name="Text 5"/>
          <p:cNvSpPr txBox="1"/>
          <p:nvPr/>
        </p:nvSpPr>
        <p:spPr>
          <a:xfrm>
            <a:off x="640080" y="544068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ZESPÓŁ</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8"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Opisz potrzebę, poznaj drogę</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„proponuje gotowe rozwiązania/innowacje społeczne”.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Prawdziwa droga z prototypu</a:t>
            </a:r>
            <a:endParaRPr lang="en-US" sz="3200" dirty="0"/>
          </a:p>
        </p:txBody>
      </p:sp>
      <p:sp>
        <p:nvSpPr>
          <p:cNvPr id="6" name="Text 4"/>
          <p:cNvSpPr txBox="1"/>
          <p:nvPr/>
        </p:nvSpPr>
        <p:spPr>
          <a:xfrm>
            <a:off x="640080" y="1691640"/>
            <a:ext cx="329184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POTRZEBA  ·  PRZYPADEK TESTOWY P01</a:t>
            </a:r>
            <a:endParaRPr lang="en-US" sz="1100" dirty="0"/>
          </a:p>
        </p:txBody>
      </p:sp>
      <p:sp>
        <p:nvSpPr>
          <p:cNvPr id="7" name="Shape 5"/>
          <p:cNvSpPr/>
          <p:nvPr/>
        </p:nvSpPr>
        <p:spPr>
          <a:xfrm>
            <a:off x="640080" y="2057400"/>
            <a:ext cx="3017520" cy="3429000"/>
          </a:xfrm>
          <a:prstGeom prst="roundRect">
            <a:avLst>
              <a:gd name="adj" fmla="val 3636"/>
            </a:avLst>
          </a:prstGeom>
          <a:solidFill>
            <a:srgbClr val="EEF4FB"/>
          </a:solidFill>
          <a:ln w="12700">
            <a:solidFill>
              <a:srgbClr val="EEF4FB"/>
            </a:solidFill>
            <a:prstDash val="solid"/>
          </a:ln>
        </p:spPr>
      </p:sp>
      <p:sp>
        <p:nvSpPr>
          <p:cNvPr id="8" name="Text 6"/>
          <p:cNvSpPr txBox="1"/>
          <p:nvPr/>
        </p:nvSpPr>
        <p:spPr>
          <a:xfrm>
            <a:off x="841248" y="2194560"/>
            <a:ext cx="2615184" cy="2560320"/>
          </a:xfrm>
          <a:prstGeom prst="rect">
            <a:avLst/>
          </a:prstGeom>
          <a:noFill/>
          <a:ln/>
        </p:spPr>
        <p:txBody>
          <a:bodyPr wrap="square" lIns="0" tIns="0" rIns="0" bIns="0" rtlCol="0" anchor="t"/>
          <a:lstStyle/>
          <a:p>
            <a:pPr marL="0" indent="0">
              <a:lnSpc>
                <a:spcPct val="112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500" dirty="0"/>
          </a:p>
        </p:txBody>
      </p:sp>
      <p:sp>
        <p:nvSpPr>
          <p:cNvPr id="9" name="Text 7"/>
          <p:cNvSpPr txBox="1"/>
          <p:nvPr/>
        </p:nvSpPr>
        <p:spPr>
          <a:xfrm>
            <a:off x="841248" y="484632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Miejsce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Zgłasza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pracownik instytucji</a:t>
            </a:r>
            <a:endParaRPr lang="en-US" sz="1300" dirty="0"/>
          </a:p>
        </p:txBody>
      </p:sp>
      <p:sp>
        <p:nvSpPr>
          <p:cNvPr id="10" name="Shape 8"/>
          <p:cNvSpPr/>
          <p:nvPr/>
        </p:nvSpPr>
        <p:spPr>
          <a:xfrm>
            <a:off x="2971800" y="5733288"/>
            <a:ext cx="685800" cy="384048"/>
          </a:xfrm>
          <a:prstGeom prst="rightArrow">
            <a:avLst/>
          </a:prstGeom>
          <a:solidFill>
            <a:srgbClr val="1A4B8C"/>
          </a:solidFill>
          <a:ln w="12700">
            <a:solidFill>
              <a:srgbClr val="1A4B8C"/>
            </a:solidFill>
            <a:prstDash val="solid"/>
          </a:ln>
        </p:spPr>
      </p:sp>
      <p:sp>
        <p:nvSpPr>
          <p:cNvPr id="11" name="Text 9"/>
          <p:cNvSpPr txBox="1"/>
          <p:nvPr/>
        </p:nvSpPr>
        <p:spPr>
          <a:xfrm>
            <a:off x="640080" y="5605272"/>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cytat porównujemy z opisem w katalogu. Tekst wygenerowany przez AI jest oznaczony.</a:t>
            </a:r>
            <a:endParaRPr lang="en-US" sz="1200" dirty="0"/>
          </a:p>
        </p:txBody>
      </p:sp>
      <p:sp>
        <p:nvSpPr>
          <p:cNvPr id="12" name="Shape 10"/>
          <p:cNvSpPr/>
          <p:nvPr/>
        </p:nvSpPr>
        <p:spPr>
          <a:xfrm>
            <a:off x="3977640" y="1691640"/>
            <a:ext cx="292608" cy="292608"/>
          </a:xfrm>
          <a:prstGeom prst="ellipse">
            <a:avLst/>
          </a:prstGeom>
          <a:solidFill>
            <a:srgbClr val="FFFFFF"/>
          </a:solidFill>
          <a:ln w="19050">
            <a:solidFill>
              <a:srgbClr val="1A4B8C"/>
            </a:solidFill>
            <a:prstDash val="solid"/>
          </a:ln>
        </p:spPr>
      </p:sp>
      <p:sp>
        <p:nvSpPr>
          <p:cNvPr id="13" name="Text 11"/>
          <p:cNvSpPr txBox="1"/>
          <p:nvPr/>
        </p:nvSpPr>
        <p:spPr>
          <a:xfrm>
            <a:off x="3977640"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4" name="Text 12"/>
          <p:cNvSpPr txBox="1"/>
          <p:nvPr/>
        </p:nvSpPr>
        <p:spPr>
          <a:xfrm>
            <a:off x="4361688"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Rozwiązania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dlaczego pasują, czego wymagają</a:t>
            </a:r>
            <a:endParaRPr lang="en-US" sz="1400" dirty="0"/>
          </a:p>
        </p:txBody>
      </p:sp>
      <p:sp>
        <p:nvSpPr>
          <p:cNvPr id="15" name="Shape 13"/>
          <p:cNvSpPr/>
          <p:nvPr/>
        </p:nvSpPr>
        <p:spPr>
          <a:xfrm>
            <a:off x="3977640"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0" descr="C:\Users\bobro\OneDrive\Developer\HackYeah2026\.local\presentation\source\img\b-solution.png"/>
          <p:cNvPicPr>
            <a:picLocks noChangeAspect="1"/>
          </p:cNvPicPr>
          <p:nvPr/>
        </p:nvPicPr>
        <p:blipFill>
          <a:blip r:embed="rId3"/>
          <a:stretch>
            <a:fillRect/>
          </a:stretch>
        </p:blipFill>
        <p:spPr>
          <a:xfrm>
            <a:off x="3977640" y="2075688"/>
            <a:ext cx="3672688" cy="1904921"/>
          </a:xfrm>
          <a:prstGeom prst="rect">
            <a:avLst/>
          </a:prstGeom>
        </p:spPr>
      </p:pic>
      <p:sp>
        <p:nvSpPr>
          <p:cNvPr id="17" name="Shape 14"/>
          <p:cNvSpPr/>
          <p:nvPr/>
        </p:nvSpPr>
        <p:spPr>
          <a:xfrm>
            <a:off x="3977640" y="2075688"/>
            <a:ext cx="3672688" cy="1904921"/>
          </a:xfrm>
          <a:prstGeom prst="rect">
            <a:avLst/>
          </a:prstGeom>
          <a:solidFill>
            <a:srgbClr val="FFFFFF">
              <a:alpha val="0"/>
            </a:srgbClr>
          </a:solidFill>
          <a:ln w="9525">
            <a:solidFill>
              <a:srgbClr val="C3CAD3"/>
            </a:solidFill>
            <a:prstDash val="solid"/>
          </a:ln>
        </p:spPr>
      </p:sp>
      <p:sp>
        <p:nvSpPr>
          <p:cNvPr id="18" name="Shape 15"/>
          <p:cNvSpPr/>
          <p:nvPr/>
        </p:nvSpPr>
        <p:spPr>
          <a:xfrm>
            <a:off x="7878928" y="1691640"/>
            <a:ext cx="292608" cy="292608"/>
          </a:xfrm>
          <a:prstGeom prst="ellipse">
            <a:avLst/>
          </a:prstGeom>
          <a:solidFill>
            <a:srgbClr val="FFFFFF"/>
          </a:solidFill>
          <a:ln w="19050">
            <a:solidFill>
              <a:srgbClr val="1A4B8C"/>
            </a:solidFill>
            <a:prstDash val="solid"/>
          </a:ln>
        </p:spPr>
      </p:sp>
      <p:sp>
        <p:nvSpPr>
          <p:cNvPr id="19" name="Text 16"/>
          <p:cNvSpPr txBox="1"/>
          <p:nvPr/>
        </p:nvSpPr>
        <p:spPr>
          <a:xfrm>
            <a:off x="7878928"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20" name="Text 17"/>
          <p:cNvSpPr txBox="1"/>
          <p:nvPr/>
        </p:nvSpPr>
        <p:spPr>
          <a:xfrm>
            <a:off x="8262976"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Wiedza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poradniki i modele usług</a:t>
            </a:r>
            <a:endParaRPr lang="en-US" sz="1400" dirty="0"/>
          </a:p>
        </p:txBody>
      </p:sp>
      <p:sp>
        <p:nvSpPr>
          <p:cNvPr id="21" name="Shape 18"/>
          <p:cNvSpPr/>
          <p:nvPr/>
        </p:nvSpPr>
        <p:spPr>
          <a:xfrm>
            <a:off x="7878928"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2" name="Image 1" descr="C:\Users\bobro\OneDrive\Developer\HackYeah2026\.local\presentation\source\img\b-knowledge.png"/>
          <p:cNvPicPr>
            <a:picLocks noChangeAspect="1"/>
          </p:cNvPicPr>
          <p:nvPr/>
        </p:nvPicPr>
        <p:blipFill>
          <a:blip r:embed="rId4"/>
          <a:stretch>
            <a:fillRect/>
          </a:stretch>
        </p:blipFill>
        <p:spPr>
          <a:xfrm>
            <a:off x="7878928" y="2075688"/>
            <a:ext cx="3672688" cy="1904921"/>
          </a:xfrm>
          <a:prstGeom prst="rect">
            <a:avLst/>
          </a:prstGeom>
        </p:spPr>
      </p:pic>
      <p:sp>
        <p:nvSpPr>
          <p:cNvPr id="23" name="Shape 19"/>
          <p:cNvSpPr/>
          <p:nvPr/>
        </p:nvSpPr>
        <p:spPr>
          <a:xfrm>
            <a:off x="7878928" y="2075688"/>
            <a:ext cx="3672688" cy="1904921"/>
          </a:xfrm>
          <a:prstGeom prst="rect">
            <a:avLst/>
          </a:prstGeom>
          <a:solidFill>
            <a:srgbClr val="FFFFFF">
              <a:alpha val="0"/>
            </a:srgbClr>
          </a:solidFill>
          <a:ln w="9525">
            <a:solidFill>
              <a:srgbClr val="C3CAD3"/>
            </a:solidFill>
            <a:prstDash val="solid"/>
          </a:ln>
        </p:spPr>
      </p:sp>
      <p:sp>
        <p:nvSpPr>
          <p:cNvPr id="24" name="Shape 20"/>
          <p:cNvSpPr/>
          <p:nvPr/>
        </p:nvSpPr>
        <p:spPr>
          <a:xfrm>
            <a:off x="3977640" y="4163489"/>
            <a:ext cx="292608" cy="292608"/>
          </a:xfrm>
          <a:prstGeom prst="ellipse">
            <a:avLst/>
          </a:prstGeom>
          <a:solidFill>
            <a:srgbClr val="FFFFFF"/>
          </a:solidFill>
          <a:ln w="19050">
            <a:solidFill>
              <a:srgbClr val="1A4B8C"/>
            </a:solidFill>
            <a:prstDash val="solid"/>
          </a:ln>
        </p:spPr>
      </p:sp>
      <p:sp>
        <p:nvSpPr>
          <p:cNvPr id="25" name="Text 21"/>
          <p:cNvSpPr txBox="1"/>
          <p:nvPr/>
        </p:nvSpPr>
        <p:spPr>
          <a:xfrm>
            <a:off x="3977640"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6" name="Text 22"/>
          <p:cNvSpPr txBox="1"/>
          <p:nvPr/>
        </p:nvSpPr>
        <p:spPr>
          <a:xfrm>
            <a:off x="4361688"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Ludzie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autorzy, opiekun, chętni do pomocy</a:t>
            </a:r>
            <a:endParaRPr lang="en-US" sz="1400" dirty="0"/>
          </a:p>
        </p:txBody>
      </p:sp>
      <p:sp>
        <p:nvSpPr>
          <p:cNvPr id="27" name="Shape 23"/>
          <p:cNvSpPr/>
          <p:nvPr/>
        </p:nvSpPr>
        <p:spPr>
          <a:xfrm>
            <a:off x="3977640"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8" name="Image 2" descr="C:\Users\bobro\OneDrive\Developer\HackYeah2026\.local\presentation\source\img\b-people.png"/>
          <p:cNvPicPr>
            <a:picLocks noChangeAspect="1"/>
          </p:cNvPicPr>
          <p:nvPr/>
        </p:nvPicPr>
        <p:blipFill>
          <a:blip r:embed="rId5"/>
          <a:stretch>
            <a:fillRect/>
          </a:stretch>
        </p:blipFill>
        <p:spPr>
          <a:xfrm>
            <a:off x="3977640" y="4547537"/>
            <a:ext cx="3672688" cy="1904921"/>
          </a:xfrm>
          <a:prstGeom prst="rect">
            <a:avLst/>
          </a:prstGeom>
        </p:spPr>
      </p:pic>
      <p:sp>
        <p:nvSpPr>
          <p:cNvPr id="29" name="Shape 24"/>
          <p:cNvSpPr/>
          <p:nvPr/>
        </p:nvSpPr>
        <p:spPr>
          <a:xfrm>
            <a:off x="3977640" y="4547537"/>
            <a:ext cx="3672688" cy="1904921"/>
          </a:xfrm>
          <a:prstGeom prst="rect">
            <a:avLst/>
          </a:prstGeom>
          <a:solidFill>
            <a:srgbClr val="FFFFFF">
              <a:alpha val="0"/>
            </a:srgbClr>
          </a:solidFill>
          <a:ln w="9525">
            <a:solidFill>
              <a:srgbClr val="C3CAD3"/>
            </a:solidFill>
            <a:prstDash val="solid"/>
          </a:ln>
        </p:spPr>
      </p:sp>
      <p:sp>
        <p:nvSpPr>
          <p:cNvPr id="30" name="Shape 25"/>
          <p:cNvSpPr/>
          <p:nvPr/>
        </p:nvSpPr>
        <p:spPr>
          <a:xfrm>
            <a:off x="7878928" y="4163489"/>
            <a:ext cx="292608" cy="292608"/>
          </a:xfrm>
          <a:prstGeom prst="ellipse">
            <a:avLst/>
          </a:prstGeom>
          <a:solidFill>
            <a:srgbClr val="FFFFFF"/>
          </a:solidFill>
          <a:ln w="19050">
            <a:solidFill>
              <a:srgbClr val="1A4B8C"/>
            </a:solidFill>
            <a:prstDash val="solid"/>
          </a:ln>
        </p:spPr>
      </p:sp>
      <p:sp>
        <p:nvSpPr>
          <p:cNvPr id="31" name="Text 26"/>
          <p:cNvSpPr txBox="1"/>
          <p:nvPr/>
        </p:nvSpPr>
        <p:spPr>
          <a:xfrm>
            <a:off x="7878928"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32" name="Text 27"/>
          <p:cNvSpPr txBox="1"/>
          <p:nvPr/>
        </p:nvSpPr>
        <p:spPr>
          <a:xfrm>
            <a:off x="8262976"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Ścieżka wdrożenia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finansowanie i kroki</a:t>
            </a:r>
            <a:endParaRPr lang="en-US" sz="1400" dirty="0"/>
          </a:p>
        </p:txBody>
      </p:sp>
      <p:sp>
        <p:nvSpPr>
          <p:cNvPr id="33" name="Shape 28"/>
          <p:cNvSpPr/>
          <p:nvPr/>
        </p:nvSpPr>
        <p:spPr>
          <a:xfrm>
            <a:off x="7878928"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4" name="Image 3" descr="C:\Users\bobro\OneDrive\Developer\HackYeah2026\.local\presentation\source\img\b-path.png"/>
          <p:cNvPicPr>
            <a:picLocks noChangeAspect="1"/>
          </p:cNvPicPr>
          <p:nvPr/>
        </p:nvPicPr>
        <p:blipFill>
          <a:blip r:embed="rId6"/>
          <a:stretch>
            <a:fillRect/>
          </a:stretch>
        </p:blipFill>
        <p:spPr>
          <a:xfrm>
            <a:off x="7878928" y="4547537"/>
            <a:ext cx="3672688" cy="1904921"/>
          </a:xfrm>
          <a:prstGeom prst="rect">
            <a:avLst/>
          </a:prstGeom>
        </p:spPr>
      </p:pic>
      <p:sp>
        <p:nvSpPr>
          <p:cNvPr id="35" name="Shape 29"/>
          <p:cNvSpPr/>
          <p:nvPr/>
        </p:nvSpPr>
        <p:spPr>
          <a:xfrm>
            <a:off x="7878928" y="4547537"/>
            <a:ext cx="3672688" cy="1904921"/>
          </a:xfrm>
          <a:prstGeom prst="rect">
            <a:avLst/>
          </a:prstGeom>
          <a:solidFill>
            <a:srgbClr val="FFFFFF">
              <a:alpha val="0"/>
            </a:srgbClr>
          </a:solidFill>
          <a:ln w="9525">
            <a:solidFill>
              <a:srgbClr val="C3CAD3"/>
            </a:solidFill>
            <a:prstDash val="solid"/>
          </a:ln>
        </p:spPr>
      </p:sp>
      <p:sp>
        <p:nvSpPr>
          <p:cNvPr id="36"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Podobne przypadki i jasne „nie”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„wyszukuje podobne przypadki”.</a:t>
            </a:r>
            <a:r>
              <a:rPr lang="en-US" sz="1600" dirty="0">
                <a:solidFill>
                  <a:srgbClr val="454D57"/>
                </a:solidFill>
                <a:latin typeface="Atkinson Hyperlegible Next" pitchFamily="34" charset="0"/>
                <a:ea typeface="Atkinson Hyperlegible Next" pitchFamily="34" charset="-122"/>
                <a:cs typeface="Atkinson Hyperlegible Next" pitchFamily="34" charset="-120"/>
              </a:rPr>
              <a:t>  Ani wyszukiwarka, ani czatbot do dokumentów</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59893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Wyszukiwarka</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Czatbot z RAG</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Co dostajesz</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Listę linków</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Zgrabny akapit</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Drogę: rozwiązania, wiedzę, ludzi, finansowanie i kolejne kroki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Gdy nic nie pasuje</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daje listę</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odpowiada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Mówi to wprost: przy wyniku poniżej 45/100 nie proponuje drogi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Kwoty i terminy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Ze stron internetowych</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je model</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Z 30 udokumentowanych ścieżek; model nie ma do nich dostępu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Rola modelu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Szereguje strony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odpowiedź</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Wybiera i wyjaśnia; program sprawdza każde odwołanie i cytat</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bl>
          </a:graphicData>
        </a:graphic>
      </p:graphicFrame>
      <p:sp>
        <p:nvSpPr>
          <p:cNvPr id="7" name="Shape 4"/>
          <p:cNvSpPr/>
          <p:nvPr/>
        </p:nvSpPr>
        <p:spPr>
          <a:xfrm>
            <a:off x="640080" y="4572000"/>
            <a:ext cx="5989320" cy="1783080"/>
          </a:xfrm>
          <a:prstGeom prst="roundRect">
            <a:avLst>
              <a:gd name="adj" fmla="val 5128"/>
            </a:avLst>
          </a:prstGeom>
          <a:solidFill>
            <a:srgbClr val="F3F5F8"/>
          </a:solidFill>
          <a:ln w="12700">
            <a:solidFill>
              <a:srgbClr val="F3F5F8"/>
            </a:solidFill>
            <a:prstDash val="solid"/>
          </a:ln>
        </p:spPr>
      </p:sp>
      <p:sp>
        <p:nvSpPr>
          <p:cNvPr id="8" name="Text 5"/>
          <p:cNvSpPr txBox="1"/>
          <p:nvPr/>
        </p:nvSpPr>
        <p:spPr>
          <a:xfrm>
            <a:off x="868680" y="4709160"/>
            <a:ext cx="5532120" cy="237744"/>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TRAFNOŚĆ DOPASOWANIA  ·  PRZYPADKI TESTOWE</a:t>
            </a:r>
            <a:endParaRPr lang="en-US" sz="1000" dirty="0"/>
          </a:p>
        </p:txBody>
      </p:sp>
      <p:sp>
        <p:nvSpPr>
          <p:cNvPr id="9" name="Text 6"/>
          <p:cNvSpPr txBox="1"/>
          <p:nvPr/>
        </p:nvSpPr>
        <p:spPr>
          <a:xfrm>
            <a:off x="868680" y="5029200"/>
            <a:ext cx="2628900" cy="12344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7 z 7</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przypadków, dla których istnieje sprawdzone rozwiązanie: właściwa innowacja jest wśród trzech proponowanych</a:t>
            </a:r>
            <a:endParaRPr lang="en-US" sz="3000" dirty="0"/>
          </a:p>
        </p:txBody>
      </p:sp>
      <p:sp>
        <p:nvSpPr>
          <p:cNvPr id="10" name="Text 7"/>
          <p:cNvSpPr txBox="1"/>
          <p:nvPr/>
        </p:nvSpPr>
        <p:spPr>
          <a:xfrm>
            <a:off x="3771900" y="5029200"/>
            <a:ext cx="2628900" cy="12344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9 z 10</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przypadków: narzędzie trafnie rozpoznaje, czy jest pełna droga, częściowa, czy żadna</a:t>
            </a:r>
            <a:endParaRPr lang="en-US" sz="3000" dirty="0"/>
          </a:p>
        </p:txBody>
      </p:sp>
      <p:sp>
        <p:nvSpPr>
          <p:cNvPr id="11" name="Shape 8"/>
          <p:cNvSpPr/>
          <p:nvPr/>
        </p:nvSpPr>
        <p:spPr>
          <a:xfrm>
            <a:off x="7599776" y="1691640"/>
            <a:ext cx="3392943" cy="1615889"/>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2" name="Image 0" descr="C:\Users\bobro\OneDrive\Developer\HackYeah2026\.local\presentation\source\img\similar-cases.png"/>
          <p:cNvPicPr>
            <a:picLocks noChangeAspect="1"/>
          </p:cNvPicPr>
          <p:nvPr/>
        </p:nvPicPr>
        <p:blipFill>
          <a:blip r:embed="rId3"/>
          <a:stretch>
            <a:fillRect/>
          </a:stretch>
        </p:blipFill>
        <p:spPr>
          <a:xfrm>
            <a:off x="7599776" y="1691640"/>
            <a:ext cx="3392943" cy="1615889"/>
          </a:xfrm>
          <a:prstGeom prst="rect">
            <a:avLst/>
          </a:prstGeom>
        </p:spPr>
      </p:pic>
      <p:sp>
        <p:nvSpPr>
          <p:cNvPr id="13" name="Shape 9"/>
          <p:cNvSpPr/>
          <p:nvPr/>
        </p:nvSpPr>
        <p:spPr>
          <a:xfrm>
            <a:off x="7599776" y="1691640"/>
            <a:ext cx="3392943" cy="1615889"/>
          </a:xfrm>
          <a:prstGeom prst="rect">
            <a:avLst/>
          </a:prstGeom>
          <a:solidFill>
            <a:srgbClr val="FFFFFF">
              <a:alpha val="0"/>
            </a:srgbClr>
          </a:solidFill>
          <a:ln w="9525">
            <a:solidFill>
              <a:srgbClr val="C3CAD3"/>
            </a:solidFill>
            <a:prstDash val="solid"/>
          </a:ln>
        </p:spPr>
      </p:sp>
      <p:sp>
        <p:nvSpPr>
          <p:cNvPr id="14" name="Text 10"/>
          <p:cNvSpPr txBox="1"/>
          <p:nvPr/>
        </p:nvSpPr>
        <p:spPr>
          <a:xfrm>
            <a:off x="7599776" y="3380681"/>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Podobne przypadki: potrzeby i pomysły innych, za zgodą autorów i po akceptacji ROPS</a:t>
            </a:r>
            <a:endParaRPr lang="en-US" sz="1100" dirty="0"/>
          </a:p>
        </p:txBody>
      </p:sp>
      <p:sp>
        <p:nvSpPr>
          <p:cNvPr id="15" name="Shape 11"/>
          <p:cNvSpPr/>
          <p:nvPr/>
        </p:nvSpPr>
        <p:spPr>
          <a:xfrm>
            <a:off x="7599776" y="4112201"/>
            <a:ext cx="3392943" cy="1712527"/>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1" descr="C:\Users\bobro\OneDrive\Developer\HackYeah2026\.local\presentation\source\img\no-match-top.png"/>
          <p:cNvPicPr>
            <a:picLocks noChangeAspect="1"/>
          </p:cNvPicPr>
          <p:nvPr/>
        </p:nvPicPr>
        <p:blipFill>
          <a:blip r:embed="rId4"/>
          <a:stretch>
            <a:fillRect/>
          </a:stretch>
        </p:blipFill>
        <p:spPr>
          <a:xfrm>
            <a:off x="7599776" y="4112201"/>
            <a:ext cx="3392943" cy="1712527"/>
          </a:xfrm>
          <a:prstGeom prst="rect">
            <a:avLst/>
          </a:prstGeom>
        </p:spPr>
      </p:pic>
      <p:sp>
        <p:nvSpPr>
          <p:cNvPr id="17" name="Shape 12"/>
          <p:cNvSpPr/>
          <p:nvPr/>
        </p:nvSpPr>
        <p:spPr>
          <a:xfrm>
            <a:off x="7599776" y="4112201"/>
            <a:ext cx="3392943" cy="1712527"/>
          </a:xfrm>
          <a:prstGeom prst="rect">
            <a:avLst/>
          </a:prstGeom>
          <a:solidFill>
            <a:srgbClr val="FFFFFF">
              <a:alpha val="0"/>
            </a:srgbClr>
          </a:solidFill>
          <a:ln w="9525">
            <a:solidFill>
              <a:srgbClr val="C3CAD3"/>
            </a:solidFill>
            <a:prstDash val="solid"/>
          </a:ln>
        </p:spPr>
      </p:sp>
      <p:sp>
        <p:nvSpPr>
          <p:cNvPr id="18" name="Text 13"/>
          <p:cNvSpPr txBox="1"/>
          <p:nvPr/>
        </p:nvSpPr>
        <p:spPr>
          <a:xfrm>
            <a:off x="7599776" y="5897880"/>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Wyschnięte studnie w gminie Dobra: nic nie pasuje, więc narzędzie mówi to wprost i proponuje wpis do banku potrzeb</a:t>
            </a:r>
            <a:endParaRPr lang="en-US" sz="1100" dirty="0"/>
          </a:p>
        </p:txBody>
      </p:sp>
      <p:sp>
        <p:nvSpPr>
          <p:cNvPr id="19" name="Text 1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IV  ·  TESTER INNOWACJI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Każdą innowację można ocenić i przetestować</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Opinie trafiają do autorów innowacji za pośrednictwem ROPS, gdy zatwierdzi je pracownik</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Zgłoszenie chęci udziału w testach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Jako użytkownik albo jako organizacja, która wdroży rozwiązanie na próbę w swojej gminie</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Ocena istniejących rozwiązań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Od 1 do 5, z informacją, skąd oceniający zna rozwiązanie: korzysta z niego, wdraża je albo zna z opisu</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Przekazywanie informacji zwrotnej</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Opinię można wysłać anonimowo; przechodzi przez filtr bezpieczeństwa, a ROPS przekazuje ją autorom</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Proponowanie usprawnień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 stronie innowacji widać liczbę ocen, propozycji ulepszeń i zgłoszeń do testów, bez treści i danych kontaktowych</a:t>
            </a:r>
            <a:endParaRPr lang="en-US" sz="1350" dirty="0"/>
          </a:p>
        </p:txBody>
      </p:sp>
      <p:sp>
        <p:nvSpPr>
          <p:cNvPr id="19" name="Shape 17"/>
          <p:cNvSpPr/>
          <p:nvPr/>
        </p:nvSpPr>
        <p:spPr>
          <a:xfrm>
            <a:off x="6027391" y="1691640"/>
            <a:ext cx="5348993" cy="182596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ester-signup-box.png"/>
          <p:cNvPicPr>
            <a:picLocks noChangeAspect="1"/>
          </p:cNvPicPr>
          <p:nvPr/>
        </p:nvPicPr>
        <p:blipFill>
          <a:blip r:embed="rId3"/>
          <a:stretch>
            <a:fillRect/>
          </a:stretch>
        </p:blipFill>
        <p:spPr>
          <a:xfrm>
            <a:off x="6027391" y="1691640"/>
            <a:ext cx="5348993" cy="1825961"/>
          </a:xfrm>
          <a:prstGeom prst="rect">
            <a:avLst/>
          </a:prstGeom>
        </p:spPr>
      </p:pic>
      <p:sp>
        <p:nvSpPr>
          <p:cNvPr id="21" name="Shape 18"/>
          <p:cNvSpPr/>
          <p:nvPr/>
        </p:nvSpPr>
        <p:spPr>
          <a:xfrm>
            <a:off x="6027391" y="1691640"/>
            <a:ext cx="5348993" cy="1825961"/>
          </a:xfrm>
          <a:prstGeom prst="rect">
            <a:avLst/>
          </a:prstGeom>
          <a:solidFill>
            <a:srgbClr val="FFFFFF">
              <a:alpha val="0"/>
            </a:srgbClr>
          </a:solidFill>
          <a:ln w="9525">
            <a:solidFill>
              <a:srgbClr val="C3CAD3"/>
            </a:solidFill>
            <a:prstDash val="solid"/>
          </a:ln>
        </p:spPr>
      </p:sp>
      <p:sp>
        <p:nvSpPr>
          <p:cNvPr id="22" name="Text 19"/>
          <p:cNvSpPr txBox="1"/>
          <p:nvPr/>
        </p:nvSpPr>
        <p:spPr>
          <a:xfrm>
            <a:off x="6027391" y="3590753"/>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Zgłoszenie do testów w formularzu testera: jako użytkownik albo organizacja</a:t>
            </a:r>
            <a:endParaRPr lang="en-US" sz="1100" dirty="0"/>
          </a:p>
        </p:txBody>
      </p:sp>
      <p:sp>
        <p:nvSpPr>
          <p:cNvPr id="23" name="Shape 20"/>
          <p:cNvSpPr/>
          <p:nvPr/>
        </p:nvSpPr>
        <p:spPr>
          <a:xfrm>
            <a:off x="6027391" y="4139393"/>
            <a:ext cx="5348993" cy="186821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ester-results.png"/>
          <p:cNvPicPr>
            <a:picLocks noChangeAspect="1"/>
          </p:cNvPicPr>
          <p:nvPr/>
        </p:nvPicPr>
        <p:blipFill>
          <a:blip r:embed="rId4"/>
          <a:stretch>
            <a:fillRect/>
          </a:stretch>
        </p:blipFill>
        <p:spPr>
          <a:xfrm>
            <a:off x="6027391" y="4139393"/>
            <a:ext cx="5348993" cy="1868215"/>
          </a:xfrm>
          <a:prstGeom prst="rect">
            <a:avLst/>
          </a:prstGeom>
        </p:spPr>
      </p:pic>
      <p:sp>
        <p:nvSpPr>
          <p:cNvPr id="25" name="Shape 21"/>
          <p:cNvSpPr/>
          <p:nvPr/>
        </p:nvSpPr>
        <p:spPr>
          <a:xfrm>
            <a:off x="6027391" y="4139393"/>
            <a:ext cx="5348993" cy="1868215"/>
          </a:xfrm>
          <a:prstGeom prst="rect">
            <a:avLst/>
          </a:prstGeom>
          <a:solidFill>
            <a:srgbClr val="FFFFFF">
              <a:alpha val="0"/>
            </a:srgbClr>
          </a:solidFill>
          <a:ln w="9525">
            <a:solidFill>
              <a:srgbClr val="C3CAD3"/>
            </a:solidFill>
            <a:prstDash val="solid"/>
          </a:ln>
        </p:spPr>
      </p:sp>
      <p:sp>
        <p:nvSpPr>
          <p:cNvPr id="26" name="Text 22"/>
          <p:cNvSpPr txBox="1"/>
          <p:nvPr/>
        </p:nvSpPr>
        <p:spPr>
          <a:xfrm>
            <a:off x="6027391" y="6080760"/>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„Opinie i testy” na stronie innowacji</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  ·  PLATFORMA AKTYWNEJ KOMUNIKACJI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Rozmowa z ROPS, mentorem i partnerami – bez konta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Prywatny link zamiast logowania: pyta mieszkaniec, organizacja albo gmina, odpowiada pracownik ROPS</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Bezpośredni dialog między ROPS a użytkownikami</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Rozmowa pod prywatnym linkiem, bez zakładania konta i podawania e-maila; odpowiedź podpisana nazwiskiem pracownika ROPS</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zadawanie pytań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„Zapytaj eksperta” przy każdej innowacji, fiszce pomysłu i ogłoszeniu; od razu wiadomo, czego dotyczy pytanie</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Wsparcie mentorów</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ROPS zaprasza mentora do rozmowy; mentor dołącza przez własny link, bez dostępu do panelu</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Budowanie partnerstw międzysektorowych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Tablica „Szukam partnera” i „Oferuję współpracę” z filtrem według sektora; ROPS zatwierdza ogłoszenia i przekazuje odpowiedzi</a:t>
            </a:r>
            <a:endParaRPr lang="en-US" sz="1350" dirty="0"/>
          </a:p>
        </p:txBody>
      </p:sp>
      <p:sp>
        <p:nvSpPr>
          <p:cNvPr id="19" name="Shape 17"/>
          <p:cNvSpPr/>
          <p:nvPr/>
        </p:nvSpPr>
        <p:spPr>
          <a:xfrm>
            <a:off x="5852160" y="1691640"/>
            <a:ext cx="25305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alk-thread-crop.png"/>
          <p:cNvPicPr>
            <a:picLocks noChangeAspect="1"/>
          </p:cNvPicPr>
          <p:nvPr/>
        </p:nvPicPr>
        <p:blipFill>
          <a:blip r:embed="rId3"/>
          <a:stretch>
            <a:fillRect/>
          </a:stretch>
        </p:blipFill>
        <p:spPr>
          <a:xfrm>
            <a:off x="5852160" y="1691640"/>
            <a:ext cx="2530518" cy="2581686"/>
          </a:xfrm>
          <a:prstGeom prst="rect">
            <a:avLst/>
          </a:prstGeom>
        </p:spPr>
      </p:pic>
      <p:sp>
        <p:nvSpPr>
          <p:cNvPr id="21" name="Shape 18"/>
          <p:cNvSpPr/>
          <p:nvPr/>
        </p:nvSpPr>
        <p:spPr>
          <a:xfrm>
            <a:off x="5852160" y="1691640"/>
            <a:ext cx="2530518" cy="2581686"/>
          </a:xfrm>
          <a:prstGeom prst="rect">
            <a:avLst/>
          </a:prstGeom>
          <a:solidFill>
            <a:srgbClr val="FFFFFF">
              <a:alpha val="0"/>
            </a:srgbClr>
          </a:solidFill>
          <a:ln w="9525">
            <a:solidFill>
              <a:srgbClr val="C3CAD3"/>
            </a:solidFill>
            <a:prstDash val="solid"/>
          </a:ln>
        </p:spPr>
      </p:sp>
      <p:sp>
        <p:nvSpPr>
          <p:cNvPr id="22" name="Text 19"/>
          <p:cNvSpPr txBox="1"/>
          <p:nvPr/>
        </p:nvSpPr>
        <p:spPr>
          <a:xfrm>
            <a:off x="5852160" y="4346478"/>
            <a:ext cx="25305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Rozmowa: autor, ROPS i mentor</a:t>
            </a:r>
            <a:endParaRPr lang="en-US" sz="1100" dirty="0"/>
          </a:p>
        </p:txBody>
      </p:sp>
      <p:sp>
        <p:nvSpPr>
          <p:cNvPr id="23" name="Shape 20"/>
          <p:cNvSpPr/>
          <p:nvPr/>
        </p:nvSpPr>
        <p:spPr>
          <a:xfrm>
            <a:off x="8656998" y="1691640"/>
            <a:ext cx="28946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alk-board-top.png"/>
          <p:cNvPicPr>
            <a:picLocks noChangeAspect="1"/>
          </p:cNvPicPr>
          <p:nvPr/>
        </p:nvPicPr>
        <p:blipFill>
          <a:blip r:embed="rId4"/>
          <a:stretch>
            <a:fillRect/>
          </a:stretch>
        </p:blipFill>
        <p:spPr>
          <a:xfrm>
            <a:off x="8656998" y="1691640"/>
            <a:ext cx="2894618" cy="2581686"/>
          </a:xfrm>
          <a:prstGeom prst="rect">
            <a:avLst/>
          </a:prstGeom>
        </p:spPr>
      </p:pic>
      <p:sp>
        <p:nvSpPr>
          <p:cNvPr id="25" name="Shape 21"/>
          <p:cNvSpPr/>
          <p:nvPr/>
        </p:nvSpPr>
        <p:spPr>
          <a:xfrm>
            <a:off x="8656998" y="1691640"/>
            <a:ext cx="2894618" cy="2581686"/>
          </a:xfrm>
          <a:prstGeom prst="rect">
            <a:avLst/>
          </a:prstGeom>
          <a:solidFill>
            <a:srgbClr val="FFFFFF">
              <a:alpha val="0"/>
            </a:srgbClr>
          </a:solidFill>
          <a:ln w="9525">
            <a:solidFill>
              <a:srgbClr val="C3CAD3"/>
            </a:solidFill>
            <a:prstDash val="solid"/>
          </a:ln>
        </p:spPr>
      </p:sp>
      <p:sp>
        <p:nvSpPr>
          <p:cNvPr id="26" name="Text 22"/>
          <p:cNvSpPr txBox="1"/>
          <p:nvPr/>
        </p:nvSpPr>
        <p:spPr>
          <a:xfrm>
            <a:off x="8656998" y="4346478"/>
            <a:ext cx="28946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Tablica partnerstw</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VI  ·  PANEL ADMINISTRATORA</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Panel ROPS: o każdym wpisie decyduje człowiek</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Zmiany w panelu widać od razu; autor pomysłu znajdzie odpowiedź na stronie swojej fiszki</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modyfikowanie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Poprawiony opis, nowy film, nowy materiał dla grupy docelowej: zmiany widać od razu, także w drogach utworzonych wcześniej</a:t>
            </a:r>
            <a:endParaRPr lang="en-US" sz="1350" dirty="0"/>
          </a:p>
        </p:txBody>
      </p:sp>
      <p:sp>
        <p:nvSpPr>
          <p:cNvPr id="10" name="Shape 8"/>
          <p:cNvSpPr/>
          <p:nvPr/>
        </p:nvSpPr>
        <p:spPr>
          <a:xfrm>
            <a:off x="640080" y="293156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293156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2913278"/>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Weryfikacja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Oznaczenie „Sprawdzone przez ROPS” na stronie innowacji i w drogach; każda decyzja odnotowana z nazwiskiem pracownika</a:t>
            </a:r>
            <a:endParaRPr lang="en-US" sz="1350" dirty="0"/>
          </a:p>
        </p:txBody>
      </p:sp>
      <p:sp>
        <p:nvSpPr>
          <p:cNvPr id="13" name="Shape 11"/>
          <p:cNvSpPr/>
          <p:nvPr/>
        </p:nvSpPr>
        <p:spPr>
          <a:xfrm>
            <a:off x="640080" y="3787445"/>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3787445"/>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3769157"/>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Udostępnianie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Potrzeby, fiszki, opinie i ogłoszenia są publikowane za zgodą autora i po akceptacji ROPS; eksport do CSV</a:t>
            </a:r>
            <a:endParaRPr lang="en-US" sz="1350" dirty="0"/>
          </a:p>
        </p:txBody>
      </p:sp>
      <p:sp>
        <p:nvSpPr>
          <p:cNvPr id="16" name="Shape 14"/>
          <p:cNvSpPr/>
          <p:nvPr/>
        </p:nvSpPr>
        <p:spPr>
          <a:xfrm>
            <a:off x="640080" y="4643323"/>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4643323"/>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4625035"/>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Powiadamianie administratora o nowym pomyśle</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Pulpit pokazuje, co czeka na decyzję i co nowego od ostatniej wizyty</a:t>
            </a:r>
            <a:endParaRPr lang="en-US" sz="1350" dirty="0"/>
          </a:p>
        </p:txBody>
      </p:sp>
      <p:sp>
        <p:nvSpPr>
          <p:cNvPr id="19" name="Shape 17"/>
          <p:cNvSpPr/>
          <p:nvPr/>
        </p:nvSpPr>
        <p:spPr>
          <a:xfrm>
            <a:off x="640080" y="5499202"/>
            <a:ext cx="310896" cy="310896"/>
          </a:xfrm>
          <a:prstGeom prst="ellipse">
            <a:avLst/>
          </a:prstGeom>
          <a:solidFill>
            <a:srgbClr val="1A4B8C"/>
          </a:solidFill>
          <a:ln w="12700">
            <a:solidFill>
              <a:srgbClr val="1A4B8C"/>
            </a:solidFill>
            <a:prstDash val="solid"/>
          </a:ln>
        </p:spPr>
      </p:sp>
      <p:sp>
        <p:nvSpPr>
          <p:cNvPr id="20" name="Text 18"/>
          <p:cNvSpPr txBox="1"/>
          <p:nvPr/>
        </p:nvSpPr>
        <p:spPr>
          <a:xfrm>
            <a:off x="640080" y="549920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21" name="Text 19"/>
          <p:cNvSpPr txBox="1"/>
          <p:nvPr/>
        </p:nvSpPr>
        <p:spPr>
          <a:xfrm>
            <a:off x="1097280" y="5480914"/>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Ścieżka odpowiedzi do autora</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Status i odpowiedź ROPS z datą, od razu widoczne na stronie fiszki</a:t>
            </a:r>
            <a:endParaRPr lang="en-US" sz="1350" dirty="0"/>
          </a:p>
        </p:txBody>
      </p:sp>
      <p:sp>
        <p:nvSpPr>
          <p:cNvPr id="22" name="Shape 20"/>
          <p:cNvSpPr/>
          <p:nvPr/>
        </p:nvSpPr>
        <p:spPr>
          <a:xfrm>
            <a:off x="6573062" y="1691640"/>
            <a:ext cx="4257652" cy="220191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3" name="Image 0" descr="C:\Users\bobro\OneDrive\Developer\HackYeah2026\.local\presentation\source\img\panel-dashboard-top.png"/>
          <p:cNvPicPr>
            <a:picLocks noChangeAspect="1"/>
          </p:cNvPicPr>
          <p:nvPr/>
        </p:nvPicPr>
        <p:blipFill>
          <a:blip r:embed="rId3"/>
          <a:stretch>
            <a:fillRect/>
          </a:stretch>
        </p:blipFill>
        <p:spPr>
          <a:xfrm>
            <a:off x="6573062" y="1691640"/>
            <a:ext cx="4257652" cy="2201911"/>
          </a:xfrm>
          <a:prstGeom prst="rect">
            <a:avLst/>
          </a:prstGeom>
        </p:spPr>
      </p:pic>
      <p:sp>
        <p:nvSpPr>
          <p:cNvPr id="24" name="Shape 21"/>
          <p:cNvSpPr/>
          <p:nvPr/>
        </p:nvSpPr>
        <p:spPr>
          <a:xfrm>
            <a:off x="6573062" y="1691640"/>
            <a:ext cx="4257652" cy="2201911"/>
          </a:xfrm>
          <a:prstGeom prst="rect">
            <a:avLst/>
          </a:prstGeom>
          <a:solidFill>
            <a:srgbClr val="FFFFFF">
              <a:alpha val="0"/>
            </a:srgbClr>
          </a:solidFill>
          <a:ln w="9525">
            <a:solidFill>
              <a:srgbClr val="C3CAD3"/>
            </a:solidFill>
            <a:prstDash val="solid"/>
          </a:ln>
        </p:spPr>
      </p:sp>
      <p:sp>
        <p:nvSpPr>
          <p:cNvPr id="25" name="Text 22"/>
          <p:cNvSpPr txBox="1"/>
          <p:nvPr/>
        </p:nvSpPr>
        <p:spPr>
          <a:xfrm>
            <a:off x="6573062" y="3966703"/>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Pulpit: co czeka na decyzję i co nowego od ostatniej wizyty</a:t>
            </a:r>
            <a:endParaRPr lang="en-US" sz="1100" dirty="0"/>
          </a:p>
        </p:txBody>
      </p:sp>
      <p:sp>
        <p:nvSpPr>
          <p:cNvPr id="26" name="Shape 23"/>
          <p:cNvSpPr/>
          <p:nvPr/>
        </p:nvSpPr>
        <p:spPr>
          <a:xfrm>
            <a:off x="6573062" y="4515343"/>
            <a:ext cx="4257652" cy="149226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7" name="Image 1" descr="C:\Users\bobro\OneDrive\Developer\HackYeah2026\.local\presentation\source\img\idea-reply-status.png"/>
          <p:cNvPicPr>
            <a:picLocks noChangeAspect="1"/>
          </p:cNvPicPr>
          <p:nvPr/>
        </p:nvPicPr>
        <p:blipFill>
          <a:blip r:embed="rId4"/>
          <a:stretch>
            <a:fillRect/>
          </a:stretch>
        </p:blipFill>
        <p:spPr>
          <a:xfrm>
            <a:off x="6573062" y="4515343"/>
            <a:ext cx="4257652" cy="1492265"/>
          </a:xfrm>
          <a:prstGeom prst="rect">
            <a:avLst/>
          </a:prstGeom>
        </p:spPr>
      </p:pic>
      <p:sp>
        <p:nvSpPr>
          <p:cNvPr id="28" name="Shape 24"/>
          <p:cNvSpPr/>
          <p:nvPr/>
        </p:nvSpPr>
        <p:spPr>
          <a:xfrm>
            <a:off x="6573062" y="4515343"/>
            <a:ext cx="4257652" cy="1492265"/>
          </a:xfrm>
          <a:prstGeom prst="rect">
            <a:avLst/>
          </a:prstGeom>
          <a:solidFill>
            <a:srgbClr val="FFFFFF">
              <a:alpha val="0"/>
            </a:srgbClr>
          </a:solidFill>
          <a:ln w="9525">
            <a:solidFill>
              <a:srgbClr val="C3CAD3"/>
            </a:solidFill>
            <a:prstDash val="solid"/>
          </a:ln>
        </p:spPr>
      </p:sp>
      <p:sp>
        <p:nvSpPr>
          <p:cNvPr id="29" name="Text 25"/>
          <p:cNvSpPr txBox="1"/>
          <p:nvPr/>
        </p:nvSpPr>
        <p:spPr>
          <a:xfrm>
            <a:off x="6573062" y="6080760"/>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Status i odpowiedź ROPS na stronie fiszki pomysłu</a:t>
            </a:r>
            <a:endParaRPr lang="en-US" sz="1100" dirty="0"/>
          </a:p>
        </p:txBody>
      </p:sp>
      <p:sp>
        <p:nvSpPr>
          <p:cNvPr id="30" name="Text 26"/>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Empatia przed technologią</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Najpierw filtr bezpieczeństwa. Model wybiera i wyjaśnia, a decydują ludzie.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Filtr bezpieczeństwa</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najpierw reguły, potem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Wyszukiwanie</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najbardziej podobnych z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Ocena i uzasadnienia</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otwarty polski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Układanie drogi</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wiedza, ludzie, ścieżki, kolejne kroki</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EEF4FB"/>
          </a:solidFill>
          <a:ln w="12700">
            <a:solidFill>
              <a:srgbClr val="EEF4FB"/>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Panel ROPS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pracownik rozpatruje każdy wpis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Oba modele wybraliśmy na podstawie testów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przed hackathonem</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Bielika porównaliśmy z 4 innymi modelami językowymi, PolDense z 5 innymi modelami wyszukiwania.</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Co widzi osoba w kryzysie zamiast drogi</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Osoba w kryzysie dostaje pomoc człowieka</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Przy oznakach kryzysu narzędzie wskazuje sprawdzone telefony zaufania i lokalny ośrodek pomocy społecznej, nigdy innowacje, i niczego nie zapisuje. Prośbę, która ma kogoś wykluczyć lub poniżyć, odrzucamy z uzasadnieniem i możliwością odwołania.</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Nic zmyślonego</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Rozwiązania, organizacje i osoby kontaktowe pochodzą tylko z katalogów; kwoty, terminy i podstawy prawne tylko z opracowanych ścieżek. Każde odwołanie i cytat jest sprawdzane, a tekst wygenerowany przez AI jest oznaczony.</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Decyduje człowiek</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Narzędzie niczego nikomu nie wysyła: prośby o kontakt, zgłoszenia, fiszki i opinie czekają na decyzję pracownika ROPS w panelu, odnotowaną z jego nazwiskiem. Numery PESEL, numery telefonów i adresy usuwamy przed zapisem i przed każdym zapytaniem do modelu. Narzędzie nie podejmuje decyzji o konkretnych osobach.</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Działa dziś. Usługa ROPS może ruszyć od poniedziałku</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Zbudowane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droga, moduły wyzwania i panel ROPS.  </a:t>
            </a:r>
            <a:r>
              <a:rPr lang="en-US" sz="1600" b="1" dirty="0">
                <a:solidFill>
                  <a:srgbClr val="1A4B8C"/>
                </a:solidFill>
                <a:latin typeface="Atkinson Hyperlegible Next" pitchFamily="34" charset="0"/>
                <a:ea typeface="Atkinson Hyperlegible Next" pitchFamily="34" charset="-122"/>
                <a:cs typeface="Atkinson Hyperlegible Next" pitchFamily="34" charset="-120"/>
              </a:rPr>
              <a:t>Plan rozwoju, do zbudowania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role i cykle usługi</a:t>
            </a:r>
            <a:endParaRPr lang="en-US" sz="3200" dirty="0"/>
          </a:p>
        </p:txBody>
      </p:sp>
      <p:sp>
        <p:nvSpPr>
          <p:cNvPr id="3" name="Text 1"/>
          <p:cNvSpPr txBox="1"/>
          <p:nvPr/>
        </p:nvSpPr>
        <p:spPr>
          <a:xfrm>
            <a:off x="640080" y="1600200"/>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ZBUDOWANE  ·  MODUŁY WYZWANIA</a:t>
            </a:r>
            <a:endParaRPr lang="en-US" sz="1000" dirty="0"/>
          </a:p>
        </p:txBody>
      </p:sp>
      <p:sp>
        <p:nvSpPr>
          <p:cNvPr id="4" name="Shape 2"/>
          <p:cNvSpPr/>
          <p:nvPr/>
        </p:nvSpPr>
        <p:spPr>
          <a:xfrm>
            <a:off x="640080" y="1901952"/>
            <a:ext cx="1464738" cy="1298448"/>
          </a:xfrm>
          <a:prstGeom prst="roundRect">
            <a:avLst>
              <a:gd name="adj" fmla="val 5634"/>
            </a:avLst>
          </a:prstGeom>
          <a:solidFill>
            <a:srgbClr val="EEF4FB"/>
          </a:solidFill>
          <a:ln w="12700">
            <a:solidFill>
              <a:srgbClr val="EEF4FB"/>
            </a:solidFill>
            <a:prstDash val="solid"/>
          </a:ln>
        </p:spPr>
      </p:sp>
      <p:sp>
        <p:nvSpPr>
          <p:cNvPr id="5" name="Text 3"/>
          <p:cNvSpPr txBox="1"/>
          <p:nvPr/>
        </p:nvSpPr>
        <p:spPr>
          <a:xfrm>
            <a:off x="749808"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a:t>
            </a:r>
            <a:endParaRPr lang="en-US" sz="1200" dirty="0"/>
          </a:p>
        </p:txBody>
      </p:sp>
      <p:sp>
        <p:nvSpPr>
          <p:cNvPr id="6" name="Shape 4"/>
          <p:cNvSpPr/>
          <p:nvPr/>
        </p:nvSpPr>
        <p:spPr>
          <a:xfrm>
            <a:off x="1263570" y="1993392"/>
            <a:ext cx="749808" cy="219456"/>
          </a:xfrm>
          <a:prstGeom prst="roundRect">
            <a:avLst>
              <a:gd name="adj" fmla="val 50000"/>
            </a:avLst>
          </a:prstGeom>
          <a:solidFill>
            <a:srgbClr val="1A4B8C"/>
          </a:solidFill>
          <a:ln w="12700">
            <a:solidFill>
              <a:srgbClr val="1A4B8C"/>
            </a:solidFill>
            <a:prstDash val="solid"/>
          </a:ln>
        </p:spPr>
      </p:sp>
      <p:sp>
        <p:nvSpPr>
          <p:cNvPr id="7" name="Text 5"/>
          <p:cNvSpPr txBox="1"/>
          <p:nvPr/>
        </p:nvSpPr>
        <p:spPr>
          <a:xfrm>
            <a:off x="1263570"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8" name="Text 6"/>
          <p:cNvSpPr txBox="1"/>
          <p:nvPr/>
        </p:nvSpPr>
        <p:spPr>
          <a:xfrm>
            <a:off x="749808"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Matchmaking społeczny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droga i podobne przypadki</a:t>
            </a:r>
            <a:endParaRPr lang="en-US" sz="1150" dirty="0"/>
          </a:p>
        </p:txBody>
      </p:sp>
      <p:sp>
        <p:nvSpPr>
          <p:cNvPr id="9" name="Shape 7"/>
          <p:cNvSpPr/>
          <p:nvPr/>
        </p:nvSpPr>
        <p:spPr>
          <a:xfrm>
            <a:off x="2214546" y="1901952"/>
            <a:ext cx="1464738" cy="1298448"/>
          </a:xfrm>
          <a:prstGeom prst="roundRect">
            <a:avLst>
              <a:gd name="adj" fmla="val 5634"/>
            </a:avLst>
          </a:prstGeom>
          <a:solidFill>
            <a:srgbClr val="EEF4FB"/>
          </a:solidFill>
          <a:ln w="12700">
            <a:solidFill>
              <a:srgbClr val="EEF4FB"/>
            </a:solidFill>
            <a:prstDash val="solid"/>
          </a:ln>
        </p:spPr>
      </p:sp>
      <p:sp>
        <p:nvSpPr>
          <p:cNvPr id="10" name="Text 8"/>
          <p:cNvSpPr txBox="1"/>
          <p:nvPr/>
        </p:nvSpPr>
        <p:spPr>
          <a:xfrm>
            <a:off x="2324274"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II</a:t>
            </a:r>
            <a:endParaRPr lang="en-US" sz="1200" dirty="0"/>
          </a:p>
        </p:txBody>
      </p:sp>
      <p:sp>
        <p:nvSpPr>
          <p:cNvPr id="11" name="Shape 9"/>
          <p:cNvSpPr/>
          <p:nvPr/>
        </p:nvSpPr>
        <p:spPr>
          <a:xfrm>
            <a:off x="2838036" y="1993392"/>
            <a:ext cx="749808" cy="219456"/>
          </a:xfrm>
          <a:prstGeom prst="roundRect">
            <a:avLst>
              <a:gd name="adj" fmla="val 50000"/>
            </a:avLst>
          </a:prstGeom>
          <a:solidFill>
            <a:srgbClr val="1A4B8C"/>
          </a:solidFill>
          <a:ln w="12700">
            <a:solidFill>
              <a:srgbClr val="1A4B8C"/>
            </a:solidFill>
            <a:prstDash val="solid"/>
          </a:ln>
        </p:spPr>
      </p:sp>
      <p:sp>
        <p:nvSpPr>
          <p:cNvPr id="12" name="Text 10"/>
          <p:cNvSpPr txBox="1"/>
          <p:nvPr/>
        </p:nvSpPr>
        <p:spPr>
          <a:xfrm>
            <a:off x="2838036"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13" name="Text 11"/>
          <p:cNvSpPr txBox="1"/>
          <p:nvPr/>
        </p:nvSpPr>
        <p:spPr>
          <a:xfrm>
            <a:off x="2324274"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Zasobnik wiedzy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pliki i filmy w każdej drodze, edycja w panelu, trendy potrzeb</a:t>
            </a:r>
            <a:endParaRPr lang="en-US" sz="1150" dirty="0"/>
          </a:p>
        </p:txBody>
      </p:sp>
      <p:sp>
        <p:nvSpPr>
          <p:cNvPr id="14" name="Shape 12"/>
          <p:cNvSpPr/>
          <p:nvPr/>
        </p:nvSpPr>
        <p:spPr>
          <a:xfrm>
            <a:off x="3789012" y="1901952"/>
            <a:ext cx="1464738" cy="1298448"/>
          </a:xfrm>
          <a:prstGeom prst="roundRect">
            <a:avLst>
              <a:gd name="adj" fmla="val 5634"/>
            </a:avLst>
          </a:prstGeom>
          <a:solidFill>
            <a:srgbClr val="FFFFFF"/>
          </a:solidFill>
          <a:ln w="12700">
            <a:solidFill>
              <a:srgbClr val="1A4B8C"/>
            </a:solidFill>
            <a:prstDash val="dash"/>
          </a:ln>
        </p:spPr>
      </p:sp>
      <p:sp>
        <p:nvSpPr>
          <p:cNvPr id="15" name="Text 13"/>
          <p:cNvSpPr txBox="1"/>
          <p:nvPr/>
        </p:nvSpPr>
        <p:spPr>
          <a:xfrm>
            <a:off x="3898740"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III</a:t>
            </a:r>
            <a:endParaRPr lang="en-US" sz="1200" dirty="0"/>
          </a:p>
        </p:txBody>
      </p:sp>
      <p:sp>
        <p:nvSpPr>
          <p:cNvPr id="16" name="Shape 14"/>
          <p:cNvSpPr/>
          <p:nvPr/>
        </p:nvSpPr>
        <p:spPr>
          <a:xfrm>
            <a:off x="4412503" y="1993392"/>
            <a:ext cx="749808" cy="219456"/>
          </a:xfrm>
          <a:prstGeom prst="roundRect">
            <a:avLst>
              <a:gd name="adj" fmla="val 50000"/>
            </a:avLst>
          </a:prstGeom>
          <a:solidFill>
            <a:srgbClr val="DCE6F2"/>
          </a:solidFill>
          <a:ln w="12700">
            <a:solidFill>
              <a:srgbClr val="DCE6F2"/>
            </a:solidFill>
            <a:prstDash val="solid"/>
          </a:ln>
        </p:spPr>
      </p:sp>
      <p:sp>
        <p:nvSpPr>
          <p:cNvPr id="17" name="Text 15"/>
          <p:cNvSpPr txBox="1"/>
          <p:nvPr/>
        </p:nvSpPr>
        <p:spPr>
          <a:xfrm>
            <a:off x="4412503" y="1993392"/>
            <a:ext cx="74980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18" name="Text 16"/>
          <p:cNvSpPr txBox="1"/>
          <p:nvPr/>
        </p:nvSpPr>
        <p:spPr>
          <a:xfrm>
            <a:off x="3898740"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Kreator pomysłów</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fiszka pomysłu, podobne rozwiązania</a:t>
            </a:r>
            <a:endParaRPr lang="en-US" sz="1150" dirty="0"/>
          </a:p>
        </p:txBody>
      </p:sp>
      <p:sp>
        <p:nvSpPr>
          <p:cNvPr id="19" name="Shape 17"/>
          <p:cNvSpPr/>
          <p:nvPr/>
        </p:nvSpPr>
        <p:spPr>
          <a:xfrm>
            <a:off x="5363479" y="1901952"/>
            <a:ext cx="1464738" cy="1298448"/>
          </a:xfrm>
          <a:prstGeom prst="roundRect">
            <a:avLst>
              <a:gd name="adj" fmla="val 5634"/>
            </a:avLst>
          </a:prstGeom>
          <a:solidFill>
            <a:srgbClr val="EEF4FB"/>
          </a:solidFill>
          <a:ln w="12700">
            <a:solidFill>
              <a:srgbClr val="EEF4FB"/>
            </a:solidFill>
            <a:prstDash val="solid"/>
          </a:ln>
        </p:spPr>
      </p:sp>
      <p:sp>
        <p:nvSpPr>
          <p:cNvPr id="20" name="Text 18"/>
          <p:cNvSpPr txBox="1"/>
          <p:nvPr/>
        </p:nvSpPr>
        <p:spPr>
          <a:xfrm>
            <a:off x="5473207"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IV</a:t>
            </a:r>
            <a:endParaRPr lang="en-US" sz="1200" dirty="0"/>
          </a:p>
        </p:txBody>
      </p:sp>
      <p:sp>
        <p:nvSpPr>
          <p:cNvPr id="21" name="Shape 19"/>
          <p:cNvSpPr/>
          <p:nvPr/>
        </p:nvSpPr>
        <p:spPr>
          <a:xfrm>
            <a:off x="5986969" y="1993392"/>
            <a:ext cx="749808" cy="219456"/>
          </a:xfrm>
          <a:prstGeom prst="roundRect">
            <a:avLst>
              <a:gd name="adj" fmla="val 50000"/>
            </a:avLst>
          </a:prstGeom>
          <a:solidFill>
            <a:srgbClr val="1A4B8C"/>
          </a:solidFill>
          <a:ln w="12700">
            <a:solidFill>
              <a:srgbClr val="1A4B8C"/>
            </a:solidFill>
            <a:prstDash val="solid"/>
          </a:ln>
        </p:spPr>
      </p:sp>
      <p:sp>
        <p:nvSpPr>
          <p:cNvPr id="22" name="Text 20"/>
          <p:cNvSpPr txBox="1"/>
          <p:nvPr/>
        </p:nvSpPr>
        <p:spPr>
          <a:xfrm>
            <a:off x="5986969"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23" name="Text 21"/>
          <p:cNvSpPr txBox="1"/>
          <p:nvPr/>
        </p:nvSpPr>
        <p:spPr>
          <a:xfrm>
            <a:off x="5473207"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Tester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oceny, opinie, propozycje ulepszeń, zapisy do testów</a:t>
            </a:r>
            <a:endParaRPr lang="en-US" sz="1150" dirty="0"/>
          </a:p>
        </p:txBody>
      </p:sp>
      <p:sp>
        <p:nvSpPr>
          <p:cNvPr id="24" name="Shape 22"/>
          <p:cNvSpPr/>
          <p:nvPr/>
        </p:nvSpPr>
        <p:spPr>
          <a:xfrm>
            <a:off x="6937945" y="1901952"/>
            <a:ext cx="1464738" cy="1298448"/>
          </a:xfrm>
          <a:prstGeom prst="roundRect">
            <a:avLst>
              <a:gd name="adj" fmla="val 5634"/>
            </a:avLst>
          </a:prstGeom>
          <a:solidFill>
            <a:srgbClr val="EEF4FB"/>
          </a:solidFill>
          <a:ln w="12700">
            <a:solidFill>
              <a:srgbClr val="EEF4FB"/>
            </a:solidFill>
            <a:prstDash val="solid"/>
          </a:ln>
        </p:spPr>
      </p:sp>
      <p:sp>
        <p:nvSpPr>
          <p:cNvPr id="25" name="Text 23"/>
          <p:cNvSpPr txBox="1"/>
          <p:nvPr/>
        </p:nvSpPr>
        <p:spPr>
          <a:xfrm>
            <a:off x="7047673"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V</a:t>
            </a:r>
            <a:endParaRPr lang="en-US" sz="1200" dirty="0"/>
          </a:p>
        </p:txBody>
      </p:sp>
      <p:sp>
        <p:nvSpPr>
          <p:cNvPr id="26" name="Shape 24"/>
          <p:cNvSpPr/>
          <p:nvPr/>
        </p:nvSpPr>
        <p:spPr>
          <a:xfrm>
            <a:off x="7561435" y="1993392"/>
            <a:ext cx="749808" cy="219456"/>
          </a:xfrm>
          <a:prstGeom prst="roundRect">
            <a:avLst>
              <a:gd name="adj" fmla="val 50000"/>
            </a:avLst>
          </a:prstGeom>
          <a:solidFill>
            <a:srgbClr val="1A4B8C"/>
          </a:solidFill>
          <a:ln w="12700">
            <a:solidFill>
              <a:srgbClr val="1A4B8C"/>
            </a:solidFill>
            <a:prstDash val="solid"/>
          </a:ln>
        </p:spPr>
      </p:sp>
      <p:sp>
        <p:nvSpPr>
          <p:cNvPr id="27" name="Text 25"/>
          <p:cNvSpPr txBox="1"/>
          <p:nvPr/>
        </p:nvSpPr>
        <p:spPr>
          <a:xfrm>
            <a:off x="7561435"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28" name="Text 26"/>
          <p:cNvSpPr txBox="1"/>
          <p:nvPr/>
        </p:nvSpPr>
        <p:spPr>
          <a:xfrm>
            <a:off x="7047673"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Platforma aktywnej komunikacji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rozmowy bez konta, mentorzy, partnerstwa</a:t>
            </a:r>
            <a:endParaRPr lang="en-US" sz="1150" dirty="0"/>
          </a:p>
        </p:txBody>
      </p:sp>
      <p:sp>
        <p:nvSpPr>
          <p:cNvPr id="29" name="Shape 27"/>
          <p:cNvSpPr/>
          <p:nvPr/>
        </p:nvSpPr>
        <p:spPr>
          <a:xfrm>
            <a:off x="8512411" y="1901952"/>
            <a:ext cx="1464738" cy="1298448"/>
          </a:xfrm>
          <a:prstGeom prst="roundRect">
            <a:avLst>
              <a:gd name="adj" fmla="val 5634"/>
            </a:avLst>
          </a:prstGeom>
          <a:solidFill>
            <a:srgbClr val="EEF4FB"/>
          </a:solidFill>
          <a:ln w="12700">
            <a:solidFill>
              <a:srgbClr val="EEF4FB"/>
            </a:solidFill>
            <a:prstDash val="solid"/>
          </a:ln>
        </p:spPr>
      </p:sp>
      <p:sp>
        <p:nvSpPr>
          <p:cNvPr id="30" name="Text 28"/>
          <p:cNvSpPr txBox="1"/>
          <p:nvPr/>
        </p:nvSpPr>
        <p:spPr>
          <a:xfrm>
            <a:off x="8622139"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VI</a:t>
            </a:r>
            <a:endParaRPr lang="en-US" sz="1200" dirty="0"/>
          </a:p>
        </p:txBody>
      </p:sp>
      <p:sp>
        <p:nvSpPr>
          <p:cNvPr id="31" name="Shape 29"/>
          <p:cNvSpPr/>
          <p:nvPr/>
        </p:nvSpPr>
        <p:spPr>
          <a:xfrm>
            <a:off x="9135901" y="1993392"/>
            <a:ext cx="749808" cy="219456"/>
          </a:xfrm>
          <a:prstGeom prst="roundRect">
            <a:avLst>
              <a:gd name="adj" fmla="val 50000"/>
            </a:avLst>
          </a:prstGeom>
          <a:solidFill>
            <a:srgbClr val="1A4B8C"/>
          </a:solidFill>
          <a:ln w="12700">
            <a:solidFill>
              <a:srgbClr val="1A4B8C"/>
            </a:solidFill>
            <a:prstDash val="solid"/>
          </a:ln>
        </p:spPr>
      </p:sp>
      <p:sp>
        <p:nvSpPr>
          <p:cNvPr id="32" name="Text 30"/>
          <p:cNvSpPr txBox="1"/>
          <p:nvPr/>
        </p:nvSpPr>
        <p:spPr>
          <a:xfrm>
            <a:off x="9135901"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33" name="Text 31"/>
          <p:cNvSpPr txBox="1"/>
          <p:nvPr/>
        </p:nvSpPr>
        <p:spPr>
          <a:xfrm>
            <a:off x="8622139"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Panel administratora</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zgłoszenia, decyzje, odpowiedzi, CSV</a:t>
            </a:r>
            <a:endParaRPr lang="en-US" sz="1150" dirty="0"/>
          </a:p>
        </p:txBody>
      </p:sp>
      <p:sp>
        <p:nvSpPr>
          <p:cNvPr id="34" name="Shape 32"/>
          <p:cNvSpPr/>
          <p:nvPr/>
        </p:nvSpPr>
        <p:spPr>
          <a:xfrm>
            <a:off x="10086877" y="1901952"/>
            <a:ext cx="1464738" cy="1298448"/>
          </a:xfrm>
          <a:prstGeom prst="roundRect">
            <a:avLst>
              <a:gd name="adj" fmla="val 5634"/>
            </a:avLst>
          </a:prstGeom>
          <a:solidFill>
            <a:srgbClr val="FFFFFF"/>
          </a:solidFill>
          <a:ln w="12700">
            <a:solidFill>
              <a:srgbClr val="1A4B8C"/>
            </a:solidFill>
            <a:prstDash val="dash"/>
          </a:ln>
        </p:spPr>
      </p:sp>
      <p:sp>
        <p:nvSpPr>
          <p:cNvPr id="35" name="Text 33"/>
          <p:cNvSpPr txBox="1"/>
          <p:nvPr/>
        </p:nvSpPr>
        <p:spPr>
          <a:xfrm>
            <a:off x="10196605"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VII</a:t>
            </a:r>
            <a:endParaRPr lang="en-US" sz="1200" dirty="0"/>
          </a:p>
        </p:txBody>
      </p:sp>
      <p:sp>
        <p:nvSpPr>
          <p:cNvPr id="36" name="Shape 34"/>
          <p:cNvSpPr/>
          <p:nvPr/>
        </p:nvSpPr>
        <p:spPr>
          <a:xfrm>
            <a:off x="10710367" y="1993392"/>
            <a:ext cx="749808" cy="219456"/>
          </a:xfrm>
          <a:prstGeom prst="roundRect">
            <a:avLst>
              <a:gd name="adj" fmla="val 50000"/>
            </a:avLst>
          </a:prstGeom>
          <a:solidFill>
            <a:srgbClr val="DCE6F2"/>
          </a:solidFill>
          <a:ln w="12700">
            <a:solidFill>
              <a:srgbClr val="DCE6F2"/>
            </a:solidFill>
            <a:prstDash val="solid"/>
          </a:ln>
        </p:spPr>
      </p:sp>
      <p:sp>
        <p:nvSpPr>
          <p:cNvPr id="37" name="Text 35"/>
          <p:cNvSpPr txBox="1"/>
          <p:nvPr/>
        </p:nvSpPr>
        <p:spPr>
          <a:xfrm>
            <a:off x="10710367" y="1993392"/>
            <a:ext cx="74980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38" name="Text 36"/>
          <p:cNvSpPr txBox="1"/>
          <p:nvPr/>
        </p:nvSpPr>
        <p:spPr>
          <a:xfrm>
            <a:off x="10196605"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Middleman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ścieżki dopasowane do roli i gminy</a:t>
            </a:r>
            <a:endParaRPr lang="en-US" sz="1150" dirty="0"/>
          </a:p>
        </p:txBody>
      </p:sp>
      <p:sp>
        <p:nvSpPr>
          <p:cNvPr id="39" name="Text 37"/>
          <p:cNvSpPr txBox="1"/>
          <p:nvPr/>
        </p:nvSpPr>
        <p:spPr>
          <a:xfrm>
            <a:off x="640080" y="3355848"/>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PLAN ROZWOJU  ·  DO ZBUDOWANIA</a:t>
            </a:r>
            <a:endParaRPr lang="en-US" sz="1000" dirty="0"/>
          </a:p>
        </p:txBody>
      </p:sp>
      <p:sp>
        <p:nvSpPr>
          <p:cNvPr id="40" name="Text 38"/>
          <p:cNvSpPr txBox="1"/>
          <p:nvPr/>
        </p:nvSpPr>
        <p:spPr>
          <a:xfrm>
            <a:off x="640080" y="3666744"/>
            <a:ext cx="4846320"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role w Dziale Innowacji Społecznych ROPS</a:t>
            </a:r>
            <a:endParaRPr lang="en-US" sz="1400" dirty="0"/>
          </a:p>
        </p:txBody>
      </p:sp>
      <p:sp>
        <p:nvSpPr>
          <p:cNvPr id="41" name="Text 39"/>
          <p:cNvSpPr txBox="1"/>
          <p:nvPr/>
        </p:nvSpPr>
        <p:spPr>
          <a:xfrm>
            <a:off x="640080" y="3995928"/>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Opiekun kategorii</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osoba wskazana w każdej drodze; przyjmuje prośby o kontakt</a:t>
            </a:r>
            <a:endParaRPr lang="en-US" sz="1250" dirty="0"/>
          </a:p>
        </p:txBody>
      </p:sp>
      <p:sp>
        <p:nvSpPr>
          <p:cNvPr id="42" name="Text 40"/>
          <p:cNvSpPr txBox="1"/>
          <p:nvPr/>
        </p:nvSpPr>
        <p:spPr>
          <a:xfrm>
            <a:off x="640080" y="4398264"/>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Redaktor katalogu</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aktualizuje opisy, co roku pyta autorów o zmiany, odnotowuje wdrożenia</a:t>
            </a:r>
            <a:endParaRPr lang="en-US" sz="1250" dirty="0"/>
          </a:p>
        </p:txBody>
      </p:sp>
      <p:sp>
        <p:nvSpPr>
          <p:cNvPr id="43" name="Text 41"/>
          <p:cNvSpPr txBox="1"/>
          <p:nvPr/>
        </p:nvSpPr>
        <p:spPr>
          <a:xfrm>
            <a:off x="640080" y="4800600"/>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Koordynator banku potrzeb</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co tydzień przegląda potrzeby, łączy je w tematy naborów</a:t>
            </a:r>
            <a:endParaRPr lang="en-US" sz="1250" dirty="0"/>
          </a:p>
        </p:txBody>
      </p:sp>
      <p:sp>
        <p:nvSpPr>
          <p:cNvPr id="44" name="Text 42"/>
          <p:cNvSpPr txBox="1"/>
          <p:nvPr/>
        </p:nvSpPr>
        <p:spPr>
          <a:xfrm>
            <a:off x="5897880" y="3666744"/>
            <a:ext cx="5653735"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cykle, które domknie usługa</a:t>
            </a:r>
            <a:endParaRPr lang="en-US" sz="1400" dirty="0"/>
          </a:p>
        </p:txBody>
      </p:sp>
      <p:sp>
        <p:nvSpPr>
          <p:cNvPr id="45" name="Shape 43"/>
          <p:cNvSpPr/>
          <p:nvPr/>
        </p:nvSpPr>
        <p:spPr>
          <a:xfrm>
            <a:off x="5897880" y="4014216"/>
            <a:ext cx="292608" cy="292608"/>
          </a:xfrm>
          <a:prstGeom prst="ellipse">
            <a:avLst/>
          </a:prstGeom>
          <a:solidFill>
            <a:srgbClr val="FFFFFF"/>
          </a:solidFill>
          <a:ln w="19050">
            <a:solidFill>
              <a:srgbClr val="1A4B8C"/>
            </a:solidFill>
            <a:prstDash val="solid"/>
          </a:ln>
        </p:spPr>
      </p:sp>
      <p:sp>
        <p:nvSpPr>
          <p:cNvPr id="46" name="Text 44"/>
          <p:cNvSpPr txBox="1"/>
          <p:nvPr/>
        </p:nvSpPr>
        <p:spPr>
          <a:xfrm>
            <a:off x="5897880" y="401421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47" name="Text 45"/>
          <p:cNvSpPr txBox="1"/>
          <p:nvPr/>
        </p:nvSpPr>
        <p:spPr>
          <a:xfrm>
            <a:off x="6309360" y="3995928"/>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droga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kontakt</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nowe wdrożenie</a:t>
            </a:r>
            <a:endParaRPr lang="en-US" sz="1250" dirty="0"/>
          </a:p>
        </p:txBody>
      </p:sp>
      <p:sp>
        <p:nvSpPr>
          <p:cNvPr id="48" name="Shape 46"/>
          <p:cNvSpPr/>
          <p:nvPr/>
        </p:nvSpPr>
        <p:spPr>
          <a:xfrm>
            <a:off x="5897880" y="4416552"/>
            <a:ext cx="292608" cy="292608"/>
          </a:xfrm>
          <a:prstGeom prst="ellipse">
            <a:avLst/>
          </a:prstGeom>
          <a:solidFill>
            <a:srgbClr val="FFFFFF"/>
          </a:solidFill>
          <a:ln w="19050">
            <a:solidFill>
              <a:srgbClr val="1A4B8C"/>
            </a:solidFill>
            <a:prstDash val="solid"/>
          </a:ln>
        </p:spPr>
      </p:sp>
      <p:sp>
        <p:nvSpPr>
          <p:cNvPr id="49" name="Text 47"/>
          <p:cNvSpPr txBox="1"/>
          <p:nvPr/>
        </p:nvSpPr>
        <p:spPr>
          <a:xfrm>
            <a:off x="5897880" y="4416552"/>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50" name="Text 48"/>
          <p:cNvSpPr txBox="1"/>
          <p:nvPr/>
        </p:nvSpPr>
        <p:spPr>
          <a:xfrm>
            <a:off x="6309360" y="4398264"/>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bank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temat naboru</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nowa innowacja</a:t>
            </a:r>
            <a:endParaRPr lang="en-US" sz="1250" dirty="0"/>
          </a:p>
        </p:txBody>
      </p:sp>
      <p:sp>
        <p:nvSpPr>
          <p:cNvPr id="51" name="Shape 49"/>
          <p:cNvSpPr/>
          <p:nvPr/>
        </p:nvSpPr>
        <p:spPr>
          <a:xfrm>
            <a:off x="5897880" y="4818888"/>
            <a:ext cx="292608" cy="292608"/>
          </a:xfrm>
          <a:prstGeom prst="ellipse">
            <a:avLst/>
          </a:prstGeom>
          <a:solidFill>
            <a:srgbClr val="FFFFFF"/>
          </a:solidFill>
          <a:ln w="19050">
            <a:solidFill>
              <a:srgbClr val="1A4B8C"/>
            </a:solidFill>
            <a:prstDash val="solid"/>
          </a:ln>
        </p:spPr>
      </p:sp>
      <p:sp>
        <p:nvSpPr>
          <p:cNvPr id="52" name="Text 50"/>
          <p:cNvSpPr txBox="1"/>
          <p:nvPr/>
        </p:nvSpPr>
        <p:spPr>
          <a:xfrm>
            <a:off x="5897880" y="481888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53" name="Text 51"/>
          <p:cNvSpPr txBox="1"/>
          <p:nvPr/>
        </p:nvSpPr>
        <p:spPr>
          <a:xfrm>
            <a:off x="6309360" y="4800600"/>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Innowacja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mapa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granty tam, gdzie jej brakuje</a:t>
            </a:r>
            <a:endParaRPr lang="en-US" sz="1250" dirty="0"/>
          </a:p>
        </p:txBody>
      </p:sp>
      <p:sp>
        <p:nvSpPr>
          <p:cNvPr id="54" name="Shape 52"/>
          <p:cNvSpPr/>
          <p:nvPr/>
        </p:nvSpPr>
        <p:spPr>
          <a:xfrm>
            <a:off x="640080" y="5294376"/>
            <a:ext cx="4846320" cy="1106424"/>
          </a:xfrm>
          <a:prstGeom prst="roundRect">
            <a:avLst>
              <a:gd name="adj" fmla="val 8264"/>
            </a:avLst>
          </a:prstGeom>
          <a:solidFill>
            <a:srgbClr val="F3F5F8"/>
          </a:solidFill>
          <a:ln w="12700">
            <a:solidFill>
              <a:srgbClr val="F3F5F8"/>
            </a:solidFill>
            <a:prstDash val="solid"/>
          </a:ln>
        </p:spPr>
      </p:sp>
      <p:sp>
        <p:nvSpPr>
          <p:cNvPr id="55" name="Text 53"/>
          <p:cNvSpPr txBox="1"/>
          <p:nvPr/>
        </p:nvSpPr>
        <p:spPr>
          <a:xfrm>
            <a:off x="822960" y="5294376"/>
            <a:ext cx="4480560" cy="1106424"/>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Już w panelu ROPS:  </a:t>
            </a: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wpis czeka na decyzję pracownika, odnotowaną z jego nazwiskiem; autor pomysłu widzi status i odpowiedź na stronie swojej fiszki; liczba dróg, próśb o kontakt i potrzeb oraz trendy potrzeb.</a:t>
            </a:r>
            <a:endParaRPr lang="en-US" sz="1200" dirty="0"/>
          </a:p>
        </p:txBody>
      </p:sp>
      <p:sp>
        <p:nvSpPr>
          <p:cNvPr id="56" name="Shape 54"/>
          <p:cNvSpPr/>
          <p:nvPr/>
        </p:nvSpPr>
        <p:spPr>
          <a:xfrm>
            <a:off x="5897880" y="5294376"/>
            <a:ext cx="5653735" cy="1106424"/>
          </a:xfrm>
          <a:prstGeom prst="roundRect">
            <a:avLst>
              <a:gd name="adj" fmla="val 8264"/>
            </a:avLst>
          </a:prstGeom>
          <a:solidFill>
            <a:srgbClr val="EEF4FB"/>
          </a:solidFill>
          <a:ln w="12700">
            <a:solidFill>
              <a:srgbClr val="EEF4FB"/>
            </a:solidFill>
            <a:prstDash val="solid"/>
          </a:ln>
        </p:spPr>
      </p:sp>
      <p:sp>
        <p:nvSpPr>
          <p:cNvPr id="57" name="Text 55"/>
          <p:cNvSpPr txBox="1"/>
          <p:nvPr/>
        </p:nvSpPr>
        <p:spPr>
          <a:xfrm>
            <a:off x="6080760" y="5385816"/>
            <a:ext cx="528797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Około 55 USD miesięcznie plus 8 USD za 1000 dróg</a:t>
            </a:r>
            <a:endParaRPr lang="en-US" sz="1300" dirty="0"/>
          </a:p>
        </p:txBody>
      </p:sp>
      <p:sp>
        <p:nvSpPr>
          <p:cNvPr id="58" name="Text 56"/>
          <p:cNvSpPr txBox="1"/>
          <p:nvPr/>
        </p:nvSpPr>
        <p:spPr>
          <a:xfrm>
            <a:off x="6080760" y="5660136"/>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Serwer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aplikacja + polski model wyszukiwania, 4 GB</a:t>
            </a:r>
            <a:endParaRPr lang="en-US" sz="1050" dirty="0"/>
          </a:p>
        </p:txBody>
      </p:sp>
      <p:sp>
        <p:nvSpPr>
          <p:cNvPr id="59" name="Text 57"/>
          <p:cNvSpPr txBox="1"/>
          <p:nvPr/>
        </p:nvSpPr>
        <p:spPr>
          <a:xfrm>
            <a:off x="10317175" y="5660136"/>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USD / mies.</a:t>
            </a:r>
            <a:endParaRPr lang="en-US" sz="1050" dirty="0"/>
          </a:p>
        </p:txBody>
      </p:sp>
      <p:sp>
        <p:nvSpPr>
          <p:cNvPr id="60" name="Text 58"/>
          <p:cNvSpPr txBox="1"/>
          <p:nvPr/>
        </p:nvSpPr>
        <p:spPr>
          <a:xfrm>
            <a:off x="6080760" y="5824728"/>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Baza danych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61" name="Text 59"/>
          <p:cNvSpPr txBox="1"/>
          <p:nvPr/>
        </p:nvSpPr>
        <p:spPr>
          <a:xfrm>
            <a:off x="10317175" y="5824728"/>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USD / mies.</a:t>
            </a:r>
            <a:endParaRPr lang="en-US" sz="1050" dirty="0"/>
          </a:p>
        </p:txBody>
      </p:sp>
      <p:sp>
        <p:nvSpPr>
          <p:cNvPr id="62" name="Text 60"/>
          <p:cNvSpPr txBox="1"/>
          <p:nvPr/>
        </p:nvSpPr>
        <p:spPr>
          <a:xfrm>
            <a:off x="6080760" y="5989320"/>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Zapytanie do modelu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na Hugging Face, ~5 tys. tokenów</a:t>
            </a:r>
            <a:endParaRPr lang="en-US" sz="1050" dirty="0"/>
          </a:p>
        </p:txBody>
      </p:sp>
      <p:sp>
        <p:nvSpPr>
          <p:cNvPr id="63" name="Text 61"/>
          <p:cNvSpPr txBox="1"/>
          <p:nvPr/>
        </p:nvSpPr>
        <p:spPr>
          <a:xfrm>
            <a:off x="10317175" y="5989320"/>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 USD</a:t>
            </a:r>
            <a:endParaRPr lang="en-US" sz="1050" dirty="0"/>
          </a:p>
        </p:txBody>
      </p:sp>
      <p:sp>
        <p:nvSpPr>
          <p:cNvPr id="64" name="Text 62"/>
          <p:cNvSpPr txBox="1"/>
          <p:nvPr/>
        </p:nvSpPr>
        <p:spPr>
          <a:xfrm>
            <a:off x="6080760" y="6153912"/>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Droga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zapytania, ~21 tys. tokenów</a:t>
            </a:r>
            <a:endParaRPr lang="en-US" sz="1050" dirty="0"/>
          </a:p>
        </p:txBody>
      </p:sp>
      <p:sp>
        <p:nvSpPr>
          <p:cNvPr id="65" name="Text 63"/>
          <p:cNvSpPr txBox="1"/>
          <p:nvPr/>
        </p:nvSpPr>
        <p:spPr>
          <a:xfrm>
            <a:off x="10317175" y="6153912"/>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 USD</a:t>
            </a:r>
            <a:endParaRPr lang="en-US" sz="1050" dirty="0"/>
          </a:p>
        </p:txBody>
      </p:sp>
      <p:sp>
        <p:nvSpPr>
          <p:cNvPr id="66" name="Text 6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Dostępne dla wszystkich, oparte na otwartych danych</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Dostępność ponad wymogi prawa; każdy fakt ma link do otwartego źródła</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Wersja kontrastowa, jeden z trzech trybów wyświetlania</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Krój pisma dla osób słabowidzących</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Kontrast tekstu 7:1</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i trzy kryteria AAA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Większy tekst, trzy tryby, telefon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Obsługa klawiaturą i czytnikiem ekranu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Automatyczne testy axe każdego ekranu</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Dane, modele i podziękowania</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Innowacje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z ogólnopolskiej bazy innowacjespoleczne.pl (Fundacja Stocznia) i 115 z biblioteki ROPS; po scaleniu 34 duplikatów: 381 rekordów. CC BY 4.0 lub warunki MIIS, z uznaniem autorstwa przy każdym opisie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Miejsca</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rejestr TERC, wskaźniki Banku Danych Lokalnych 2024, granice PRG</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przez router Hugging Face; Claude (Anthropic) jako model zapasowy; wyszukiwanie: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Oprogramowanie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wzorce formularzy z GOV.UK Design System; przetwarzanie danych w Pythonie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Agenci AI</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(Anthropic) pisał kod, teksty i testy pod kierunkiem zespołu; każda decyzja zespołu jest zapisana w jawnym rejestrze decyzji projektu; zespół sprawdził wszystkie teksty po polsku</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44068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Kod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licencja Apache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2917</Words>
  <Application>Microsoft Office PowerPoint</Application>
  <PresentationFormat>Widescreen</PresentationFormat>
  <Paragraphs>242</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Segoe UI Symbol</vt:lpstr>
      <vt:lpstr>Arial</vt:lpstr>
      <vt:lpstr>Atkinson Hyperlegible Next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od potrzeby do rozwiązania</dc:title>
  <dc:subject>PptxGenJS Presentation</dc:subject>
  <dc:creator>Zespół HubMI, HackYeah 2026</dc:creator>
  <cp:lastModifiedBy>Alexander Bobrovsky</cp:lastModifiedBy>
  <cp:revision>2</cp:revision>
  <dcterms:created xsi:type="dcterms:W3CDTF">2026-10-03T20:33:07Z</dcterms:created>
  <dcterms:modified xsi:type="dcterms:W3CDTF">2026-10-03T20:33:21Z</dcterms:modified>
</cp:coreProperties>
</file>