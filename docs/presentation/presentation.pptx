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7297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aplikację HubMI.pl: stronę dla osób zgłaszających potrzeby i panel dla ROPS. Kolejne slajdy pokazują moduł po module, jak HubMI realizuje wyzwanie. Na telefonie widać prawdziwą drogę z aplikacji.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aplikacji dla przypadku testowego P01: samotni seniorzy w wiejskiej gminie Laskowa. Składa się z czterech części. Rozwiązania: sprawdzone innowacje, każda z uzasadnieniem opartym na cytatach ze źródła i z informacją, czego wymaga. Wiedza: instrukcje wdrożenia i modele usług ROPS. Ludzie: eksperci, czyli autorzy innowacji i realizatorzy w pobliżu, opiekun kategorii w ROPS i wolontariusze, którzy zgłosili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HubMI to więcej niż wyszukiwarka i czatbot: prowadzi od odpowiedzi do działania. Wyszukiwarka daje listę linków, a gdy nic nie pasuje, zwraca luźno powiązane wyniki. Czatbot z RAG odpowiada na podstawie źródeł, ale odpowiada zawsze, nawet gdy nic nie pasuje. HubMI daje dopasowane rozwiązania, wiedzę, kontakty i kroki wdrożenia. Model dobiera rozwiązania i uzasadnia dopasowanie, a system dodatkowo sprawdza każde odwołanie i każdy cytat. Kwoty i terminy pobieramy bezpośrednio z trzydziestu opracowanych ścieżek finansowania, a nie z tekstu modelu. Wyniki są przejrzyste także wtedy, gdy rozwiązania brak: przez tegoroczną suszę w studniach w gminie Dobra zabrakło wody, nic w katalogach nie pasuje, więc narzędzie informuje o braku dopasowania i nie rekomenduje rozwiązań. Proponuje za to wpis do banku potrzeb, a na jego podstawie powstaje fiszka dla inkubatora. Trafność sprawdzamy na przypadkach testowych: we wszystkich siedmiu przypadkach z dostępnym rozwiązaniem właściwa innowacja jest wśród trzech rekomendacji, a w dziewięciu z dziesięciu narzędzie poprawnie rozpoznaje, czy można zaproponować pełne, częściowe lub żadne dopasowanie.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jest już zaimplementowane: droga dla osób zgłaszających potrzeby, a obok fiszka pomysłu z kanwą innowacji, tester innowacji, rozmowy z ROPS i mentorami oraz tablica partnerstw. Z siedmiu modułów wyzwania sześć jest zaimplementowanych w całości, a jeden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(obecna wersja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Więcej niż katalog – wsparcie w działaniu</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wybierz rozwiązanie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Proponujemy rozwiązania sprawdzone w praktyce</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Opis potrzeby dopasowujemy do rozwiązań z katalogu. Odpowiedzi AI oparte są na materiałach źródłowych.</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instrukcje wdrożenia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eksperci, opiekunowie, wolontariusze</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 przejrzyste wyniki</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Więcej niż wyszukiwarka i czatbot – od odpowiedzi do działania</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Odpowiedź na podstawie źródeł</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Dopasowane rozwiązania, wiedzę, kontakty i kroki wdrożenia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Zwraca luźno powiązane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Informuje o braku dopasowania – przy wyniku poniżej 45/100 nie rekomenduje rozwiązań</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Do znalezienia w źródłach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Opracowywane przez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Pobierane bezpośrednio z opracowanych ścieżek finansowania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Porządkuje wyniki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Dobiera rozwiązania i uzasadnia dopasowanie. Odwołania i cytaty są dodatkowo sprawdzane przez system</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800600"/>
            <a:ext cx="6400800" cy="1554480"/>
          </a:xfrm>
          <a:prstGeom prst="roundRect">
            <a:avLst>
              <a:gd name="adj" fmla="val 5882"/>
            </a:avLst>
          </a:prstGeom>
          <a:solidFill>
            <a:srgbClr val="F3F5F8"/>
          </a:solidFill>
          <a:ln w="12700">
            <a:solidFill>
              <a:srgbClr val="F3F5F8"/>
            </a:solidFill>
            <a:prstDash val="solid"/>
          </a:ln>
        </p:spPr>
      </p:sp>
      <p:sp>
        <p:nvSpPr>
          <p:cNvPr id="8" name="Text 5"/>
          <p:cNvSpPr txBox="1"/>
          <p:nvPr/>
        </p:nvSpPr>
        <p:spPr>
          <a:xfrm>
            <a:off x="868680" y="4937760"/>
            <a:ext cx="594360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Właściwe rozwiązanie wśród trzech rekomendacji – w przypadkach z dostępnym rozwiązaniem</a:t>
            </a:r>
            <a:endParaRPr lang="en-US" sz="3000" dirty="0"/>
          </a:p>
        </p:txBody>
      </p:sp>
      <p:sp>
        <p:nvSpPr>
          <p:cNvPr id="10" name="Text 7"/>
          <p:cNvSpPr txBox="1"/>
          <p:nvPr/>
        </p:nvSpPr>
        <p:spPr>
          <a:xfrm>
            <a:off x="3977640" y="5257800"/>
            <a:ext cx="2834640" cy="10058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Poprawne rozpoznanie, czy można zaproponować pełne, częściowe lub żadne dopasowanie</a:t>
            </a:r>
            <a:endParaRPr lang="en-US" sz="3000" dirty="0"/>
          </a:p>
        </p:txBody>
      </p:sp>
      <p:sp>
        <p:nvSpPr>
          <p:cNvPr id="11" name="Shape 8"/>
          <p:cNvSpPr/>
          <p:nvPr/>
        </p:nvSpPr>
        <p:spPr>
          <a:xfrm>
            <a:off x="780551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805516" y="1691640"/>
            <a:ext cx="3392943" cy="1615889"/>
          </a:xfrm>
          <a:prstGeom prst="rect">
            <a:avLst/>
          </a:prstGeom>
        </p:spPr>
      </p:pic>
      <p:sp>
        <p:nvSpPr>
          <p:cNvPr id="13" name="Shape 9"/>
          <p:cNvSpPr/>
          <p:nvPr/>
        </p:nvSpPr>
        <p:spPr>
          <a:xfrm>
            <a:off x="780551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80551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80551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805516" y="4112201"/>
            <a:ext cx="3392943" cy="1712527"/>
          </a:xfrm>
          <a:prstGeom prst="rect">
            <a:avLst/>
          </a:prstGeom>
        </p:spPr>
      </p:pic>
      <p:sp>
        <p:nvSpPr>
          <p:cNvPr id="17" name="Shape 12"/>
          <p:cNvSpPr/>
          <p:nvPr/>
        </p:nvSpPr>
        <p:spPr>
          <a:xfrm>
            <a:off x="780551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80551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Zaimplementowane. Usługa ROPS –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Shape 3"/>
          <p:cNvSpPr/>
          <p:nvPr/>
        </p:nvSpPr>
        <p:spPr>
          <a:xfrm>
            <a:off x="731520" y="1993392"/>
            <a:ext cx="1281858" cy="219456"/>
          </a:xfrm>
          <a:prstGeom prst="roundRect">
            <a:avLst>
              <a:gd name="adj" fmla="val 50000"/>
            </a:avLst>
          </a:prstGeom>
          <a:solidFill>
            <a:srgbClr val="1A4B8C"/>
          </a:solidFill>
          <a:ln w="12700">
            <a:solidFill>
              <a:srgbClr val="1A4B8C"/>
            </a:solidFill>
            <a:prstDash val="solid"/>
          </a:ln>
        </p:spPr>
      </p:sp>
      <p:sp>
        <p:nvSpPr>
          <p:cNvPr id="6" name="Text 4"/>
          <p:cNvSpPr txBox="1"/>
          <p:nvPr/>
        </p:nvSpPr>
        <p:spPr>
          <a:xfrm>
            <a:off x="731520"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7" name="Text 5"/>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8" name="Shape 6"/>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9" name="Shape 7"/>
          <p:cNvSpPr/>
          <p:nvPr/>
        </p:nvSpPr>
        <p:spPr>
          <a:xfrm>
            <a:off x="2305986" y="1993392"/>
            <a:ext cx="1281858" cy="219456"/>
          </a:xfrm>
          <a:prstGeom prst="roundRect">
            <a:avLst>
              <a:gd name="adj" fmla="val 50000"/>
            </a:avLst>
          </a:prstGeom>
          <a:solidFill>
            <a:srgbClr val="1A4B8C"/>
          </a:solidFill>
          <a:ln w="12700">
            <a:solidFill>
              <a:srgbClr val="1A4B8C"/>
            </a:solidFill>
            <a:prstDash val="solid"/>
          </a:ln>
        </p:spPr>
      </p:sp>
      <p:sp>
        <p:nvSpPr>
          <p:cNvPr id="10" name="Text 8"/>
          <p:cNvSpPr txBox="1"/>
          <p:nvPr/>
        </p:nvSpPr>
        <p:spPr>
          <a:xfrm>
            <a:off x="2305986"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1" name="Text 9"/>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2" name="Shape 10"/>
          <p:cNvSpPr/>
          <p:nvPr/>
        </p:nvSpPr>
        <p:spPr>
          <a:xfrm>
            <a:off x="3789012" y="1901952"/>
            <a:ext cx="1464738" cy="1298448"/>
          </a:xfrm>
          <a:prstGeom prst="roundRect">
            <a:avLst>
              <a:gd name="adj" fmla="val 5634"/>
            </a:avLst>
          </a:prstGeom>
          <a:solidFill>
            <a:srgbClr val="EEF4FB"/>
          </a:solidFill>
          <a:ln w="12700">
            <a:solidFill>
              <a:srgbClr val="EEF4FB"/>
            </a:solidFill>
            <a:prstDash val="solid"/>
          </a:ln>
        </p:spPr>
      </p:sp>
      <p:sp>
        <p:nvSpPr>
          <p:cNvPr id="13" name="Shape 11"/>
          <p:cNvSpPr/>
          <p:nvPr/>
        </p:nvSpPr>
        <p:spPr>
          <a:xfrm>
            <a:off x="3880452" y="1993392"/>
            <a:ext cx="1281858" cy="219456"/>
          </a:xfrm>
          <a:prstGeom prst="roundRect">
            <a:avLst>
              <a:gd name="adj" fmla="val 50000"/>
            </a:avLst>
          </a:prstGeom>
          <a:solidFill>
            <a:srgbClr val="1A4B8C"/>
          </a:solidFill>
          <a:ln w="12700">
            <a:solidFill>
              <a:srgbClr val="1A4B8C"/>
            </a:solidFill>
            <a:prstDash val="solid"/>
          </a:ln>
        </p:spPr>
      </p:sp>
      <p:sp>
        <p:nvSpPr>
          <p:cNvPr id="14" name="Text 12"/>
          <p:cNvSpPr txBox="1"/>
          <p:nvPr/>
        </p:nvSpPr>
        <p:spPr>
          <a:xfrm>
            <a:off x="3880452"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5" name="Text 13"/>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kanwa innowacji, podobne rozwiązania</a:t>
            </a:r>
            <a:endParaRPr lang="en-US" sz="1150" dirty="0"/>
          </a:p>
        </p:txBody>
      </p:sp>
      <p:sp>
        <p:nvSpPr>
          <p:cNvPr id="16" name="Shape 14"/>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17" name="Shape 15"/>
          <p:cNvSpPr/>
          <p:nvPr/>
        </p:nvSpPr>
        <p:spPr>
          <a:xfrm>
            <a:off x="5454919" y="1993392"/>
            <a:ext cx="1281858" cy="219456"/>
          </a:xfrm>
          <a:prstGeom prst="roundRect">
            <a:avLst>
              <a:gd name="adj" fmla="val 50000"/>
            </a:avLst>
          </a:prstGeom>
          <a:solidFill>
            <a:srgbClr val="1A4B8C"/>
          </a:solidFill>
          <a:ln w="12700">
            <a:solidFill>
              <a:srgbClr val="1A4B8C"/>
            </a:solidFill>
            <a:prstDash val="solid"/>
          </a:ln>
        </p:spPr>
      </p:sp>
      <p:sp>
        <p:nvSpPr>
          <p:cNvPr id="18" name="Text 16"/>
          <p:cNvSpPr txBox="1"/>
          <p:nvPr/>
        </p:nvSpPr>
        <p:spPr>
          <a:xfrm>
            <a:off x="5454919"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9" name="Text 17"/>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0" name="Shape 18"/>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1" name="Shape 19"/>
          <p:cNvSpPr/>
          <p:nvPr/>
        </p:nvSpPr>
        <p:spPr>
          <a:xfrm>
            <a:off x="7029385" y="1993392"/>
            <a:ext cx="128185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7029385"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3" name="Text 21"/>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4" name="Shape 22"/>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25" name="Shape 23"/>
          <p:cNvSpPr/>
          <p:nvPr/>
        </p:nvSpPr>
        <p:spPr>
          <a:xfrm>
            <a:off x="8603851" y="1993392"/>
            <a:ext cx="1281858" cy="219456"/>
          </a:xfrm>
          <a:prstGeom prst="roundRect">
            <a:avLst>
              <a:gd name="adj" fmla="val 50000"/>
            </a:avLst>
          </a:prstGeom>
          <a:solidFill>
            <a:srgbClr val="1A4B8C"/>
          </a:solidFill>
          <a:ln w="12700">
            <a:solidFill>
              <a:srgbClr val="1A4B8C"/>
            </a:solidFill>
            <a:prstDash val="solid"/>
          </a:ln>
        </p:spPr>
      </p:sp>
      <p:sp>
        <p:nvSpPr>
          <p:cNvPr id="26" name="Text 24"/>
          <p:cNvSpPr txBox="1"/>
          <p:nvPr/>
        </p:nvSpPr>
        <p:spPr>
          <a:xfrm>
            <a:off x="8603851"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7" name="Text 25"/>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28" name="Shape 26"/>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29" name="Shape 27"/>
          <p:cNvSpPr/>
          <p:nvPr/>
        </p:nvSpPr>
        <p:spPr>
          <a:xfrm>
            <a:off x="10178317" y="1993392"/>
            <a:ext cx="1281858" cy="219456"/>
          </a:xfrm>
          <a:prstGeom prst="roundRect">
            <a:avLst>
              <a:gd name="adj" fmla="val 50000"/>
            </a:avLst>
          </a:prstGeom>
          <a:solidFill>
            <a:srgbClr val="DCE6F2"/>
          </a:solidFill>
          <a:ln w="12700">
            <a:solidFill>
              <a:srgbClr val="DCE6F2"/>
            </a:solidFill>
            <a:prstDash val="solid"/>
          </a:ln>
        </p:spPr>
      </p:sp>
      <p:sp>
        <p:nvSpPr>
          <p:cNvPr id="30" name="Text 28"/>
          <p:cNvSpPr txBox="1"/>
          <p:nvPr/>
        </p:nvSpPr>
        <p:spPr>
          <a:xfrm>
            <a:off x="10178317"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1" name="Text 29"/>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2" name="Text 30"/>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33" name="Text 31"/>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34" name="Text 32"/>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35" name="Text 33"/>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36" name="Text 34"/>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37" name="Text 35"/>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38" name="Shape 36"/>
          <p:cNvSpPr/>
          <p:nvPr/>
        </p:nvSpPr>
        <p:spPr>
          <a:xfrm>
            <a:off x="5897880" y="4014216"/>
            <a:ext cx="292608" cy="292608"/>
          </a:xfrm>
          <a:prstGeom prst="ellipse">
            <a:avLst/>
          </a:prstGeom>
          <a:solidFill>
            <a:srgbClr val="FFFFFF"/>
          </a:solidFill>
          <a:ln w="19050">
            <a:solidFill>
              <a:srgbClr val="1A4B8C"/>
            </a:solidFill>
            <a:prstDash val="solid"/>
          </a:ln>
        </p:spPr>
      </p:sp>
      <p:sp>
        <p:nvSpPr>
          <p:cNvPr id="39" name="Text 37"/>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0" name="Text 38"/>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1" name="Shape 39"/>
          <p:cNvSpPr/>
          <p:nvPr/>
        </p:nvSpPr>
        <p:spPr>
          <a:xfrm>
            <a:off x="5897880" y="4416552"/>
            <a:ext cx="292608" cy="292608"/>
          </a:xfrm>
          <a:prstGeom prst="ellipse">
            <a:avLst/>
          </a:prstGeom>
          <a:solidFill>
            <a:srgbClr val="FFFFFF"/>
          </a:solidFill>
          <a:ln w="19050">
            <a:solidFill>
              <a:srgbClr val="1A4B8C"/>
            </a:solidFill>
            <a:prstDash val="solid"/>
          </a:ln>
        </p:spPr>
      </p:sp>
      <p:sp>
        <p:nvSpPr>
          <p:cNvPr id="42" name="Text 40"/>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43" name="Text 41"/>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44" name="Shape 42"/>
          <p:cNvSpPr/>
          <p:nvPr/>
        </p:nvSpPr>
        <p:spPr>
          <a:xfrm>
            <a:off x="5897880" y="4818888"/>
            <a:ext cx="292608" cy="292608"/>
          </a:xfrm>
          <a:prstGeom prst="ellipse">
            <a:avLst/>
          </a:prstGeom>
          <a:solidFill>
            <a:srgbClr val="FFFFFF"/>
          </a:solidFill>
          <a:ln w="19050">
            <a:solidFill>
              <a:srgbClr val="1A4B8C"/>
            </a:solidFill>
            <a:prstDash val="solid"/>
          </a:ln>
        </p:spPr>
      </p:sp>
      <p:sp>
        <p:nvSpPr>
          <p:cNvPr id="45" name="Text 43"/>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46" name="Text 44"/>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47" name="Shape 45"/>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48" name="Text 46"/>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49" name="Shape 47"/>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0" name="Text 48"/>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1" name="Text 49"/>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2" name="Text 50"/>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53" name="Text 51"/>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54" name="Text 52"/>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55" name="Text 53"/>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56" name="Text 54"/>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57" name="Text 55"/>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58" name="Text 56"/>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59" name="Text 5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układ dostosowany do telefonu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2977</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Segoe UI Symbol</vt:lpstr>
      <vt:lpstr>Arial</vt:lpstr>
      <vt:lpstr>Atkinson Hyperlegible Next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2026-10-04T06:34:37Z</dcterms:created>
  <dcterms:modified xsi:type="dcterms:W3CDTF">2026-10-04T06:34:51Z</dcterms:modified>
</cp:coreProperties>
</file>