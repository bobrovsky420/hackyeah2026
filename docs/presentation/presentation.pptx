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Georgia" panose="02040502050405020303" pitchFamily="18" charset="0"/>
      <p:regular r:id="rId16"/>
      <p:bold r:id="rId17"/>
      <p:italic r:id="rId18"/>
      <p:boldItalic r:id="rId19"/>
    </p:embeddedFont>
    <p:embeddedFont>
      <p:font typeface="Segoe UI Symbol" panose="020B0502040204020203" pitchFamily="34" charset="0"/>
      <p:regular r:id="rId2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24803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is the name ROPS Kraków gave the digital core of its planned Małopolska Social Innovation Hub. We built a working prototype of it. One idea: a person describes a need in plain Polish and gets a route, not a list. The phone shows a real route from the prototype.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partner's brief in their own words: not another catalogue, a tool that connects a problem to a solution, knowledge and people, and helps when no solution exists yet. The knowledge is there: about 200 innovations from Małopolska, 300 in the national base. What is missing is the link from a need in one of 183 gminas to what already works, and a record of the needs nothing answers.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route from the prototype for our test problem P01: lonely seniors in the rural gmina Laskowa. It has four blocks. Solutions: two proven innovations, each with why it fits, quoted from its source entry, and what it takes. Knowledge: the manuals and the ROPS models. People: the authors, the ROPS category advisor, people who registered to help. Implementation path: the programmes that can fund it, with amounts, deadlines and steps. It is not a list of search results; it is what to do next.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question: is this just search, or a chatbot over the catalogue? No. Search gives links and a RAG chatbot gives a paragraph, and both answer every question. HubMI builds a route from curated data by rules: the funding amounts, deadlines and legal bases come from a table of thirty paths the model never sees; people and places come from data. The model only picks and explains, and code checks every identifier and every quote. Most important, it can say no: below a fit of 45 there is no route, and the need goes to the incubator instead.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 asked what happens when no solution exists yet. This summer's drought dried up the wells in the hamlets of gmina Dobra; nothing in the catalogues fits, and the tool says so instead of showing weak matches. The need goes into the needs bank; ROPS merges similar needs and the tool drafts the brief for the next incubator call, listing the nearest existing innovations. The third screen is the reverse direction: for a proven innovation, the gminas where the indicators show need and where it does not run yet.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partner's teaser is called 'from empathy to technology'. So every text first passes a screening gate: a community need is routed; a person in crisis gets helplines and the local social assistance centre, not a list of innovations; a request meant to exclude people is declined politely, with a way to appeal. Then retrieval with the Polish PolDense model, and Bielik, the Polish open model, picks and explains. We did not pick them by name: before the hackathon we measured Bielik against four other language models on Polish screening and matching cases, and PolDense against five other embedding models on all 381 records; the evidence is in the repository. It cannot invent a solution or a funding amount: every identifier and quote is checked, and amounts come from a curated table. Anything that involves a real person passes a ROPS moderator.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 concept, not only software. ROPS runs HubMI with three roles, which can be three people or one: a category advisor who is the human face of every route, a catalogue editor, and a needs-bank coordinator. The tool closes three loops: a need becomes an implementation; an unmet need becomes an incubator topic and later a new innovation; a proven innovation is taken to the places that need it. The console on the right is where ROPS decides, and the tool counts what ROPS reports from day one. Running it is cheap: one 4 GB server for the app and the Polish embedding model, 24 dollars a month on AWS Lightsail; for production, PostgreSQL with pgvector on RDS, about 30 dollars a month (the prototype keeps its entries in one file). A model call to Bielik through Hugging Face is about five thousand tokens at 40 cents per million, a fifth of a cent; a whole route is four calls, under one cent.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and this is an idea, not a promise. Pupils finishing primary school get three of the two hundred recruitment points for volunteering written on their certificate, so every school looks for real tasks, and our needs bank is full of them. We do not want to build another volunteering app: last year the City of Kraków's task at HackYeah was won by DoBro, built by the team Szybkie Palce, a platform that connects young volunteers, schools and organisations. HubMI brings the need, checked by ROPS, with a proven method; DoBro brings the hands. A need is filed, ROPS marks it fit for pupils, it goes into an open task feed, DoBro matches pupils through the school coordinator, and the hours and the outcome come back to the needs bank and the map. Children first: we never hold pupils' data, and only organisations with child-protection standards get a task. We would like to invite the DoBro team to build this with 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for everyone: ROPS ran an accessibility incubator, so we set our own bar above the legal one: a typeface designed for low vision, 7:1 contrast, three themes, full keyboard use and an automated check of every screen. A blind person can describe a need and file it with a screen reader: every field is labelled, each waiting step is announced, and a required consent says so before the first try. Everything the tool shows comes from open data, linked back to its source with its licence; the catalogues stay the systems of record. AI coding assistants helped build it; the idea and the decisions are ours.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HUBMI.PL PARTNER TASK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from need</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to solution</a:t>
            </a:r>
            <a:endParaRPr lang="en-US" sz="5400" dirty="0"/>
          </a:p>
        </p:txBody>
      </p:sp>
      <p:sp>
        <p:nvSpPr>
          <p:cNvPr id="4" name="Text 2"/>
          <p:cNvSpPr txBox="1"/>
          <p:nvPr/>
        </p:nvSpPr>
        <p:spPr>
          <a:xfrm>
            <a:off x="640080" y="31089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A route, not a catalogue.</a:t>
            </a:r>
            <a:endParaRPr lang="en-US" sz="2800" dirty="0"/>
          </a:p>
        </p:txBody>
      </p:sp>
      <p:sp>
        <p:nvSpPr>
          <p:cNvPr id="5" name="Text 3"/>
          <p:cNvSpPr txBox="1"/>
          <p:nvPr/>
        </p:nvSpPr>
        <p:spPr>
          <a:xfrm>
            <a:off x="640080" y="3794760"/>
            <a:ext cx="6949440" cy="1508760"/>
          </a:xfrm>
          <a:prstGeom prst="rect">
            <a:avLst/>
          </a:prstGeom>
          <a:noFill/>
          <a:ln/>
        </p:spPr>
        <p:txBody>
          <a:bodyPr wrap="square" lIns="0" tIns="0" rIns="0" bIns="0" rtlCol="0" anchor="t"/>
          <a:lstStyle/>
          <a:p>
            <a:pPr marL="0" indent="0">
              <a:lnSpc>
                <a:spcPct val="115000"/>
              </a:lnSpc>
              <a:buNone/>
            </a:pPr>
            <a:r>
              <a:rPr lang="en-US" sz="1600" dirty="0">
                <a:solidFill>
                  <a:srgbClr val="DCE6F2"/>
                </a:solidFill>
                <a:latin typeface="Atkinson Hyperlegible Next" pitchFamily="34" charset="0"/>
                <a:ea typeface="Atkinson Hyperlegible Next" pitchFamily="34" charset="-122"/>
                <a:cs typeface="Atkinson Hyperlegible Next" pitchFamily="34" charset="-120"/>
              </a:rPr>
              <a:t>A working prototype of the digital core that ROPS Kraków plans for the Małopolska Social Innovation Hub: a need that a resident, a social worker, an NGO leader or a municipal official describes in plain Polish becomes a route to proven solutions, knowledge, people and funding, not a list of links or a chatbot answer.</a:t>
            </a:r>
            <a:endParaRPr lang="en-US" sz="1600" dirty="0"/>
          </a:p>
        </p:txBody>
      </p:sp>
      <p:sp>
        <p:nvSpPr>
          <p:cNvPr id="6" name="Text 4"/>
          <p:cNvSpPr txBox="1"/>
          <p:nvPr/>
        </p:nvSpPr>
        <p:spPr>
          <a:xfrm>
            <a:off x="640080" y="539496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TEAM</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7"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Proven solutions exist, but they do not reach the places that need them</a:t>
            </a:r>
            <a:endParaRPr lang="en-US" sz="3200" dirty="0"/>
          </a:p>
        </p:txBody>
      </p:sp>
      <p:sp>
        <p:nvSpPr>
          <p:cNvPr id="3" name="Shape 1"/>
          <p:cNvSpPr/>
          <p:nvPr/>
        </p:nvSpPr>
        <p:spPr>
          <a:xfrm>
            <a:off x="640080" y="1691640"/>
            <a:ext cx="5760720" cy="3383280"/>
          </a:xfrm>
          <a:prstGeom prst="roundRect">
            <a:avLst>
              <a:gd name="adj" fmla="val 3243"/>
            </a:avLst>
          </a:prstGeom>
          <a:solidFill>
            <a:srgbClr val="EEF4FB"/>
          </a:solidFill>
          <a:ln w="12700">
            <a:solidFill>
              <a:srgbClr val="EEF4FB"/>
            </a:solidFill>
            <a:prstDash val="solid"/>
          </a:ln>
        </p:spPr>
      </p:sp>
      <p:sp>
        <p:nvSpPr>
          <p:cNvPr id="4" name="Text 2"/>
          <p:cNvSpPr txBox="1"/>
          <p:nvPr/>
        </p:nvSpPr>
        <p:spPr>
          <a:xfrm>
            <a:off x="914400" y="1783080"/>
            <a:ext cx="731520" cy="731520"/>
          </a:xfrm>
          <a:prstGeom prst="rect">
            <a:avLst/>
          </a:prstGeom>
          <a:noFill/>
          <a:ln/>
        </p:spPr>
        <p:txBody>
          <a:bodyPr wrap="square" lIns="0" tIns="0" rIns="0" bIns="0" rtlCol="0" anchor="t"/>
          <a:lstStyle/>
          <a:p>
            <a:pPr marL="0" indent="0">
              <a:buNone/>
            </a:pPr>
            <a:r>
              <a:rPr lang="en-US" sz="7200" b="1" dirty="0">
                <a:solidFill>
                  <a:srgbClr val="1A4B8C"/>
                </a:solidFill>
                <a:latin typeface="Georgia" pitchFamily="34" charset="0"/>
                <a:ea typeface="Georgia" pitchFamily="34" charset="-122"/>
                <a:cs typeface="Georgia" pitchFamily="34" charset="-120"/>
              </a:rPr>
              <a:t>“</a:t>
            </a:r>
            <a:endParaRPr lang="en-US" sz="7200" dirty="0"/>
          </a:p>
        </p:txBody>
      </p:sp>
      <p:sp>
        <p:nvSpPr>
          <p:cNvPr id="5" name="Text 3"/>
          <p:cNvSpPr txBox="1"/>
          <p:nvPr/>
        </p:nvSpPr>
        <p:spPr>
          <a:xfrm>
            <a:off x="960120" y="2468880"/>
            <a:ext cx="5120640" cy="2468880"/>
          </a:xfrm>
          <a:prstGeom prst="rect">
            <a:avLst/>
          </a:prstGeom>
          <a:noFill/>
          <a:ln/>
        </p:spPr>
        <p:txBody>
          <a:bodyPr wrap="square" lIns="0" tIns="0" rIns="0" bIns="0" rtlCol="0" anchor="t"/>
          <a:lstStyle/>
          <a:p>
            <a:pPr marL="0" indent="0">
              <a:lnSpc>
                <a:spcPct val="110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1000"/>
              </a:spcBef>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“We don't want another portal, catalogue or search engine. We want a tool that connects a problem to an existing solution, points to the right knowledge and people and, when no solution exists yet, helps find a way to create one.”</a:t>
            </a:r>
            <a:endParaRPr lang="en-US" sz="1500" dirty="0"/>
          </a:p>
          <a:p>
            <a:pPr marL="0" indent="0">
              <a:lnSpc>
                <a:spcPct val="110000"/>
              </a:lnSpc>
              <a:spcBef>
                <a:spcPts val="1000"/>
              </a:spcBef>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ROPS Kraków, the HubMI.pl task</a:t>
            </a:r>
            <a:endParaRPr lang="en-US" sz="1500" dirty="0"/>
          </a:p>
        </p:txBody>
      </p:sp>
      <p:sp>
        <p:nvSpPr>
          <p:cNvPr id="6" name="Text 4"/>
          <p:cNvSpPr txBox="1"/>
          <p:nvPr/>
        </p:nvSpPr>
        <p:spPr>
          <a:xfrm>
            <a:off x="6812280" y="173736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~200</a:t>
            </a:r>
            <a:endParaRPr lang="en-US" sz="4400" dirty="0"/>
          </a:p>
        </p:txBody>
      </p:sp>
      <p:sp>
        <p:nvSpPr>
          <p:cNvPr id="7" name="Text 5"/>
          <p:cNvSpPr txBox="1"/>
          <p:nvPr/>
        </p:nvSpPr>
        <p:spPr>
          <a:xfrm>
            <a:off x="8595360" y="173736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social innovations created in Małopolska in the last ten years (ROPS)</a:t>
            </a:r>
            <a:endParaRPr lang="en-US" sz="1400" dirty="0"/>
          </a:p>
        </p:txBody>
      </p:sp>
      <p:sp>
        <p:nvSpPr>
          <p:cNvPr id="8" name="Text 6"/>
          <p:cNvSpPr txBox="1"/>
          <p:nvPr/>
        </p:nvSpPr>
        <p:spPr>
          <a:xfrm>
            <a:off x="6812280" y="283464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300</a:t>
            </a:r>
            <a:endParaRPr lang="en-US" sz="4400" dirty="0"/>
          </a:p>
        </p:txBody>
      </p:sp>
      <p:sp>
        <p:nvSpPr>
          <p:cNvPr id="9" name="Text 7"/>
          <p:cNvSpPr txBox="1"/>
          <p:nvPr/>
        </p:nvSpPr>
        <p:spPr>
          <a:xfrm>
            <a:off x="8595360" y="283464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innovations in the national base innowacjespoleczne.pl, 115 in the ROPS library</a:t>
            </a:r>
            <a:endParaRPr lang="en-US" sz="1400" dirty="0"/>
          </a:p>
        </p:txBody>
      </p:sp>
      <p:sp>
        <p:nvSpPr>
          <p:cNvPr id="10" name="Text 8"/>
          <p:cNvSpPr txBox="1"/>
          <p:nvPr/>
        </p:nvSpPr>
        <p:spPr>
          <a:xfrm>
            <a:off x="6812280" y="3931920"/>
            <a:ext cx="1508760" cy="868680"/>
          </a:xfrm>
          <a:prstGeom prst="rect">
            <a:avLst/>
          </a:prstGeom>
          <a:noFill/>
          <a:ln/>
        </p:spPr>
        <p:txBody>
          <a:bodyPr wrap="square" lIns="0" tIns="0" rIns="0" bIns="0" rtlCol="0" anchor="ctr"/>
          <a:lstStyle/>
          <a:p>
            <a:pPr marL="0" indent="0" algn="r">
              <a:buNone/>
            </a:pPr>
            <a:r>
              <a:rPr lang="en-US" sz="4400" b="1" dirty="0">
                <a:solidFill>
                  <a:srgbClr val="1A4B8C"/>
                </a:solidFill>
                <a:latin typeface="Atkinson Hyperlegible Next" pitchFamily="34" charset="0"/>
                <a:ea typeface="Atkinson Hyperlegible Next" pitchFamily="34" charset="-122"/>
                <a:cs typeface="Atkinson Hyperlegible Next" pitchFamily="34" charset="-120"/>
              </a:rPr>
              <a:t>183</a:t>
            </a:r>
            <a:endParaRPr lang="en-US" sz="4400" dirty="0"/>
          </a:p>
        </p:txBody>
      </p:sp>
      <p:sp>
        <p:nvSpPr>
          <p:cNvPr id="11" name="Text 9"/>
          <p:cNvSpPr txBox="1"/>
          <p:nvPr/>
        </p:nvSpPr>
        <p:spPr>
          <a:xfrm>
            <a:off x="8595360" y="3931920"/>
            <a:ext cx="2956255" cy="868680"/>
          </a:xfrm>
          <a:prstGeom prst="rect">
            <a:avLst/>
          </a:prstGeom>
          <a:noFill/>
          <a:ln/>
        </p:spPr>
        <p:txBody>
          <a:bodyPr wrap="square" lIns="0" tIns="0" rIns="0" bIns="0" rtlCol="0" anchor="ctr"/>
          <a:lstStyle/>
          <a:p>
            <a:pPr marL="0" indent="0">
              <a:buNone/>
            </a:pPr>
            <a:r>
              <a:rPr lang="en-US" sz="1400" dirty="0">
                <a:solidFill>
                  <a:srgbClr val="14171A"/>
                </a:solidFill>
                <a:latin typeface="Atkinson Hyperlegible Next" pitchFamily="34" charset="0"/>
                <a:ea typeface="Atkinson Hyperlegible Next" pitchFamily="34" charset="-122"/>
                <a:cs typeface="Atkinson Hyperlegible Next" pitchFamily="34" charset="-120"/>
              </a:rPr>
              <a:t>gminas in Małopolska, each with its own needs and none with a guide to what already works</a:t>
            </a:r>
            <a:endParaRPr lang="en-US" sz="1400" dirty="0"/>
          </a:p>
        </p:txBody>
      </p:sp>
      <p:sp>
        <p:nvSpPr>
          <p:cNvPr id="12" name="Shape 10"/>
          <p:cNvSpPr/>
          <p:nvPr/>
        </p:nvSpPr>
        <p:spPr>
          <a:xfrm>
            <a:off x="640080" y="5257800"/>
            <a:ext cx="10911535" cy="960120"/>
          </a:xfrm>
          <a:prstGeom prst="roundRect">
            <a:avLst>
              <a:gd name="adj" fmla="val 11429"/>
            </a:avLst>
          </a:prstGeom>
          <a:solidFill>
            <a:srgbClr val="F3F5F8"/>
          </a:solidFill>
          <a:ln w="12700">
            <a:solidFill>
              <a:srgbClr val="F3F5F8"/>
            </a:solidFill>
            <a:prstDash val="solid"/>
          </a:ln>
        </p:spPr>
      </p:sp>
      <p:sp>
        <p:nvSpPr>
          <p:cNvPr id="13" name="Text 11"/>
          <p:cNvSpPr txBox="1"/>
          <p:nvPr/>
        </p:nvSpPr>
        <p:spPr>
          <a:xfrm>
            <a:off x="914400" y="5257800"/>
            <a:ext cx="10362895" cy="960120"/>
          </a:xfrm>
          <a:prstGeom prst="rect">
            <a:avLst/>
          </a:prstGeom>
          <a:noFill/>
          <a:ln/>
        </p:spPr>
        <p:txBody>
          <a:bodyPr wrap="square" lIns="0" tIns="0" rIns="0" bIns="0" rtlCol="0" anchor="ctr"/>
          <a:lstStyle/>
          <a:p>
            <a:pPr marL="0" indent="0">
              <a:buNone/>
            </a:pPr>
            <a:r>
              <a:rPr lang="en-US" sz="1500" b="1" dirty="0">
                <a:solidFill>
                  <a:srgbClr val="1A4B8C"/>
                </a:solidFill>
                <a:latin typeface="Atkinson Hyperlegible Next" pitchFamily="34" charset="0"/>
                <a:ea typeface="Atkinson Hyperlegible Next" pitchFamily="34" charset="-122"/>
                <a:cs typeface="Atkinson Hyperlegible Next" pitchFamily="34" charset="-120"/>
              </a:rPr>
              <a:t>The gap.  </a:t>
            </a:r>
            <a:r>
              <a:rPr lang="en-US" sz="1500" dirty="0">
                <a:solidFill>
                  <a:srgbClr val="14171A"/>
                </a:solidFill>
                <a:latin typeface="Atkinson Hyperlegible Next" pitchFamily="34" charset="0"/>
                <a:ea typeface="Atkinson Hyperlegible Next" pitchFamily="34" charset="-122"/>
                <a:cs typeface="Atkinson Hyperlegible Next" pitchFamily="34" charset="-120"/>
              </a:rPr>
              <a:t>The catalogues are browsed by title and category, and none of them takes a local problem as the question. The incubators choose their next topics without a record of the needs nobody could meet.</a:t>
            </a:r>
            <a:endParaRPr lang="en-US" sz="1500" dirty="0"/>
          </a:p>
        </p:txBody>
      </p:sp>
      <p:sp>
        <p:nvSpPr>
          <p:cNvPr id="14" name="Text 12"/>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Describe a need, get a route</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A live result of the prototype: one need, one place, four blocks and three next steps</a:t>
            </a:r>
            <a:endParaRPr lang="en-US" sz="3200" dirty="0"/>
          </a:p>
        </p:txBody>
      </p:sp>
      <p:sp>
        <p:nvSpPr>
          <p:cNvPr id="3" name="Text 1"/>
          <p:cNvSpPr txBox="1"/>
          <p:nvPr/>
        </p:nvSpPr>
        <p:spPr>
          <a:xfrm>
            <a:off x="640080" y="1600200"/>
            <a:ext cx="301752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THE NEED  ·  TEST PROBLEM P01</a:t>
            </a:r>
            <a:endParaRPr lang="en-US" sz="1100" dirty="0"/>
          </a:p>
        </p:txBody>
      </p:sp>
      <p:sp>
        <p:nvSpPr>
          <p:cNvPr id="4" name="Shape 2"/>
          <p:cNvSpPr/>
          <p:nvPr/>
        </p:nvSpPr>
        <p:spPr>
          <a:xfrm>
            <a:off x="640080" y="1965960"/>
            <a:ext cx="3017520" cy="3474720"/>
          </a:xfrm>
          <a:prstGeom prst="roundRect">
            <a:avLst>
              <a:gd name="adj" fmla="val 3636"/>
            </a:avLst>
          </a:prstGeom>
          <a:solidFill>
            <a:srgbClr val="EEF4FB"/>
          </a:solidFill>
          <a:ln w="12700">
            <a:solidFill>
              <a:srgbClr val="EEF4FB"/>
            </a:solidFill>
            <a:prstDash val="solid"/>
          </a:ln>
        </p:spPr>
      </p:sp>
      <p:sp>
        <p:nvSpPr>
          <p:cNvPr id="5" name="Text 3"/>
          <p:cNvSpPr txBox="1"/>
          <p:nvPr/>
        </p:nvSpPr>
        <p:spPr>
          <a:xfrm>
            <a:off x="841248" y="2103120"/>
            <a:ext cx="2615184" cy="2514600"/>
          </a:xfrm>
          <a:prstGeom prst="rect">
            <a:avLst/>
          </a:prstGeom>
          <a:noFill/>
          <a:ln/>
        </p:spPr>
        <p:txBody>
          <a:bodyPr wrap="square" lIns="0" tIns="0" rIns="0" bIns="0" rtlCol="0" anchor="t"/>
          <a:lstStyle/>
          <a:p>
            <a:pPr marL="0" indent="0">
              <a:lnSpc>
                <a:spcPct val="110000"/>
              </a:lnSpc>
              <a:buNone/>
            </a:pPr>
            <a:r>
              <a:rPr lang="en-US" sz="13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a sąsiedzi zgłaszają, że starsze osoby nie wychodzą z domu i nie mają z kim porozmawiać. Gmina ma świetlicę wiejską wolną trzy dni w tygodniu.”</a:t>
            </a:r>
            <a:endParaRPr lang="en-US" sz="1300" dirty="0"/>
          </a:p>
          <a:p>
            <a:pPr marL="0" indent="0">
              <a:lnSpc>
                <a:spcPct val="110000"/>
              </a:lnSpc>
              <a:spcBef>
                <a:spcPts val="8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Lonely seniors stay at home, no day centre or club; a village hall is free three days a week.</a:t>
            </a:r>
            <a:endParaRPr lang="en-US" sz="1300" dirty="0"/>
          </a:p>
        </p:txBody>
      </p:sp>
      <p:sp>
        <p:nvSpPr>
          <p:cNvPr id="6" name="Text 4"/>
          <p:cNvSpPr txBox="1"/>
          <p:nvPr/>
        </p:nvSpPr>
        <p:spPr>
          <a:xfrm>
            <a:off x="841248" y="4800600"/>
            <a:ext cx="2615184"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Place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Who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a social worker</a:t>
            </a:r>
            <a:endParaRPr lang="en-US" sz="1300" dirty="0"/>
          </a:p>
        </p:txBody>
      </p:sp>
      <p:sp>
        <p:nvSpPr>
          <p:cNvPr id="7" name="Shape 5"/>
          <p:cNvSpPr/>
          <p:nvPr/>
        </p:nvSpPr>
        <p:spPr>
          <a:xfrm>
            <a:off x="2971800" y="5705856"/>
            <a:ext cx="685800" cy="384048"/>
          </a:xfrm>
          <a:prstGeom prst="rightArrow">
            <a:avLst/>
          </a:prstGeom>
          <a:solidFill>
            <a:srgbClr val="1A4B8C"/>
          </a:solidFill>
          <a:ln w="12700">
            <a:solidFill>
              <a:srgbClr val="1A4B8C"/>
            </a:solidFill>
            <a:prstDash val="solid"/>
          </a:ln>
        </p:spPr>
      </p:sp>
      <p:sp>
        <p:nvSpPr>
          <p:cNvPr id="8" name="Text 6"/>
          <p:cNvSpPr txBox="1"/>
          <p:nvPr/>
        </p:nvSpPr>
        <p:spPr>
          <a:xfrm>
            <a:off x="640080" y="5577840"/>
            <a:ext cx="2194560" cy="64008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Every quote is checked against its entry. Generated text is labelled.</a:t>
            </a:r>
            <a:endParaRPr lang="en-US" sz="1200" dirty="0"/>
          </a:p>
        </p:txBody>
      </p:sp>
      <p:sp>
        <p:nvSpPr>
          <p:cNvPr id="9" name="Shape 7"/>
          <p:cNvSpPr/>
          <p:nvPr/>
        </p:nvSpPr>
        <p:spPr>
          <a:xfrm>
            <a:off x="3977640" y="1600200"/>
            <a:ext cx="292608" cy="292608"/>
          </a:xfrm>
          <a:prstGeom prst="ellipse">
            <a:avLst/>
          </a:prstGeom>
          <a:solidFill>
            <a:srgbClr val="FFFFFF"/>
          </a:solidFill>
          <a:ln w="19050">
            <a:solidFill>
              <a:srgbClr val="1A4B8C"/>
            </a:solidFill>
            <a:prstDash val="solid"/>
          </a:ln>
        </p:spPr>
      </p:sp>
      <p:sp>
        <p:nvSpPr>
          <p:cNvPr id="10" name="Text 8"/>
          <p:cNvSpPr txBox="1"/>
          <p:nvPr/>
        </p:nvSpPr>
        <p:spPr>
          <a:xfrm>
            <a:off x="3977640" y="160020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1" name="Text 9"/>
          <p:cNvSpPr txBox="1"/>
          <p:nvPr/>
        </p:nvSpPr>
        <p:spPr>
          <a:xfrm>
            <a:off x="4361688" y="160020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Solutions  </a:t>
            </a:r>
            <a:r>
              <a:rPr lang="en-US" sz="1100" dirty="0">
                <a:solidFill>
                  <a:srgbClr val="454D57"/>
                </a:solidFill>
                <a:latin typeface="Atkinson Hyperlegible Next" pitchFamily="34" charset="0"/>
                <a:ea typeface="Atkinson Hyperlegible Next" pitchFamily="34" charset="-122"/>
                <a:cs typeface="Atkinson Hyperlegible Next" pitchFamily="34" charset="-120"/>
              </a:rPr>
              <a:t>why each fits, what it takes</a:t>
            </a:r>
            <a:endParaRPr lang="en-US" sz="1400" dirty="0"/>
          </a:p>
        </p:txBody>
      </p:sp>
      <p:sp>
        <p:nvSpPr>
          <p:cNvPr id="12" name="Shape 10"/>
          <p:cNvSpPr/>
          <p:nvPr/>
        </p:nvSpPr>
        <p:spPr>
          <a:xfrm>
            <a:off x="3977640" y="198424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3" name="Image 0" descr="C:\Users\bobro\OneDrive\Developer\HackYeah2026\.local\presentation\source\img\b-solution.png"/>
          <p:cNvPicPr>
            <a:picLocks noChangeAspect="1"/>
          </p:cNvPicPr>
          <p:nvPr/>
        </p:nvPicPr>
        <p:blipFill>
          <a:blip r:embed="rId3"/>
          <a:stretch>
            <a:fillRect/>
          </a:stretch>
        </p:blipFill>
        <p:spPr>
          <a:xfrm>
            <a:off x="3977640" y="1984248"/>
            <a:ext cx="3672688" cy="1904921"/>
          </a:xfrm>
          <a:prstGeom prst="rect">
            <a:avLst/>
          </a:prstGeom>
        </p:spPr>
      </p:pic>
      <p:sp>
        <p:nvSpPr>
          <p:cNvPr id="14" name="Shape 11"/>
          <p:cNvSpPr/>
          <p:nvPr/>
        </p:nvSpPr>
        <p:spPr>
          <a:xfrm>
            <a:off x="3977640" y="1984248"/>
            <a:ext cx="3672688" cy="1904921"/>
          </a:xfrm>
          <a:prstGeom prst="rect">
            <a:avLst/>
          </a:prstGeom>
          <a:solidFill>
            <a:srgbClr val="FFFFFF">
              <a:alpha val="0"/>
            </a:srgbClr>
          </a:solidFill>
          <a:ln w="9525">
            <a:solidFill>
              <a:srgbClr val="C3CAD3"/>
            </a:solidFill>
            <a:prstDash val="solid"/>
          </a:ln>
        </p:spPr>
      </p:sp>
      <p:sp>
        <p:nvSpPr>
          <p:cNvPr id="15" name="Shape 12"/>
          <p:cNvSpPr/>
          <p:nvPr/>
        </p:nvSpPr>
        <p:spPr>
          <a:xfrm>
            <a:off x="7878928" y="1600200"/>
            <a:ext cx="292608" cy="292608"/>
          </a:xfrm>
          <a:prstGeom prst="ellipse">
            <a:avLst/>
          </a:prstGeom>
          <a:solidFill>
            <a:srgbClr val="FFFFFF"/>
          </a:solidFill>
          <a:ln w="19050">
            <a:solidFill>
              <a:srgbClr val="1A4B8C"/>
            </a:solidFill>
            <a:prstDash val="solid"/>
          </a:ln>
        </p:spPr>
      </p:sp>
      <p:sp>
        <p:nvSpPr>
          <p:cNvPr id="16" name="Text 13"/>
          <p:cNvSpPr txBox="1"/>
          <p:nvPr/>
        </p:nvSpPr>
        <p:spPr>
          <a:xfrm>
            <a:off x="7878928" y="160020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7" name="Text 14"/>
          <p:cNvSpPr txBox="1"/>
          <p:nvPr/>
        </p:nvSpPr>
        <p:spPr>
          <a:xfrm>
            <a:off x="8262976" y="160020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Knowledge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manuals and models to start</a:t>
            </a:r>
            <a:endParaRPr lang="en-US" sz="1400" dirty="0"/>
          </a:p>
        </p:txBody>
      </p:sp>
      <p:sp>
        <p:nvSpPr>
          <p:cNvPr id="18" name="Shape 15"/>
          <p:cNvSpPr/>
          <p:nvPr/>
        </p:nvSpPr>
        <p:spPr>
          <a:xfrm>
            <a:off x="7878928" y="198424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1" descr="C:\Users\bobro\OneDrive\Developer\HackYeah2026\.local\presentation\source\img\b-knowledge.png"/>
          <p:cNvPicPr>
            <a:picLocks noChangeAspect="1"/>
          </p:cNvPicPr>
          <p:nvPr/>
        </p:nvPicPr>
        <p:blipFill>
          <a:blip r:embed="rId4"/>
          <a:stretch>
            <a:fillRect/>
          </a:stretch>
        </p:blipFill>
        <p:spPr>
          <a:xfrm>
            <a:off x="7878928" y="1984248"/>
            <a:ext cx="3672688" cy="1904921"/>
          </a:xfrm>
          <a:prstGeom prst="rect">
            <a:avLst/>
          </a:prstGeom>
        </p:spPr>
      </p:pic>
      <p:sp>
        <p:nvSpPr>
          <p:cNvPr id="20" name="Shape 16"/>
          <p:cNvSpPr/>
          <p:nvPr/>
        </p:nvSpPr>
        <p:spPr>
          <a:xfrm>
            <a:off x="7878928" y="1984248"/>
            <a:ext cx="3672688" cy="1904921"/>
          </a:xfrm>
          <a:prstGeom prst="rect">
            <a:avLst/>
          </a:prstGeom>
          <a:solidFill>
            <a:srgbClr val="FFFFFF">
              <a:alpha val="0"/>
            </a:srgbClr>
          </a:solidFill>
          <a:ln w="9525">
            <a:solidFill>
              <a:srgbClr val="C3CAD3"/>
            </a:solidFill>
            <a:prstDash val="solid"/>
          </a:ln>
        </p:spPr>
      </p:sp>
      <p:sp>
        <p:nvSpPr>
          <p:cNvPr id="21" name="Shape 17"/>
          <p:cNvSpPr/>
          <p:nvPr/>
        </p:nvSpPr>
        <p:spPr>
          <a:xfrm>
            <a:off x="3977640" y="4099481"/>
            <a:ext cx="292608" cy="292608"/>
          </a:xfrm>
          <a:prstGeom prst="ellipse">
            <a:avLst/>
          </a:prstGeom>
          <a:solidFill>
            <a:srgbClr val="FFFFFF"/>
          </a:solidFill>
          <a:ln w="19050">
            <a:solidFill>
              <a:srgbClr val="1A4B8C"/>
            </a:solidFill>
            <a:prstDash val="solid"/>
          </a:ln>
        </p:spPr>
      </p:sp>
      <p:sp>
        <p:nvSpPr>
          <p:cNvPr id="22" name="Text 18"/>
          <p:cNvSpPr txBox="1"/>
          <p:nvPr/>
        </p:nvSpPr>
        <p:spPr>
          <a:xfrm>
            <a:off x="3977640" y="4099481"/>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3" name="Text 19"/>
          <p:cNvSpPr txBox="1"/>
          <p:nvPr/>
        </p:nvSpPr>
        <p:spPr>
          <a:xfrm>
            <a:off x="4361688" y="4099481"/>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People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authors, ROPS advisor, helpers</a:t>
            </a:r>
            <a:endParaRPr lang="en-US" sz="1400" dirty="0"/>
          </a:p>
        </p:txBody>
      </p:sp>
      <p:sp>
        <p:nvSpPr>
          <p:cNvPr id="24" name="Shape 20"/>
          <p:cNvSpPr/>
          <p:nvPr/>
        </p:nvSpPr>
        <p:spPr>
          <a:xfrm>
            <a:off x="3977640" y="4483529"/>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5" name="Image 2" descr="C:\Users\bobro\OneDrive\Developer\HackYeah2026\.local\presentation\source\img\b-people.png"/>
          <p:cNvPicPr>
            <a:picLocks noChangeAspect="1"/>
          </p:cNvPicPr>
          <p:nvPr/>
        </p:nvPicPr>
        <p:blipFill>
          <a:blip r:embed="rId5"/>
          <a:stretch>
            <a:fillRect/>
          </a:stretch>
        </p:blipFill>
        <p:spPr>
          <a:xfrm>
            <a:off x="3977640" y="4483529"/>
            <a:ext cx="3672688" cy="1904921"/>
          </a:xfrm>
          <a:prstGeom prst="rect">
            <a:avLst/>
          </a:prstGeom>
        </p:spPr>
      </p:pic>
      <p:sp>
        <p:nvSpPr>
          <p:cNvPr id="26" name="Shape 21"/>
          <p:cNvSpPr/>
          <p:nvPr/>
        </p:nvSpPr>
        <p:spPr>
          <a:xfrm>
            <a:off x="3977640" y="4483529"/>
            <a:ext cx="3672688" cy="1904921"/>
          </a:xfrm>
          <a:prstGeom prst="rect">
            <a:avLst/>
          </a:prstGeom>
          <a:solidFill>
            <a:srgbClr val="FFFFFF">
              <a:alpha val="0"/>
            </a:srgbClr>
          </a:solidFill>
          <a:ln w="9525">
            <a:solidFill>
              <a:srgbClr val="C3CAD3"/>
            </a:solidFill>
            <a:prstDash val="solid"/>
          </a:ln>
        </p:spPr>
      </p:sp>
      <p:sp>
        <p:nvSpPr>
          <p:cNvPr id="27" name="Shape 22"/>
          <p:cNvSpPr/>
          <p:nvPr/>
        </p:nvSpPr>
        <p:spPr>
          <a:xfrm>
            <a:off x="7878928" y="4099481"/>
            <a:ext cx="292608" cy="292608"/>
          </a:xfrm>
          <a:prstGeom prst="ellipse">
            <a:avLst/>
          </a:prstGeom>
          <a:solidFill>
            <a:srgbClr val="FFFFFF"/>
          </a:solidFill>
          <a:ln w="19050">
            <a:solidFill>
              <a:srgbClr val="1A4B8C"/>
            </a:solidFill>
            <a:prstDash val="solid"/>
          </a:ln>
        </p:spPr>
      </p:sp>
      <p:sp>
        <p:nvSpPr>
          <p:cNvPr id="28" name="Text 23"/>
          <p:cNvSpPr txBox="1"/>
          <p:nvPr/>
        </p:nvSpPr>
        <p:spPr>
          <a:xfrm>
            <a:off x="7878928" y="4099481"/>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29" name="Text 24"/>
          <p:cNvSpPr txBox="1"/>
          <p:nvPr/>
        </p:nvSpPr>
        <p:spPr>
          <a:xfrm>
            <a:off x="8262976" y="4099481"/>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Implementation path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funding and steps</a:t>
            </a:r>
            <a:endParaRPr lang="en-US" sz="1400" dirty="0"/>
          </a:p>
        </p:txBody>
      </p:sp>
      <p:sp>
        <p:nvSpPr>
          <p:cNvPr id="30" name="Shape 25"/>
          <p:cNvSpPr/>
          <p:nvPr/>
        </p:nvSpPr>
        <p:spPr>
          <a:xfrm>
            <a:off x="7878928" y="4483529"/>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1" name="Image 3" descr="C:\Users\bobro\OneDrive\Developer\HackYeah2026\.local\presentation\source\img\b-path.png"/>
          <p:cNvPicPr>
            <a:picLocks noChangeAspect="1"/>
          </p:cNvPicPr>
          <p:nvPr/>
        </p:nvPicPr>
        <p:blipFill>
          <a:blip r:embed="rId6"/>
          <a:stretch>
            <a:fillRect/>
          </a:stretch>
        </p:blipFill>
        <p:spPr>
          <a:xfrm>
            <a:off x="7878928" y="4483529"/>
            <a:ext cx="3672688" cy="1904921"/>
          </a:xfrm>
          <a:prstGeom prst="rect">
            <a:avLst/>
          </a:prstGeom>
        </p:spPr>
      </p:pic>
      <p:sp>
        <p:nvSpPr>
          <p:cNvPr id="32" name="Shape 26"/>
          <p:cNvSpPr/>
          <p:nvPr/>
        </p:nvSpPr>
        <p:spPr>
          <a:xfrm>
            <a:off x="7878928" y="4483529"/>
            <a:ext cx="3672688" cy="1904921"/>
          </a:xfrm>
          <a:prstGeom prst="rect">
            <a:avLst/>
          </a:prstGeom>
          <a:solidFill>
            <a:srgbClr val="FFFFFF">
              <a:alpha val="0"/>
            </a:srgbClr>
          </a:solidFill>
          <a:ln w="9525">
            <a:solidFill>
              <a:srgbClr val="C3CAD3"/>
            </a:solidFill>
            <a:prstDash val="solid"/>
          </a:ln>
        </p:spPr>
      </p:sp>
      <p:sp>
        <p:nvSpPr>
          <p:cNvPr id="33" name="Text 27"/>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Not a search engine, not a chatbot over documents</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Retrieval is one step of five. A route comes from curated data, rules and people, not from a generated answer.</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187452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4922215">
                  <a:extLst>
                    <a:ext uri="{9D8B030D-6E8A-4147-A177-3AD203B41FA5}">
                      <a16:colId xmlns:a16="http://schemas.microsoft.com/office/drawing/2014/main" val="20003"/>
                    </a:ext>
                  </a:extLst>
                </a:gridCol>
              </a:tblGrid>
              <a:tr h="457200">
                <a:tc>
                  <a:txBody>
                    <a:bodyPr/>
                    <a:lstStyle/>
                    <a:p>
                      <a:pPr marL="0" indent="0">
                        <a:buNone/>
                      </a:pP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Web search</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Chatbot with RAG</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3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What you get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list of links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fluent paragraph</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route: up to three proven solutions, knowledge, people, a funding path and three next steps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When nothing fits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Still a list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Still an answer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It says so: below a fit of 45 out of 100 there is no route, and the need goes to the needs bank and the incubator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Amounts, deadlines, legal basis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Whatever the pages say</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Written by the model from what it retrieved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From a curated table of 30 funding and legal paths, each with its source; the model never sees an amount</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The place</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keyword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A keyword</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GUS indicators of the gmina, implementers within 50 km, a map of where a solution is missing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The model's role</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Ranks pages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Writes the answer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Selects and explains; code checks every identifier and every quote and decides whether the fit is good enough</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5"/>
                  </a:ext>
                </a:extLst>
              </a:tr>
              <a:tr h="658368">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Before and after</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Before: a screening gate, and a person in crisis gets human help. After: ROPS relays contacts and turns needs into call topics</a:t>
                      </a:r>
                      <a:endParaRPr lang="en-US" sz="1200" dirty="0">
                        <a:latin typeface="Atkinson Hyperlegible Next" charset="0"/>
                        <a:ea typeface="Atkinson Hyperlegible Next" charset="0"/>
                        <a:cs typeface="Atkinson Hyperlegible Next" charset="0"/>
                      </a:endParaRPr>
                    </a:p>
                  </a:txBody>
                  <a:tcPr marL="101600" marR="101600" marT="63500" marB="635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6"/>
                  </a:ext>
                </a:extLst>
              </a:tr>
            </a:tbl>
          </a:graphicData>
        </a:graphic>
      </p:graphicFrame>
      <p:sp>
        <p:nvSpPr>
          <p:cNvPr id="4" name="Text 1"/>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When nothing fits, it says so and drafts the incubator's next topic</a:t>
            </a:r>
            <a:endParaRPr lang="en-US" sz="3200" dirty="0"/>
          </a:p>
        </p:txBody>
      </p:sp>
      <p:sp>
        <p:nvSpPr>
          <p:cNvPr id="3" name="Shape 1"/>
          <p:cNvSpPr/>
          <p:nvPr/>
        </p:nvSpPr>
        <p:spPr>
          <a:xfrm>
            <a:off x="640080" y="1645920"/>
            <a:ext cx="292608" cy="292608"/>
          </a:xfrm>
          <a:prstGeom prst="ellipse">
            <a:avLst/>
          </a:prstGeom>
          <a:solidFill>
            <a:srgbClr val="FFFFFF"/>
          </a:solidFill>
          <a:ln w="19050">
            <a:solidFill>
              <a:srgbClr val="1A4B8C"/>
            </a:solidFill>
            <a:prstDash val="solid"/>
          </a:ln>
        </p:spPr>
      </p:sp>
      <p:sp>
        <p:nvSpPr>
          <p:cNvPr id="4" name="Text 2"/>
          <p:cNvSpPr txBox="1"/>
          <p:nvPr/>
        </p:nvSpPr>
        <p:spPr>
          <a:xfrm>
            <a:off x="640080"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5" name="Text 3"/>
          <p:cNvSpPr txBox="1"/>
          <p:nvPr/>
        </p:nvSpPr>
        <p:spPr>
          <a:xfrm>
            <a:off x="1024128"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No proven match</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Said out loud, never padded with weak results</a:t>
            </a:r>
            <a:endParaRPr lang="en-US" sz="1400" dirty="0"/>
          </a:p>
        </p:txBody>
      </p:sp>
      <p:sp>
        <p:nvSpPr>
          <p:cNvPr id="6" name="Shape 4"/>
          <p:cNvSpPr/>
          <p:nvPr/>
        </p:nvSpPr>
        <p:spPr>
          <a:xfrm>
            <a:off x="640080"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7" name="Image 0" descr="C:\Users\bobro\OneDrive\Developer\HackYeah2026\.local\presentation\source\img\no-match.png"/>
          <p:cNvPicPr>
            <a:picLocks noChangeAspect="1"/>
          </p:cNvPicPr>
          <p:nvPr/>
        </p:nvPicPr>
        <p:blipFill>
          <a:blip r:embed="rId3"/>
          <a:stretch>
            <a:fillRect/>
          </a:stretch>
        </p:blipFill>
        <p:spPr>
          <a:xfrm>
            <a:off x="640080" y="2331720"/>
            <a:ext cx="3401568" cy="3231490"/>
          </a:xfrm>
          <a:prstGeom prst="rect">
            <a:avLst/>
          </a:prstGeom>
        </p:spPr>
      </p:pic>
      <p:sp>
        <p:nvSpPr>
          <p:cNvPr id="8" name="Shape 5"/>
          <p:cNvSpPr/>
          <p:nvPr/>
        </p:nvSpPr>
        <p:spPr>
          <a:xfrm>
            <a:off x="640080" y="2331720"/>
            <a:ext cx="3401568" cy="3231490"/>
          </a:xfrm>
          <a:prstGeom prst="rect">
            <a:avLst/>
          </a:prstGeom>
          <a:solidFill>
            <a:srgbClr val="FFFFFF">
              <a:alpha val="0"/>
            </a:srgbClr>
          </a:solidFill>
          <a:ln w="9525">
            <a:solidFill>
              <a:srgbClr val="C3CAD3"/>
            </a:solidFill>
            <a:prstDash val="solid"/>
          </a:ln>
        </p:spPr>
      </p:sp>
      <p:sp>
        <p:nvSpPr>
          <p:cNvPr id="9" name="Shape 6"/>
          <p:cNvSpPr/>
          <p:nvPr/>
        </p:nvSpPr>
        <p:spPr>
          <a:xfrm>
            <a:off x="4498848" y="1645920"/>
            <a:ext cx="292608" cy="292608"/>
          </a:xfrm>
          <a:prstGeom prst="ellipse">
            <a:avLst/>
          </a:prstGeom>
          <a:solidFill>
            <a:srgbClr val="FFFFFF"/>
          </a:solidFill>
          <a:ln w="19050">
            <a:solidFill>
              <a:srgbClr val="1A4B8C"/>
            </a:solidFill>
            <a:prstDash val="solid"/>
          </a:ln>
        </p:spPr>
      </p:sp>
      <p:sp>
        <p:nvSpPr>
          <p:cNvPr id="10" name="Text 7"/>
          <p:cNvSpPr txBox="1"/>
          <p:nvPr/>
        </p:nvSpPr>
        <p:spPr>
          <a:xfrm>
            <a:off x="4498848"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1" name="Text 8"/>
          <p:cNvSpPr txBox="1"/>
          <p:nvPr/>
        </p:nvSpPr>
        <p:spPr>
          <a:xfrm>
            <a:off x="4882896"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Needs bank → incubator brief</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ROPS merges similar needs into a call topic</a:t>
            </a:r>
            <a:endParaRPr lang="en-US" sz="1400" dirty="0"/>
          </a:p>
        </p:txBody>
      </p:sp>
      <p:sp>
        <p:nvSpPr>
          <p:cNvPr id="12" name="Shape 9"/>
          <p:cNvSpPr/>
          <p:nvPr/>
        </p:nvSpPr>
        <p:spPr>
          <a:xfrm>
            <a:off x="4498848"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3" name="Image 1" descr="C:\Users\bobro\OneDrive\Developer\HackYeah2026\.local\presentation\source\img\brief.png"/>
          <p:cNvPicPr>
            <a:picLocks noChangeAspect="1"/>
          </p:cNvPicPr>
          <p:nvPr/>
        </p:nvPicPr>
        <p:blipFill>
          <a:blip r:embed="rId4"/>
          <a:stretch>
            <a:fillRect/>
          </a:stretch>
        </p:blipFill>
        <p:spPr>
          <a:xfrm>
            <a:off x="4498848" y="2331720"/>
            <a:ext cx="3401568" cy="3231490"/>
          </a:xfrm>
          <a:prstGeom prst="rect">
            <a:avLst/>
          </a:prstGeom>
        </p:spPr>
      </p:pic>
      <p:sp>
        <p:nvSpPr>
          <p:cNvPr id="14" name="Shape 10"/>
          <p:cNvSpPr/>
          <p:nvPr/>
        </p:nvSpPr>
        <p:spPr>
          <a:xfrm>
            <a:off x="4498848" y="2331720"/>
            <a:ext cx="3401568" cy="3231490"/>
          </a:xfrm>
          <a:prstGeom prst="rect">
            <a:avLst/>
          </a:prstGeom>
          <a:solidFill>
            <a:srgbClr val="FFFFFF">
              <a:alpha val="0"/>
            </a:srgbClr>
          </a:solidFill>
          <a:ln w="9525">
            <a:solidFill>
              <a:srgbClr val="C3CAD3"/>
            </a:solidFill>
            <a:prstDash val="solid"/>
          </a:ln>
        </p:spPr>
      </p:sp>
      <p:sp>
        <p:nvSpPr>
          <p:cNvPr id="15" name="Shape 11"/>
          <p:cNvSpPr/>
          <p:nvPr/>
        </p:nvSpPr>
        <p:spPr>
          <a:xfrm>
            <a:off x="8150047" y="1645920"/>
            <a:ext cx="292608" cy="292608"/>
          </a:xfrm>
          <a:prstGeom prst="ellipse">
            <a:avLst/>
          </a:prstGeom>
          <a:solidFill>
            <a:srgbClr val="FFFFFF"/>
          </a:solidFill>
          <a:ln w="19050">
            <a:solidFill>
              <a:srgbClr val="1A4B8C"/>
            </a:solidFill>
            <a:prstDash val="solid"/>
          </a:ln>
        </p:spPr>
      </p:sp>
      <p:sp>
        <p:nvSpPr>
          <p:cNvPr id="16" name="Text 12"/>
          <p:cNvSpPr txBox="1"/>
          <p:nvPr/>
        </p:nvSpPr>
        <p:spPr>
          <a:xfrm>
            <a:off x="8150047" y="164592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17" name="Text 13"/>
          <p:cNvSpPr txBox="1"/>
          <p:nvPr/>
        </p:nvSpPr>
        <p:spPr>
          <a:xfrm>
            <a:off x="8534095" y="1618488"/>
            <a:ext cx="3017520" cy="548640"/>
          </a:xfrm>
          <a:prstGeom prst="rect">
            <a:avLst/>
          </a:prstGeom>
          <a:noFill/>
          <a:ln/>
        </p:spPr>
        <p:txBody>
          <a:bodyPr wrap="square" lIns="0" tIns="0" rIns="0" bIns="0" rtlCol="0" anchor="t"/>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Where it is needed most</a:t>
            </a:r>
            <a:endParaRPr lang="en-US" sz="14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Gminas with high need and no implementation</a:t>
            </a:r>
            <a:endParaRPr lang="en-US" sz="1400" dirty="0"/>
          </a:p>
        </p:txBody>
      </p:sp>
      <p:sp>
        <p:nvSpPr>
          <p:cNvPr id="18" name="Shape 14"/>
          <p:cNvSpPr/>
          <p:nvPr/>
        </p:nvSpPr>
        <p:spPr>
          <a:xfrm>
            <a:off x="8150047" y="2331720"/>
            <a:ext cx="3401568" cy="323149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2" descr="C:\Users\bobro\OneDrive\Developer\HackYeah2026\.local\presentation\source\img\map.png"/>
          <p:cNvPicPr>
            <a:picLocks noChangeAspect="1"/>
          </p:cNvPicPr>
          <p:nvPr/>
        </p:nvPicPr>
        <p:blipFill>
          <a:blip r:embed="rId5"/>
          <a:stretch>
            <a:fillRect/>
          </a:stretch>
        </p:blipFill>
        <p:spPr>
          <a:xfrm>
            <a:off x="8150047" y="2331720"/>
            <a:ext cx="3401568" cy="3231490"/>
          </a:xfrm>
          <a:prstGeom prst="rect">
            <a:avLst/>
          </a:prstGeom>
        </p:spPr>
      </p:pic>
      <p:sp>
        <p:nvSpPr>
          <p:cNvPr id="20" name="Shape 15"/>
          <p:cNvSpPr/>
          <p:nvPr/>
        </p:nvSpPr>
        <p:spPr>
          <a:xfrm>
            <a:off x="8150047" y="2331720"/>
            <a:ext cx="3401568" cy="3231490"/>
          </a:xfrm>
          <a:prstGeom prst="rect">
            <a:avLst/>
          </a:prstGeom>
          <a:solidFill>
            <a:srgbClr val="FFFFFF">
              <a:alpha val="0"/>
            </a:srgbClr>
          </a:solidFill>
          <a:ln w="9525">
            <a:solidFill>
              <a:srgbClr val="C3CAD3"/>
            </a:solidFill>
            <a:prstDash val="solid"/>
          </a:ln>
        </p:spPr>
      </p:sp>
      <p:sp>
        <p:nvSpPr>
          <p:cNvPr id="21" name="Shape 16"/>
          <p:cNvSpPr/>
          <p:nvPr/>
        </p:nvSpPr>
        <p:spPr>
          <a:xfrm>
            <a:off x="4105656" y="3749040"/>
            <a:ext cx="329184" cy="329184"/>
          </a:xfrm>
          <a:prstGeom prst="rightArrow">
            <a:avLst/>
          </a:prstGeom>
          <a:solidFill>
            <a:srgbClr val="1A4B8C"/>
          </a:solidFill>
          <a:ln w="12700">
            <a:solidFill>
              <a:srgbClr val="1A4B8C"/>
            </a:solidFill>
            <a:prstDash val="solid"/>
          </a:ln>
        </p:spPr>
      </p:sp>
      <p:sp>
        <p:nvSpPr>
          <p:cNvPr id="22" name="Text 17"/>
          <p:cNvSpPr txBox="1"/>
          <p:nvPr/>
        </p:nvSpPr>
        <p:spPr>
          <a:xfrm>
            <a:off x="640080" y="5852160"/>
            <a:ext cx="10911535"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1: a live result for dried-up wells in gmina Dobra, summer 2026. 2: the same need saved to the needs bank, as the brief for the incubator.</a:t>
            </a:r>
            <a:endParaRPr lang="en-US" sz="1100" dirty="0"/>
          </a:p>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3: where the seniors' solution of slide 3 is needed most.</a:t>
            </a:r>
            <a:endParaRPr lang="en-US" sz="1100" dirty="0"/>
          </a:p>
        </p:txBody>
      </p:sp>
      <p:sp>
        <p:nvSpPr>
          <p:cNvPr id="23" name="Text 1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Empathy before technology</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The screening gate comes first. The model selects and explains; people decide.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Screening gate</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rules first, then the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Retrieval</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nearest of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Rerank and reasons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the Polish open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Composer</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knowledge, people, paths, next steps</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1A4B8C"/>
          </a:solidFill>
          <a:ln w="12700">
            <a:solidFill>
              <a:srgbClr val="1A4B8C"/>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5  ROPS console</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a person moderates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Both models chosen by measurement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before the hackathon</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 against 4 other language models, PolDense against 5 other embedding models.</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What a person in crisis sees instead of a route</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A person in crisis gets a person</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Signs of a crisis lead to verified helplines and the local social assistance centre, never to innovations, and nothing is stored. A request meant to exclude or demean is declined, with a reason and a way to appeal.</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Nothing invented</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Solutions, organisations and people come only from the catalogues; amounts, deadlines and legal bases only from the curated paths. Every identifier and quote is checked, and generated text is labelled.</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People stay in the loop</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Nothing reaches a real person without a ROPS moderator. PESEL numbers, phone numbers and addresses are removed before storage and before any prompt. The tool decides nothing about an individual.</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A service ROPS can run from Monday</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Not only software: who runs it, how it feeds the incubator, how the entries stay alive</a:t>
            </a:r>
            <a:endParaRPr lang="en-US" sz="3200" dirty="0"/>
          </a:p>
        </p:txBody>
      </p:sp>
      <p:sp>
        <p:nvSpPr>
          <p:cNvPr id="3" name="Text 1"/>
          <p:cNvSpPr txBox="1"/>
          <p:nvPr/>
        </p:nvSpPr>
        <p:spPr>
          <a:xfrm>
            <a:off x="640080" y="1691640"/>
            <a:ext cx="5989320"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Three roles in the ROPS Social Innovation Unit</a:t>
            </a:r>
            <a:endParaRPr lang="en-US" sz="1600" dirty="0"/>
          </a:p>
        </p:txBody>
      </p:sp>
      <p:sp>
        <p:nvSpPr>
          <p:cNvPr id="4" name="Text 2"/>
          <p:cNvSpPr txBox="1"/>
          <p:nvPr/>
        </p:nvSpPr>
        <p:spPr>
          <a:xfrm>
            <a:off x="640080" y="2103120"/>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Category advisor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the named person on every route; receives the contact requests</a:t>
            </a:r>
            <a:endParaRPr lang="en-US" sz="1300" dirty="0"/>
          </a:p>
        </p:txBody>
      </p:sp>
      <p:sp>
        <p:nvSpPr>
          <p:cNvPr id="5" name="Text 3"/>
          <p:cNvSpPr txBox="1"/>
          <p:nvPr/>
        </p:nvSpPr>
        <p:spPr>
          <a:xfrm>
            <a:off x="640080" y="2578608"/>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Catalogue editor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keeps entries true, checks in with innovators yearly, records new implementations</a:t>
            </a:r>
            <a:endParaRPr lang="en-US" sz="1300" dirty="0"/>
          </a:p>
        </p:txBody>
      </p:sp>
      <p:sp>
        <p:nvSpPr>
          <p:cNvPr id="6" name="Text 4"/>
          <p:cNvSpPr txBox="1"/>
          <p:nvPr/>
        </p:nvSpPr>
        <p:spPr>
          <a:xfrm>
            <a:off x="640080" y="3054096"/>
            <a:ext cx="5989320" cy="438912"/>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Needs-bank coordinator  </a:t>
            </a:r>
            <a:r>
              <a:rPr lang="en-US" sz="1300" dirty="0">
                <a:solidFill>
                  <a:srgbClr val="454D57"/>
                </a:solidFill>
                <a:latin typeface="Atkinson Hyperlegible Next" pitchFamily="34" charset="0"/>
                <a:ea typeface="Atkinson Hyperlegible Next" pitchFamily="34" charset="-122"/>
                <a:cs typeface="Atkinson Hyperlegible Next" pitchFamily="34" charset="-120"/>
              </a:rPr>
              <a:t>reviews needs weekly, merges them, turns clusters into call topics</a:t>
            </a:r>
            <a:endParaRPr lang="en-US" sz="1300" dirty="0"/>
          </a:p>
        </p:txBody>
      </p:sp>
      <p:sp>
        <p:nvSpPr>
          <p:cNvPr id="7" name="Text 5"/>
          <p:cNvSpPr txBox="1"/>
          <p:nvPr/>
        </p:nvSpPr>
        <p:spPr>
          <a:xfrm>
            <a:off x="640080" y="3703320"/>
            <a:ext cx="5989320"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Three loops the tool closes</a:t>
            </a:r>
            <a:endParaRPr lang="en-US" sz="1600" dirty="0"/>
          </a:p>
        </p:txBody>
      </p:sp>
      <p:sp>
        <p:nvSpPr>
          <p:cNvPr id="8" name="Shape 6"/>
          <p:cNvSpPr/>
          <p:nvPr/>
        </p:nvSpPr>
        <p:spPr>
          <a:xfrm>
            <a:off x="640080" y="4178808"/>
            <a:ext cx="292608" cy="292608"/>
          </a:xfrm>
          <a:prstGeom prst="ellipse">
            <a:avLst/>
          </a:prstGeom>
          <a:solidFill>
            <a:srgbClr val="FFFFFF"/>
          </a:solidFill>
          <a:ln w="19050">
            <a:solidFill>
              <a:srgbClr val="1A4B8C"/>
            </a:solidFill>
            <a:prstDash val="solid"/>
          </a:ln>
        </p:spPr>
      </p:sp>
      <p:sp>
        <p:nvSpPr>
          <p:cNvPr id="9" name="Text 7"/>
          <p:cNvSpPr txBox="1"/>
          <p:nvPr/>
        </p:nvSpPr>
        <p:spPr>
          <a:xfrm>
            <a:off x="640080" y="417880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0" name="Text 8"/>
          <p:cNvSpPr txBox="1"/>
          <p:nvPr/>
        </p:nvSpPr>
        <p:spPr>
          <a:xfrm>
            <a:off x="1051560" y="4114800"/>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route</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contact</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new implementation</a:t>
            </a:r>
            <a:endParaRPr lang="en-US" sz="1300" dirty="0"/>
          </a:p>
        </p:txBody>
      </p:sp>
      <p:sp>
        <p:nvSpPr>
          <p:cNvPr id="11" name="Shape 9"/>
          <p:cNvSpPr/>
          <p:nvPr/>
        </p:nvSpPr>
        <p:spPr>
          <a:xfrm>
            <a:off x="640080" y="4654296"/>
            <a:ext cx="292608" cy="292608"/>
          </a:xfrm>
          <a:prstGeom prst="ellipse">
            <a:avLst/>
          </a:prstGeom>
          <a:solidFill>
            <a:srgbClr val="FFFFFF"/>
          </a:solidFill>
          <a:ln w="19050">
            <a:solidFill>
              <a:srgbClr val="1A4B8C"/>
            </a:solidFill>
            <a:prstDash val="solid"/>
          </a:ln>
        </p:spPr>
      </p:sp>
      <p:sp>
        <p:nvSpPr>
          <p:cNvPr id="12" name="Text 10"/>
          <p:cNvSpPr txBox="1"/>
          <p:nvPr/>
        </p:nvSpPr>
        <p:spPr>
          <a:xfrm>
            <a:off x="640080" y="465429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13" name="Text 11"/>
          <p:cNvSpPr txBox="1"/>
          <p:nvPr/>
        </p:nvSpPr>
        <p:spPr>
          <a:xfrm>
            <a:off x="1051560" y="4590288"/>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no match</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needs bank</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call topic</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new innovation</a:t>
            </a:r>
            <a:endParaRPr lang="en-US" sz="1300" dirty="0"/>
          </a:p>
        </p:txBody>
      </p:sp>
      <p:sp>
        <p:nvSpPr>
          <p:cNvPr id="14" name="Shape 12"/>
          <p:cNvSpPr/>
          <p:nvPr/>
        </p:nvSpPr>
        <p:spPr>
          <a:xfrm>
            <a:off x="640080" y="5129784"/>
            <a:ext cx="292608" cy="292608"/>
          </a:xfrm>
          <a:prstGeom prst="ellipse">
            <a:avLst/>
          </a:prstGeom>
          <a:solidFill>
            <a:srgbClr val="FFFFFF"/>
          </a:solidFill>
          <a:ln w="19050">
            <a:solidFill>
              <a:srgbClr val="1A4B8C"/>
            </a:solidFill>
            <a:prstDash val="solid"/>
          </a:ln>
        </p:spPr>
      </p:sp>
      <p:sp>
        <p:nvSpPr>
          <p:cNvPr id="15" name="Text 13"/>
          <p:cNvSpPr txBox="1"/>
          <p:nvPr/>
        </p:nvSpPr>
        <p:spPr>
          <a:xfrm>
            <a:off x="640080" y="5129784"/>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16" name="Text 14"/>
          <p:cNvSpPr txBox="1"/>
          <p:nvPr/>
        </p:nvSpPr>
        <p:spPr>
          <a:xfrm>
            <a:off x="1051560" y="5065776"/>
            <a:ext cx="5577840" cy="420624"/>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Innovation</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dirty="0">
                <a:solidFill>
                  <a:srgbClr val="14171A"/>
                </a:solidFill>
                <a:latin typeface="Atkinson Hyperlegible Next" pitchFamily="34" charset="0"/>
                <a:ea typeface="Atkinson Hyperlegible Next" pitchFamily="34" charset="-122"/>
                <a:cs typeface="Atkinson Hyperlegible Next" pitchFamily="34" charset="-120"/>
              </a:rPr>
              <a:t>map of need</a:t>
            </a:r>
            <a:r>
              <a:rPr lang="en-US" sz="130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grants where it is absent</a:t>
            </a:r>
            <a:endParaRPr lang="en-US" sz="1300" dirty="0"/>
          </a:p>
        </p:txBody>
      </p:sp>
      <p:sp>
        <p:nvSpPr>
          <p:cNvPr id="17" name="Shape 15"/>
          <p:cNvSpPr/>
          <p:nvPr/>
        </p:nvSpPr>
        <p:spPr>
          <a:xfrm>
            <a:off x="640080" y="5669280"/>
            <a:ext cx="5989320" cy="658368"/>
          </a:xfrm>
          <a:prstGeom prst="roundRect">
            <a:avLst>
              <a:gd name="adj" fmla="val 13889"/>
            </a:avLst>
          </a:prstGeom>
          <a:solidFill>
            <a:srgbClr val="F3F5F8"/>
          </a:solidFill>
          <a:ln w="12700">
            <a:solidFill>
              <a:srgbClr val="F3F5F8"/>
            </a:solidFill>
            <a:prstDash val="solid"/>
          </a:ln>
        </p:spPr>
      </p:sp>
      <p:sp>
        <p:nvSpPr>
          <p:cNvPr id="18" name="Text 16"/>
          <p:cNvSpPr txBox="1"/>
          <p:nvPr/>
        </p:nvSpPr>
        <p:spPr>
          <a:xfrm>
            <a:off x="822960" y="5669280"/>
            <a:ext cx="5623560" cy="658368"/>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Counted from day one:  </a:t>
            </a:r>
            <a:r>
              <a:rPr lang="en-US" sz="1200" dirty="0">
                <a:solidFill>
                  <a:srgbClr val="14171A"/>
                </a:solidFill>
                <a:latin typeface="Atkinson Hyperlegible Next" pitchFamily="34" charset="0"/>
                <a:ea typeface="Atkinson Hyperlegible Next" pitchFamily="34" charset="-122"/>
                <a:cs typeface="Atkinson Hyperlegible Next" pitchFamily="34" charset="-120"/>
              </a:rPr>
              <a:t>routes, contact requests, needs filed, needs turned into call topics, new implementations.</a:t>
            </a:r>
            <a:endParaRPr lang="en-US" sz="1200" dirty="0"/>
          </a:p>
        </p:txBody>
      </p:sp>
      <p:sp>
        <p:nvSpPr>
          <p:cNvPr id="19" name="Shape 17"/>
          <p:cNvSpPr/>
          <p:nvPr/>
        </p:nvSpPr>
        <p:spPr>
          <a:xfrm>
            <a:off x="7086600" y="1691640"/>
            <a:ext cx="4465015" cy="2970032"/>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console-top.png"/>
          <p:cNvPicPr>
            <a:picLocks noChangeAspect="1"/>
          </p:cNvPicPr>
          <p:nvPr/>
        </p:nvPicPr>
        <p:blipFill>
          <a:blip r:embed="rId3"/>
          <a:stretch>
            <a:fillRect/>
          </a:stretch>
        </p:blipFill>
        <p:spPr>
          <a:xfrm>
            <a:off x="7086600" y="1691640"/>
            <a:ext cx="4465015" cy="2970032"/>
          </a:xfrm>
          <a:prstGeom prst="rect">
            <a:avLst/>
          </a:prstGeom>
        </p:spPr>
      </p:pic>
      <p:sp>
        <p:nvSpPr>
          <p:cNvPr id="21" name="Shape 18"/>
          <p:cNvSpPr/>
          <p:nvPr/>
        </p:nvSpPr>
        <p:spPr>
          <a:xfrm>
            <a:off x="7086600" y="1691640"/>
            <a:ext cx="4465015" cy="2970032"/>
          </a:xfrm>
          <a:prstGeom prst="rect">
            <a:avLst/>
          </a:prstGeom>
          <a:solidFill>
            <a:srgbClr val="FFFFFF">
              <a:alpha val="0"/>
            </a:srgbClr>
          </a:solidFill>
          <a:ln w="9525">
            <a:solidFill>
              <a:srgbClr val="C3CAD3"/>
            </a:solidFill>
            <a:prstDash val="solid"/>
          </a:ln>
        </p:spPr>
      </p:sp>
      <p:sp>
        <p:nvSpPr>
          <p:cNvPr id="22" name="Text 19"/>
          <p:cNvSpPr txBox="1"/>
          <p:nvPr/>
        </p:nvSpPr>
        <p:spPr>
          <a:xfrm>
            <a:off x="7086600" y="4753112"/>
            <a:ext cx="4465015"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The ROPS console: every decision waits for a person and is logged.</a:t>
            </a:r>
            <a:endParaRPr lang="en-US" sz="1100" dirty="0"/>
          </a:p>
        </p:txBody>
      </p:sp>
      <p:sp>
        <p:nvSpPr>
          <p:cNvPr id="23" name="Shape 20"/>
          <p:cNvSpPr/>
          <p:nvPr/>
        </p:nvSpPr>
        <p:spPr>
          <a:xfrm>
            <a:off x="7086600" y="5120640"/>
            <a:ext cx="4465015" cy="1207008"/>
          </a:xfrm>
          <a:prstGeom prst="roundRect">
            <a:avLst>
              <a:gd name="adj" fmla="val 7576"/>
            </a:avLst>
          </a:prstGeom>
          <a:solidFill>
            <a:srgbClr val="EEF4FB"/>
          </a:solidFill>
          <a:ln w="12700">
            <a:solidFill>
              <a:srgbClr val="EEF4FB"/>
            </a:solidFill>
            <a:prstDash val="solid"/>
          </a:ln>
        </p:spPr>
      </p:sp>
      <p:sp>
        <p:nvSpPr>
          <p:cNvPr id="24" name="Text 21"/>
          <p:cNvSpPr txBox="1"/>
          <p:nvPr/>
        </p:nvSpPr>
        <p:spPr>
          <a:xfrm>
            <a:off x="7269480" y="5212080"/>
            <a:ext cx="409925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About $55 a month, plus $8 per 1 000 routes</a:t>
            </a:r>
            <a:endParaRPr lang="en-US" sz="1300" dirty="0"/>
          </a:p>
        </p:txBody>
      </p:sp>
      <p:sp>
        <p:nvSpPr>
          <p:cNvPr id="25" name="Text 22"/>
          <p:cNvSpPr txBox="1"/>
          <p:nvPr/>
        </p:nvSpPr>
        <p:spPr>
          <a:xfrm>
            <a:off x="7269480" y="550468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Server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app + Polish embedding model, 4 GB</a:t>
            </a:r>
            <a:endParaRPr lang="en-US" sz="1050" dirty="0"/>
          </a:p>
        </p:txBody>
      </p:sp>
      <p:sp>
        <p:nvSpPr>
          <p:cNvPr id="26" name="Text 23"/>
          <p:cNvSpPr txBox="1"/>
          <p:nvPr/>
        </p:nvSpPr>
        <p:spPr>
          <a:xfrm>
            <a:off x="10408615" y="550468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 month</a:t>
            </a:r>
            <a:endParaRPr lang="en-US" sz="1050" dirty="0"/>
          </a:p>
        </p:txBody>
      </p:sp>
      <p:sp>
        <p:nvSpPr>
          <p:cNvPr id="27" name="Text 24"/>
          <p:cNvSpPr txBox="1"/>
          <p:nvPr/>
        </p:nvSpPr>
        <p:spPr>
          <a:xfrm>
            <a:off x="7269480" y="568756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Database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28" name="Text 25"/>
          <p:cNvSpPr txBox="1"/>
          <p:nvPr/>
        </p:nvSpPr>
        <p:spPr>
          <a:xfrm>
            <a:off x="10408615" y="568756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 month</a:t>
            </a:r>
            <a:endParaRPr lang="en-US" sz="1050" dirty="0"/>
          </a:p>
        </p:txBody>
      </p:sp>
      <p:sp>
        <p:nvSpPr>
          <p:cNvPr id="29" name="Text 26"/>
          <p:cNvSpPr txBox="1"/>
          <p:nvPr/>
        </p:nvSpPr>
        <p:spPr>
          <a:xfrm>
            <a:off x="7269480" y="587044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Model call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on Hugging Face, ~5k tokens</a:t>
            </a:r>
            <a:endParaRPr lang="en-US" sz="1050" dirty="0"/>
          </a:p>
        </p:txBody>
      </p:sp>
      <p:sp>
        <p:nvSpPr>
          <p:cNvPr id="30" name="Text 27"/>
          <p:cNvSpPr txBox="1"/>
          <p:nvPr/>
        </p:nvSpPr>
        <p:spPr>
          <a:xfrm>
            <a:off x="10408615" y="587044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a:t>
            </a:r>
            <a:endParaRPr lang="en-US" sz="1050" dirty="0"/>
          </a:p>
        </p:txBody>
      </p:sp>
      <p:sp>
        <p:nvSpPr>
          <p:cNvPr id="31" name="Text 28"/>
          <p:cNvSpPr txBox="1"/>
          <p:nvPr/>
        </p:nvSpPr>
        <p:spPr>
          <a:xfrm>
            <a:off x="7269480" y="6053328"/>
            <a:ext cx="3184855" cy="182880"/>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Route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calls, ~21k tokens</a:t>
            </a:r>
            <a:endParaRPr lang="en-US" sz="1050" dirty="0"/>
          </a:p>
        </p:txBody>
      </p:sp>
      <p:sp>
        <p:nvSpPr>
          <p:cNvPr id="32" name="Text 29"/>
          <p:cNvSpPr txBox="1"/>
          <p:nvPr/>
        </p:nvSpPr>
        <p:spPr>
          <a:xfrm>
            <a:off x="10408615" y="6053328"/>
            <a:ext cx="960120" cy="182880"/>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a:t>
            </a:r>
            <a:endParaRPr lang="en-US" sz="1050" dirty="0"/>
          </a:p>
        </p:txBody>
      </p:sp>
      <p:sp>
        <p:nvSpPr>
          <p:cNvPr id="33"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Next: pupils' hands for local needs, with DoBro</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Roadmap, not built yet: needs become tasks for school volunteers, with a HackYeah 2025 winner</a:t>
            </a:r>
            <a:endParaRPr lang="en-US" sz="3200" dirty="0"/>
          </a:p>
        </p:txBody>
      </p:sp>
      <p:sp>
        <p:nvSpPr>
          <p:cNvPr id="3" name="Shape 1"/>
          <p:cNvSpPr/>
          <p:nvPr/>
        </p:nvSpPr>
        <p:spPr>
          <a:xfrm>
            <a:off x="640080" y="1691640"/>
            <a:ext cx="2926080" cy="2286000"/>
          </a:xfrm>
          <a:prstGeom prst="roundRect">
            <a:avLst>
              <a:gd name="adj" fmla="val 4800"/>
            </a:avLst>
          </a:prstGeom>
          <a:solidFill>
            <a:srgbClr val="EEF4FB"/>
          </a:solidFill>
          <a:ln w="12700">
            <a:solidFill>
              <a:srgbClr val="EEF4FB"/>
            </a:solidFill>
            <a:prstDash val="solid"/>
          </a:ln>
        </p:spPr>
      </p:sp>
      <p:sp>
        <p:nvSpPr>
          <p:cNvPr id="4" name="Text 2"/>
          <p:cNvSpPr txBox="1"/>
          <p:nvPr/>
        </p:nvSpPr>
        <p:spPr>
          <a:xfrm>
            <a:off x="868680" y="1828800"/>
            <a:ext cx="2468880" cy="685800"/>
          </a:xfrm>
          <a:prstGeom prst="rect">
            <a:avLst/>
          </a:prstGeom>
          <a:noFill/>
          <a:ln/>
        </p:spPr>
        <p:txBody>
          <a:bodyPr wrap="square" lIns="0" tIns="0" rIns="0" bIns="0" rtlCol="0" anchor="ctr"/>
          <a:lstStyle/>
          <a:p>
            <a:pPr marL="0" indent="0">
              <a:buNone/>
            </a:pPr>
            <a:r>
              <a:rPr lang="en-US" sz="4000" b="1" dirty="0">
                <a:solidFill>
                  <a:srgbClr val="1A4B8C"/>
                </a:solidFill>
                <a:latin typeface="Atkinson Hyperlegible Next" pitchFamily="34" charset="0"/>
                <a:ea typeface="Atkinson Hyperlegible Next" pitchFamily="34" charset="-122"/>
                <a:cs typeface="Atkinson Hyperlegible Next" pitchFamily="34" charset="-120"/>
              </a:rPr>
              <a:t>3 / 200</a:t>
            </a:r>
            <a:endParaRPr lang="en-US" sz="4000" dirty="0"/>
          </a:p>
        </p:txBody>
      </p:sp>
      <p:sp>
        <p:nvSpPr>
          <p:cNvPr id="5" name="Text 3"/>
          <p:cNvSpPr txBox="1"/>
          <p:nvPr/>
        </p:nvSpPr>
        <p:spPr>
          <a:xfrm>
            <a:off x="868680" y="2560320"/>
            <a:ext cx="2468880" cy="1280160"/>
          </a:xfrm>
          <a:prstGeom prst="rect">
            <a:avLst/>
          </a:prstGeom>
          <a:noFill/>
          <a:ln/>
        </p:spPr>
        <p:txBody>
          <a:bodyPr wrap="square" lIns="0" tIns="0" rIns="0" bIns="0" rtlCol="0" anchor="t"/>
          <a:lstStyle/>
          <a:p>
            <a:pPr marL="0" indent="0">
              <a:buNone/>
            </a:pPr>
            <a:r>
              <a:rPr lang="en-US" sz="1300" dirty="0">
                <a:solidFill>
                  <a:srgbClr val="14171A"/>
                </a:solidFill>
                <a:latin typeface="Atkinson Hyperlegible Next" pitchFamily="34" charset="0"/>
                <a:ea typeface="Atkinson Hyperlegible Next" pitchFamily="34" charset="-122"/>
                <a:cs typeface="Atkinson Hyperlegible Next" pitchFamily="34" charset="-120"/>
              </a:rPr>
              <a:t>recruitment points for secondary school, for volunteering entered on the primary-school certificate</a:t>
            </a:r>
            <a:endParaRPr lang="en-US" sz="1300" dirty="0"/>
          </a:p>
          <a:p>
            <a:pPr marL="0" indent="0">
              <a:spcBef>
                <a:spcPts val="600"/>
              </a:spcBef>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Each school sets the hours, often 20 to 60. Schools need real tasks.</a:t>
            </a:r>
            <a:endParaRPr lang="en-US" sz="1300" dirty="0"/>
          </a:p>
        </p:txBody>
      </p:sp>
      <p:sp>
        <p:nvSpPr>
          <p:cNvPr id="6" name="Shape 4"/>
          <p:cNvSpPr/>
          <p:nvPr/>
        </p:nvSpPr>
        <p:spPr>
          <a:xfrm>
            <a:off x="3977640" y="1691640"/>
            <a:ext cx="3512668" cy="2286000"/>
          </a:xfrm>
          <a:prstGeom prst="roundRect">
            <a:avLst>
              <a:gd name="adj" fmla="val 4800"/>
            </a:avLst>
          </a:prstGeom>
          <a:solidFill>
            <a:srgbClr val="EEF4FB"/>
          </a:solidFill>
          <a:ln w="12700">
            <a:solidFill>
              <a:srgbClr val="EEF4FB"/>
            </a:solidFill>
            <a:prstDash val="solid"/>
          </a:ln>
        </p:spPr>
      </p:sp>
      <p:sp>
        <p:nvSpPr>
          <p:cNvPr id="7" name="Shape 5"/>
          <p:cNvSpPr/>
          <p:nvPr/>
        </p:nvSpPr>
        <p:spPr>
          <a:xfrm>
            <a:off x="4178808" y="1874520"/>
            <a:ext cx="3110332" cy="310896"/>
          </a:xfrm>
          <a:prstGeom prst="roundRect">
            <a:avLst>
              <a:gd name="adj" fmla="val 50000"/>
            </a:avLst>
          </a:prstGeom>
          <a:solidFill>
            <a:srgbClr val="DCE6F2"/>
          </a:solidFill>
          <a:ln w="12700">
            <a:solidFill>
              <a:srgbClr val="DCE6F2"/>
            </a:solidFill>
            <a:prstDash val="solid"/>
          </a:ln>
        </p:spPr>
      </p:sp>
      <p:sp>
        <p:nvSpPr>
          <p:cNvPr id="8" name="Text 6"/>
          <p:cNvSpPr txBox="1"/>
          <p:nvPr/>
        </p:nvSpPr>
        <p:spPr>
          <a:xfrm>
            <a:off x="4178808" y="1874520"/>
            <a:ext cx="3110332" cy="310896"/>
          </a:xfrm>
          <a:prstGeom prst="rect">
            <a:avLst/>
          </a:prstGeom>
          <a:noFill/>
          <a:ln/>
        </p:spPr>
        <p:txBody>
          <a:bodyPr wrap="square" lIns="0" tIns="0" rIns="0" bIns="0" rtlCol="0" anchor="ctr"/>
          <a:lstStyle/>
          <a:p>
            <a:pPr marL="0" indent="0" algn="ctr">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THIS PROTOTYPE  ·  HUBMI.PL TASK</a:t>
            </a:r>
            <a:endParaRPr lang="en-US" sz="1000" dirty="0"/>
          </a:p>
        </p:txBody>
      </p:sp>
      <p:sp>
        <p:nvSpPr>
          <p:cNvPr id="9" name="Text 7"/>
          <p:cNvSpPr txBox="1"/>
          <p:nvPr/>
        </p:nvSpPr>
        <p:spPr>
          <a:xfrm>
            <a:off x="4206240" y="2313432"/>
            <a:ext cx="3055468" cy="365760"/>
          </a:xfrm>
          <a:prstGeom prst="rect">
            <a:avLst/>
          </a:prstGeom>
          <a:noFill/>
          <a:ln/>
        </p:spPr>
        <p:txBody>
          <a:bodyPr wrap="square" lIns="0" tIns="0" rIns="0" bIns="0" rtlCol="0" anchor="ctr"/>
          <a:lstStyle/>
          <a:p>
            <a:pPr marL="0" indent="0">
              <a:buNone/>
            </a:pPr>
            <a:r>
              <a:rPr lang="en-US" sz="1700" b="1" dirty="0">
                <a:solidFill>
                  <a:srgbClr val="1A4B8C"/>
                </a:solidFill>
                <a:latin typeface="Atkinson Hyperlegible Next" pitchFamily="34" charset="0"/>
                <a:ea typeface="Atkinson Hyperlegible Next" pitchFamily="34" charset="-122"/>
                <a:cs typeface="Atkinson Hyperlegible Next" pitchFamily="34" charset="-120"/>
              </a:rPr>
              <a:t>HubMI brings the need</a:t>
            </a:r>
            <a:endParaRPr lang="en-US" sz="1700" dirty="0"/>
          </a:p>
        </p:txBody>
      </p:sp>
      <p:sp>
        <p:nvSpPr>
          <p:cNvPr id="10" name="Text 8"/>
          <p:cNvSpPr txBox="1"/>
          <p:nvPr/>
        </p:nvSpPr>
        <p:spPr>
          <a:xfrm>
            <a:off x="4206240" y="2770632"/>
            <a:ext cx="3055468" cy="10972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Real needs from 183 gminas, checked by a person at ROPS</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proven method from the catalogue for each task</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The map shows where the help landed</a:t>
            </a:r>
            <a:endParaRPr lang="en-US" sz="1200" dirty="0"/>
          </a:p>
        </p:txBody>
      </p:sp>
      <p:sp>
        <p:nvSpPr>
          <p:cNvPr id="11" name="Shape 9"/>
          <p:cNvSpPr/>
          <p:nvPr/>
        </p:nvSpPr>
        <p:spPr>
          <a:xfrm>
            <a:off x="8038948" y="1691640"/>
            <a:ext cx="3512668" cy="2286000"/>
          </a:xfrm>
          <a:prstGeom prst="roundRect">
            <a:avLst>
              <a:gd name="adj" fmla="val 4800"/>
            </a:avLst>
          </a:prstGeom>
          <a:solidFill>
            <a:srgbClr val="FFFFFF"/>
          </a:solidFill>
          <a:ln w="19050">
            <a:solidFill>
              <a:srgbClr val="1A4B8C"/>
            </a:solidFill>
            <a:prstDash val="solid"/>
          </a:ln>
        </p:spPr>
      </p:sp>
      <p:sp>
        <p:nvSpPr>
          <p:cNvPr id="12" name="Shape 10"/>
          <p:cNvSpPr/>
          <p:nvPr/>
        </p:nvSpPr>
        <p:spPr>
          <a:xfrm>
            <a:off x="8240116" y="1874520"/>
            <a:ext cx="3110332" cy="310896"/>
          </a:xfrm>
          <a:prstGeom prst="roundRect">
            <a:avLst>
              <a:gd name="adj" fmla="val 50000"/>
            </a:avLst>
          </a:prstGeom>
          <a:solidFill>
            <a:srgbClr val="1A4B8C"/>
          </a:solidFill>
          <a:ln w="12700">
            <a:solidFill>
              <a:srgbClr val="1A4B8C"/>
            </a:solidFill>
            <a:prstDash val="solid"/>
          </a:ln>
        </p:spPr>
      </p:sp>
      <p:sp>
        <p:nvSpPr>
          <p:cNvPr id="13" name="Text 11"/>
          <p:cNvSpPr txBox="1"/>
          <p:nvPr/>
        </p:nvSpPr>
        <p:spPr>
          <a:xfrm>
            <a:off x="8240116" y="1874520"/>
            <a:ext cx="3110332" cy="310896"/>
          </a:xfrm>
          <a:prstGeom prst="rect">
            <a:avLst/>
          </a:prstGeom>
          <a:noFill/>
          <a:ln/>
        </p:spPr>
        <p:txBody>
          <a:bodyPr wrap="square" lIns="0" tIns="0" rIns="0" bIns="0" rtlCol="0" anchor="ctr"/>
          <a:lstStyle/>
          <a:p>
            <a:pPr marL="0" indent="0" algn="ctr">
              <a:buNone/>
            </a:pPr>
            <a:r>
              <a:rPr lang="en-US" sz="1000" b="1" kern="0" spc="100" dirty="0">
                <a:solidFill>
                  <a:srgbClr val="FFFFFF"/>
                </a:solidFill>
                <a:latin typeface="Atkinson Hyperlegible Next" pitchFamily="34" charset="0"/>
                <a:ea typeface="Atkinson Hyperlegible Next" pitchFamily="34" charset="-122"/>
                <a:cs typeface="Atkinson Hyperlegible Next" pitchFamily="34" charset="-120"/>
              </a:rPr>
              <a:t>HACKYEAH 2025 WINNER</a:t>
            </a:r>
            <a:endParaRPr lang="en-US" sz="1000" dirty="0"/>
          </a:p>
        </p:txBody>
      </p:sp>
      <p:sp>
        <p:nvSpPr>
          <p:cNvPr id="14" name="Text 12"/>
          <p:cNvSpPr txBox="1"/>
          <p:nvPr/>
        </p:nvSpPr>
        <p:spPr>
          <a:xfrm>
            <a:off x="8267548" y="2313432"/>
            <a:ext cx="3055468" cy="365760"/>
          </a:xfrm>
          <a:prstGeom prst="rect">
            <a:avLst/>
          </a:prstGeom>
          <a:noFill/>
          <a:ln/>
        </p:spPr>
        <p:txBody>
          <a:bodyPr wrap="square" lIns="0" tIns="0" rIns="0" bIns="0" rtlCol="0" anchor="ctr"/>
          <a:lstStyle/>
          <a:p>
            <a:pPr marL="0" indent="0">
              <a:buNone/>
            </a:pPr>
            <a:r>
              <a:rPr lang="en-US" sz="1700" b="1" dirty="0">
                <a:solidFill>
                  <a:srgbClr val="1A4B8C"/>
                </a:solidFill>
                <a:latin typeface="Atkinson Hyperlegible Next" pitchFamily="34" charset="0"/>
                <a:ea typeface="Atkinson Hyperlegible Next" pitchFamily="34" charset="-122"/>
                <a:cs typeface="Atkinson Hyperlegible Next" pitchFamily="34" charset="-120"/>
              </a:rPr>
              <a:t>DoBro brings the hands</a:t>
            </a:r>
            <a:endParaRPr lang="en-US" sz="1700" dirty="0"/>
          </a:p>
        </p:txBody>
      </p:sp>
      <p:sp>
        <p:nvSpPr>
          <p:cNvPr id="15" name="Text 13"/>
          <p:cNvSpPr txBox="1"/>
          <p:nvPr/>
        </p:nvSpPr>
        <p:spPr>
          <a:xfrm>
            <a:off x="8267548" y="2770632"/>
            <a:ext cx="3055468" cy="10972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Young volunteers, schools and organisations in one place</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Recommendations by the pupils' interests</a:t>
            </a:r>
            <a:endParaRPr lang="en-US" sz="1200" dirty="0"/>
          </a:p>
          <a:p>
            <a:pPr marL="177800" indent="-177800">
              <a:spcAft>
                <a:spcPts val="5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Built for the City of Kraków's digital volunteering centre</a:t>
            </a:r>
            <a:endParaRPr lang="en-US" sz="1200" dirty="0"/>
          </a:p>
        </p:txBody>
      </p:sp>
      <p:sp>
        <p:nvSpPr>
          <p:cNvPr id="16" name="Shape 14"/>
          <p:cNvSpPr/>
          <p:nvPr/>
        </p:nvSpPr>
        <p:spPr>
          <a:xfrm>
            <a:off x="7572604" y="2642616"/>
            <a:ext cx="384048" cy="384048"/>
          </a:xfrm>
          <a:prstGeom prst="ellipse">
            <a:avLst/>
          </a:prstGeom>
          <a:solidFill>
            <a:srgbClr val="1A4B8C"/>
          </a:solidFill>
          <a:ln w="12700">
            <a:solidFill>
              <a:srgbClr val="1A4B8C"/>
            </a:solidFill>
            <a:prstDash val="solid"/>
          </a:ln>
        </p:spPr>
      </p:sp>
      <p:sp>
        <p:nvSpPr>
          <p:cNvPr id="17" name="Text 15"/>
          <p:cNvSpPr txBox="1"/>
          <p:nvPr/>
        </p:nvSpPr>
        <p:spPr>
          <a:xfrm>
            <a:off x="7572604" y="2642616"/>
            <a:ext cx="384048" cy="384048"/>
          </a:xfrm>
          <a:prstGeom prst="rect">
            <a:avLst/>
          </a:prstGeom>
          <a:noFill/>
          <a:ln/>
        </p:spPr>
        <p:txBody>
          <a:bodyPr wrap="square" lIns="0" tIns="0" rIns="0" bIns="0" rtlCol="0" anchor="ctr"/>
          <a:lstStyle/>
          <a:p>
            <a:pPr marL="0" indent="0" algn="ctr">
              <a:buNone/>
            </a:pPr>
            <a:r>
              <a:rPr lang="en-US" sz="2000" b="1" dirty="0">
                <a:solidFill>
                  <a:srgbClr val="FFFFFF"/>
                </a:solidFill>
                <a:latin typeface="Atkinson Hyperlegible Next" pitchFamily="34" charset="0"/>
                <a:ea typeface="Atkinson Hyperlegible Next" pitchFamily="34" charset="-122"/>
                <a:cs typeface="Atkinson Hyperlegible Next" pitchFamily="34" charset="-120"/>
              </a:rPr>
              <a:t>+</a:t>
            </a:r>
            <a:endParaRPr lang="en-US" sz="2000" dirty="0"/>
          </a:p>
        </p:txBody>
      </p:sp>
      <p:sp>
        <p:nvSpPr>
          <p:cNvPr id="18" name="Shape 16"/>
          <p:cNvSpPr/>
          <p:nvPr/>
        </p:nvSpPr>
        <p:spPr>
          <a:xfrm>
            <a:off x="640080" y="4224528"/>
            <a:ext cx="1948221" cy="914400"/>
          </a:xfrm>
          <a:prstGeom prst="roundRect">
            <a:avLst>
              <a:gd name="adj" fmla="val 10000"/>
            </a:avLst>
          </a:prstGeom>
          <a:solidFill>
            <a:srgbClr val="EEF4FB"/>
          </a:solidFill>
          <a:ln w="12700">
            <a:solidFill>
              <a:srgbClr val="EEF4FB"/>
            </a:solidFill>
            <a:prstDash val="solid"/>
          </a:ln>
        </p:spPr>
      </p:sp>
      <p:sp>
        <p:nvSpPr>
          <p:cNvPr id="19" name="Text 17"/>
          <p:cNvSpPr txBox="1"/>
          <p:nvPr/>
        </p:nvSpPr>
        <p:spPr>
          <a:xfrm>
            <a:off x="777240"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1  Need filed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by a gmina, an organisation or a resident</a:t>
            </a:r>
            <a:endParaRPr lang="en-US" sz="1300" dirty="0"/>
          </a:p>
        </p:txBody>
      </p:sp>
      <p:sp>
        <p:nvSpPr>
          <p:cNvPr id="20" name="Shape 18"/>
          <p:cNvSpPr/>
          <p:nvPr/>
        </p:nvSpPr>
        <p:spPr>
          <a:xfrm>
            <a:off x="2670597" y="4581144"/>
            <a:ext cx="128016" cy="201168"/>
          </a:xfrm>
          <a:prstGeom prst="chevron">
            <a:avLst/>
          </a:prstGeom>
          <a:solidFill>
            <a:srgbClr val="1A4B8C"/>
          </a:solidFill>
          <a:ln w="12700">
            <a:solidFill>
              <a:srgbClr val="1A4B8C"/>
            </a:solidFill>
            <a:prstDash val="solid"/>
          </a:ln>
        </p:spPr>
      </p:sp>
      <p:sp>
        <p:nvSpPr>
          <p:cNvPr id="21" name="Shape 19"/>
          <p:cNvSpPr/>
          <p:nvPr/>
        </p:nvSpPr>
        <p:spPr>
          <a:xfrm>
            <a:off x="2880909" y="4224528"/>
            <a:ext cx="1948221" cy="914400"/>
          </a:xfrm>
          <a:prstGeom prst="roundRect">
            <a:avLst>
              <a:gd name="adj" fmla="val 10000"/>
            </a:avLst>
          </a:prstGeom>
          <a:solidFill>
            <a:srgbClr val="EEF4FB"/>
          </a:solidFill>
          <a:ln w="12700">
            <a:solidFill>
              <a:srgbClr val="EEF4FB"/>
            </a:solidFill>
            <a:prstDash val="solid"/>
          </a:ln>
        </p:spPr>
      </p:sp>
      <p:sp>
        <p:nvSpPr>
          <p:cNvPr id="22" name="Text 20"/>
          <p:cNvSpPr txBox="1"/>
          <p:nvPr/>
        </p:nvSpPr>
        <p:spPr>
          <a:xfrm>
            <a:off x="3018069"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ROPS moderates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and marks it fit for pupils</a:t>
            </a:r>
            <a:endParaRPr lang="en-US" sz="1300" dirty="0"/>
          </a:p>
        </p:txBody>
      </p:sp>
      <p:sp>
        <p:nvSpPr>
          <p:cNvPr id="23" name="Shape 21"/>
          <p:cNvSpPr/>
          <p:nvPr/>
        </p:nvSpPr>
        <p:spPr>
          <a:xfrm>
            <a:off x="4911425" y="4581144"/>
            <a:ext cx="128016" cy="201168"/>
          </a:xfrm>
          <a:prstGeom prst="chevron">
            <a:avLst/>
          </a:prstGeom>
          <a:solidFill>
            <a:srgbClr val="1A4B8C"/>
          </a:solidFill>
          <a:ln w="12700">
            <a:solidFill>
              <a:srgbClr val="1A4B8C"/>
            </a:solidFill>
            <a:prstDash val="solid"/>
          </a:ln>
        </p:spPr>
      </p:sp>
      <p:sp>
        <p:nvSpPr>
          <p:cNvPr id="24" name="Shape 22"/>
          <p:cNvSpPr/>
          <p:nvPr/>
        </p:nvSpPr>
        <p:spPr>
          <a:xfrm>
            <a:off x="5121737" y="4224528"/>
            <a:ext cx="1948221" cy="914400"/>
          </a:xfrm>
          <a:prstGeom prst="roundRect">
            <a:avLst>
              <a:gd name="adj" fmla="val 10000"/>
            </a:avLst>
          </a:prstGeom>
          <a:solidFill>
            <a:srgbClr val="EEF4FB"/>
          </a:solidFill>
          <a:ln w="12700">
            <a:solidFill>
              <a:srgbClr val="EEF4FB"/>
            </a:solidFill>
            <a:prstDash val="solid"/>
          </a:ln>
        </p:spPr>
      </p:sp>
      <p:sp>
        <p:nvSpPr>
          <p:cNvPr id="25" name="Text 23"/>
          <p:cNvSpPr txBox="1"/>
          <p:nvPr/>
        </p:nvSpPr>
        <p:spPr>
          <a:xfrm>
            <a:off x="5258897"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Open task feed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method, age band, responsible organisation</a:t>
            </a:r>
            <a:endParaRPr lang="en-US" sz="1300" dirty="0"/>
          </a:p>
        </p:txBody>
      </p:sp>
      <p:sp>
        <p:nvSpPr>
          <p:cNvPr id="26" name="Shape 24"/>
          <p:cNvSpPr/>
          <p:nvPr/>
        </p:nvSpPr>
        <p:spPr>
          <a:xfrm>
            <a:off x="7152254" y="4581144"/>
            <a:ext cx="128016" cy="201168"/>
          </a:xfrm>
          <a:prstGeom prst="chevron">
            <a:avLst/>
          </a:prstGeom>
          <a:solidFill>
            <a:srgbClr val="1A4B8C"/>
          </a:solidFill>
          <a:ln w="12700">
            <a:solidFill>
              <a:srgbClr val="1A4B8C"/>
            </a:solidFill>
            <a:prstDash val="solid"/>
          </a:ln>
        </p:spPr>
      </p:sp>
      <p:sp>
        <p:nvSpPr>
          <p:cNvPr id="27" name="Shape 25"/>
          <p:cNvSpPr/>
          <p:nvPr/>
        </p:nvSpPr>
        <p:spPr>
          <a:xfrm>
            <a:off x="7362566" y="4224528"/>
            <a:ext cx="1948221" cy="914400"/>
          </a:xfrm>
          <a:prstGeom prst="roundRect">
            <a:avLst>
              <a:gd name="adj" fmla="val 10000"/>
            </a:avLst>
          </a:prstGeom>
          <a:solidFill>
            <a:srgbClr val="1A4B8C"/>
          </a:solidFill>
          <a:ln w="12700">
            <a:solidFill>
              <a:srgbClr val="1A4B8C"/>
            </a:solidFill>
            <a:prstDash val="solid"/>
          </a:ln>
        </p:spPr>
      </p:sp>
      <p:sp>
        <p:nvSpPr>
          <p:cNvPr id="28" name="Text 26"/>
          <p:cNvSpPr txBox="1"/>
          <p:nvPr/>
        </p:nvSpPr>
        <p:spPr>
          <a:xfrm>
            <a:off x="7499726" y="4224528"/>
            <a:ext cx="1673901" cy="91440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4  DoBro matches</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pupils through the school coordinator</a:t>
            </a:r>
            <a:endParaRPr lang="en-US" sz="1300" dirty="0"/>
          </a:p>
        </p:txBody>
      </p:sp>
      <p:sp>
        <p:nvSpPr>
          <p:cNvPr id="29" name="Shape 27"/>
          <p:cNvSpPr/>
          <p:nvPr/>
        </p:nvSpPr>
        <p:spPr>
          <a:xfrm>
            <a:off x="9393083" y="4581144"/>
            <a:ext cx="128016" cy="201168"/>
          </a:xfrm>
          <a:prstGeom prst="chevron">
            <a:avLst/>
          </a:prstGeom>
          <a:solidFill>
            <a:srgbClr val="1A4B8C"/>
          </a:solidFill>
          <a:ln w="12700">
            <a:solidFill>
              <a:srgbClr val="1A4B8C"/>
            </a:solidFill>
            <a:prstDash val="solid"/>
          </a:ln>
        </p:spPr>
      </p:sp>
      <p:sp>
        <p:nvSpPr>
          <p:cNvPr id="30" name="Shape 28"/>
          <p:cNvSpPr/>
          <p:nvPr/>
        </p:nvSpPr>
        <p:spPr>
          <a:xfrm>
            <a:off x="9603395" y="4224528"/>
            <a:ext cx="1948221" cy="914400"/>
          </a:xfrm>
          <a:prstGeom prst="roundRect">
            <a:avLst>
              <a:gd name="adj" fmla="val 10000"/>
            </a:avLst>
          </a:prstGeom>
          <a:solidFill>
            <a:srgbClr val="EEF4FB"/>
          </a:solidFill>
          <a:ln w="12700">
            <a:solidFill>
              <a:srgbClr val="EEF4FB"/>
            </a:solidFill>
            <a:prstDash val="solid"/>
          </a:ln>
        </p:spPr>
      </p:sp>
      <p:sp>
        <p:nvSpPr>
          <p:cNvPr id="31" name="Text 29"/>
          <p:cNvSpPr txBox="1"/>
          <p:nvPr/>
        </p:nvSpPr>
        <p:spPr>
          <a:xfrm>
            <a:off x="9740555" y="4224528"/>
            <a:ext cx="1673901" cy="91440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Hours confirmed</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the outcome returns to the needs bank and the map</a:t>
            </a:r>
            <a:endParaRPr lang="en-US" sz="1300" dirty="0"/>
          </a:p>
        </p:txBody>
      </p:sp>
      <p:sp>
        <p:nvSpPr>
          <p:cNvPr id="32" name="Shape 30"/>
          <p:cNvSpPr/>
          <p:nvPr/>
        </p:nvSpPr>
        <p:spPr>
          <a:xfrm>
            <a:off x="640080" y="5349240"/>
            <a:ext cx="10911535" cy="777240"/>
          </a:xfrm>
          <a:prstGeom prst="roundRect">
            <a:avLst>
              <a:gd name="adj" fmla="val 14118"/>
            </a:avLst>
          </a:prstGeom>
          <a:solidFill>
            <a:srgbClr val="F3F5F8"/>
          </a:solidFill>
          <a:ln w="12700">
            <a:solidFill>
              <a:srgbClr val="F3F5F8"/>
            </a:solidFill>
            <a:prstDash val="solid"/>
          </a:ln>
        </p:spPr>
      </p:sp>
      <p:sp>
        <p:nvSpPr>
          <p:cNvPr id="33" name="Text 31"/>
          <p:cNvSpPr txBox="1"/>
          <p:nvPr/>
        </p:nvSpPr>
        <p:spPr>
          <a:xfrm>
            <a:off x="914400" y="5349240"/>
            <a:ext cx="10362895" cy="77724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Children first.  </a:t>
            </a:r>
            <a:r>
              <a:rPr lang="en-US" sz="1300" dirty="0">
                <a:solidFill>
                  <a:srgbClr val="14171A"/>
                </a:solidFill>
                <a:latin typeface="Atkinson Hyperlegible Next" pitchFamily="34" charset="0"/>
                <a:ea typeface="Atkinson Hyperlegible Next" pitchFamily="34" charset="-122"/>
                <a:cs typeface="Atkinson Hyperlegible Next" pitchFamily="34" charset="-120"/>
              </a:rPr>
              <a:t>HubMI never stores pupils' data; the contact is the school coordinator, never a child; tasks go only to organisations with the child-protection standards the law requires since 2024; a feed and a phone-friendly page, not another app.</a:t>
            </a:r>
            <a:endParaRPr lang="en-US" sz="1300" dirty="0"/>
          </a:p>
        </p:txBody>
      </p:sp>
      <p:sp>
        <p:nvSpPr>
          <p:cNvPr id="34" name="Text 32"/>
          <p:cNvSpPr txBox="1"/>
          <p:nvPr/>
        </p:nvSpPr>
        <p:spPr>
          <a:xfrm>
            <a:off x="640080" y="6217920"/>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DoBro, by team Szybkie Palce, won the City of Kraków task at HackYeah 2025. An invitation, not yet an agreement.</a:t>
            </a:r>
            <a:endParaRPr lang="en-US" sz="1100" dirty="0"/>
          </a:p>
        </p:txBody>
      </p:sp>
      <p:sp>
        <p:nvSpPr>
          <p:cNvPr id="35" name="Text 3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Built for everyone, built on open data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Accessibility above the legal bar; every fact linked back to its open source</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The contrast theme, one of three display themes</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 typeface designed for low vision</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7:1 text contrast</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plus three AAA criteria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Text size, three themes, phone layout</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Keyboard and screen-reader use</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Automated axe check of every screen</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Data, models and credits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234440">
                  <a:extLst>
                    <a:ext uri="{9D8B030D-6E8A-4147-A177-3AD203B41FA5}">
                      <a16:colId xmlns:a16="http://schemas.microsoft.com/office/drawing/2014/main" val="20000"/>
                    </a:ext>
                  </a:extLst>
                </a:gridCol>
                <a:gridCol w="382493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Innovations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from the national base innowacjespoleczne.pl (Fundacja Stocznia) and 115 from the ROPS library; 34 duplicates joined into 381 records. CC BY 4.0 or the MIIS terms, with attribution on every entry</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Places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TERC register, Local Data Bank 2024 indicators, PRG boundaries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on the Hugging Face router; Claude (Anthropic) and Llama 3.3 70B (Meta) as fallbacks; retriever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Software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GOV.UK Design System form patterns; a Python data pipeline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AI assistants</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wrote code, texts and tests under the team's direction; the team reviewed every Polish text</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07492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Code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Apache License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2850</Words>
  <Application>Microsoft Office PowerPoint</Application>
  <PresentationFormat>Widescreen</PresentationFormat>
  <Paragraphs>199</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Atkinson Hyperlegible Next</vt:lpstr>
      <vt:lpstr>Georgia</vt:lpstr>
      <vt:lpstr>Arial</vt:lpstr>
      <vt:lpstr>Segoe UI 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from need to solution</dc:title>
  <dc:subject>PptxGenJS Presentation</dc:subject>
  <dc:creator>Team HubMI, HackYeah 2026</dc:creator>
  <cp:lastModifiedBy>Alexander Bobrovsky</cp:lastModifiedBy>
  <cp:revision>2</cp:revision>
  <dcterms:created xsi:type="dcterms:W3CDTF">2026-10-01T06:38:06Z</dcterms:created>
  <dcterms:modified xsi:type="dcterms:W3CDTF">2026-10-01T06:38:18Z</dcterms:modified>
</cp:coreProperties>
</file>