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Lst>
  <p:notesMasterIdLst>
    <p:notesMasterId r:id="rId11"/>
  </p:notesMasterIdLst>
  <p:sldIdLst>
    <p:sldId id="256" r:id="rId2"/>
    <p:sldId id="257" r:id="rId3"/>
    <p:sldId id="258" r:id="rId4"/>
    <p:sldId id="259" r:id="rId5"/>
    <p:sldId id="260" r:id="rId6"/>
    <p:sldId id="261" r:id="rId7"/>
    <p:sldId id="262" r:id="rId8"/>
    <p:sldId id="263" r:id="rId9"/>
    <p:sldId id="264" r:id="rId10"/>
  </p:sldIdLst>
  <p:sldSz cx="12192000" cy="6858000"/>
  <p:notesSz cx="6858000" cy="12192000"/>
  <p:embeddedFontLst>
    <p:embeddedFont>
      <p:font typeface="Atkinson Hyperlegible Next" pitchFamily="2" charset="0"/>
      <p:regular r:id="rId12"/>
      <p:bold r:id="rId13"/>
      <p:italic r:id="rId14"/>
      <p:boldItalic r:id="rId15"/>
    </p:embeddedFont>
    <p:embeddedFont>
      <p:font typeface="Segoe UI Symbol" panose="020B0502040204020203" pitchFamily="34" charset="0"/>
      <p:regular r:id="rId16"/>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font" Target="fonts/font2.fntdata"/><Relationship Id="rId18" Type="http://schemas.openxmlformats.org/officeDocument/2006/relationships/viewProps" Target="viewProps.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font" Target="fonts/font1.fntdata"/><Relationship Id="rId17" Type="http://schemas.openxmlformats.org/officeDocument/2006/relationships/presProps" Target="presProps.xml"/><Relationship Id="rId2" Type="http://schemas.openxmlformats.org/officeDocument/2006/relationships/slide" Target="slides/slide1.xml"/><Relationship Id="rId16" Type="http://schemas.openxmlformats.org/officeDocument/2006/relationships/font" Target="fonts/font5.fntdata"/><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font" Target="fonts/font4.fntdata"/><Relationship Id="rId10" Type="http://schemas.openxmlformats.org/officeDocument/2006/relationships/slide" Target="slides/slide9.xml"/><Relationship Id="rId19"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font" Target="fonts/font3.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93532821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HubMI.pl to nazwa, którą ROPS w Krakowie nadał cyfrowemu sercu planowanego Małopolskiego Hubu Innowacji Społecznych. Partner sam opisał zadanie tak: nie kolejny katalog, tylko narzędzie, które łączy problem z rozwiązaniem, wiedzą i ludźmi, a gdy rozwiązania jeszcze nie ma, pomaga znaleźć drogę do jego stworzenia. Zbudowaliśmy działający prototyp: stronę dla osób zgłaszających potrzeby i panel dla ROPS. Kolejne slajdy pokazują moduł po module, jak prototyp realizuje wyzwanie. Na telefonie widać prawdziwą drogę z prototypu.</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Moduł pierwszy, obowiązkowy: matchmaking społeczny. To prawdziwa droga z prototypu dla przypadku testowego P01: samotni seniorzy w wiejskiej gminie Laskowa. Składa się z czterech części. Rozwiązania: sprawdzone innowacje, każda z uzasadnieniem opartym na cytatach ze źródła i z informacją, czego wymaga. Wiedza: poradniki i modele usług ROPS. Ludzie: autorzy, opiekun kategorii w ROPS i osoby, które zgłosiły gotowość do pomocy. Ścieżka wdrożenia: programy, z których można to sfinansować, z kwotami, terminami i kolejnymi krokami. To nie lista wyników wyszukiwania, tylko odpowiedź na pytanie, co zrobić dalej.</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Drugi element modułu pierwszego: podobne przypadki. Pod rozwiązaniami widać potrzeby z banku potrzeb i fiszki pomysłów podobne do tej, ale tylko te, na których publikację zgodził się autor i które zaakceptował ROPS. Ktoś zapyta: czy to nie zwykła wyszukiwarka albo czatbot do katalogu? Nie. Wyszukiwarka daje linki, czatbot z RAG pisze zgrabny akapit, a oba narzędzia odpowiadają na każde pytanie. HubMI układa drogę według reguł, na podstawie opracowanych danych: kwoty i terminy pochodzą z trzydziestu ścieżek, do których model nie ma dostępu; model tylko wybiera i wyjaśnia, a program sprawdza każde odwołanie i każdy cytat. I potrafi powiedzieć „nie”: przez tegoroczną suszę w studniach w gminie Dobra zabrakło wody, nic w katalogach nie pasuje, a narzędzie mówi to wprost i proponuje wpis do banku potrzeb; na jego podstawie powstaje fiszka dla inkubatora. Trafność sprawdzamy na przypadkach testowych: we wszystkich siedmiu, dla których istnieje sprawdzone rozwiązanie, właściwa innowacja jest wśród trzech proponowanych.</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Moduł czwarty, tester innowacji. Przy każdej innowacji jest przycisk „Oceń albo zgłoś się do testów”. Można wystawić ocenę od jednego do pięciu, zaznaczyć, skąd zna się rozwiązanie, napisać opinię, zaproponować ulepszenie i zgłosić się do testów, jako użytkownik albo jako organizacja, która wdroży rozwiązanie na próbę w swojej gminie. Opinię można wysłać anonimowo. Każdy tekst przechodzi przez filtr bezpieczeństwa, a do autorów innowacji trafia za pośrednictwem ROPS, gdy zatwierdzi go pracownik. Na stronie innowacji widać średnią ocen, liczbę zgłoszeń do testów i propozycji ulepszeń, ale nigdy treści ani danych kontaktowych.</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Moduł piąty, platforma aktywnej komunikacji. Rozmowa z ROPS nie wymaga zakładania konta ani podawania e-maila: po wysłaniu pytania jego autor dostaje prywatny link, a przeglądarka zapisuje go w „Moich rozmowach”. Pytanie można zadać przy każdej innowacji, fiszce pomysłu i ogłoszeniu, więc od razu wiadomo, czego dotyczy. Odpowiada pracownik ROPS, który podpisuje się nazwiskiem. Gdy potrzebny jest ekspert, ROPS zaprasza mentora: mentor dostaje własny link do tej jednej rozmowy i nie ma dostępu do panelu. Partnerstwom międzysektorowym służy tablica ogłoszeń „Szukam partnera” i „Oferuję współpracę” z filtrem według sektora; ogłoszenie pojawia się po zatwierdzeniu przez ROPS, a odpowiedzi przekazuje ROPS, bez publikowania danych kontaktowych.</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Moduł szósty, panel administratora. Pracownik ROPS loguje się, podając imię i nazwisko oraz kod dostępu. Pulpit pokazuje, co czeka na decyzję i co pojawiło się od ostatniej wizyty: w ten sposób administrator dowiaduje się o nowym pomyśle. Pracownik nadaje fiszce status i pisze odpowiedź, którą autor od razu widzi na stronie swojej fiszki, z datą; to właśnie ścieżka odpowiedzi, o którą pyta partner. Wiedzę można zmienić w kilka sekund: oznaczenie „Sprawdzone przez ROPS”, poprawiony opis, nowy film albo nowy materiał są widoczne od razu, także w drogach utworzonych wcześniej. Każda decyzja jest odnotowana z nazwiskiem osoby, która ją podjęła, a dane można wyeksportować do CSV.</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Wystąpienie partnera zapowiadające zadanie nosiło tytuł „Od empatii do technologii”. Dlatego każdy tekst najpierw przechodzi przez filtr bezpieczeństwa: na potrzebę społeczności narzędzie odpowiada drogą; osoba w kryzysie dostaje numery telefonów zaufania i adres lokalnego ośrodka pomocy społecznej, a nie listę innowacji; prośbę, która ma kogoś wykluczyć, odrzucamy uprzejmie, z możliwością odwołania. Potem polski model PolDense wyszukuje kandydatów, a Bielik, otwarty polski model, wybiera i wyjaśnia. Nie kierowaliśmy się nazwą: przed hackathonem porównaliśmy Bielika z czterema innymi modelami językowymi na polskich przykładach, a PolDense z pięcioma innymi modelami wyszukiwania na wszystkich 381 opisach innowacji; wyniki są w repozytorium. Model nie może wymyślić rozwiązania ani kwoty: każde odwołanie i cytat jest sprawdzane, a kwoty pochodzą z opracowanej tabeli. Wszystko, co dotyczy konkretnej osoby, czeka na decyzję pracownika ROPS w panelu, a narzędzie niczego nikomu nie wysyła.</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Zadanie wymaga koncepcji, a nie tylko oprogramowania. To, co widzieliście, działa dziś: droga dla osób zgłaszających potrzeby, a obok fiszka pomysłu, tester innowacji, rozmowy z ROPS i mentorami oraz tablica partnerstw. Z siedmiu modułów wyzwania pięć działa w całości, a dwa – częściowo. Zasobnik wiedzy celowo nie jest kolejnym katalogiem, bo partner wyraźnie tego nie chce: wiedza jest częścią drogi, z linkami do wszystkich materiałów, dokumentów i filmów. Każdy wpis trafia do panelu ROPS: decyzję podejmuje pracownik, a system odnotowuje ją z jego nazwiskiem; autor pomysłu widzi odpowiedź na stronie swojej fiszki. Plan rozwoju dotyczy ludzi wokół narzędzia: trzech ról, które mogą pełnić trzy osoby albo jedna – opiekun kategorii, czyli osoba kontaktowa w każdej drodze, redaktor katalogu i koordynator banku potrzeb. Usługa domknie trzy cykle: potrzeba staje się wdrożeniem; potrzeba bez rozwiązania staje się tematem naboru do inkubatora, a potem nową innowacją; sprawdzona innowacja trafia tam, gdzie jest potrzebna. Utrzymanie jest tanie: jeden serwer 4 GB dla aplikacji i polskiego modelu wyszukiwania to 24 dolary miesięcznie na AWS Lightsail; w wersji docelowej PostgreSQL z pgvector na RDS, około 30 dolarów miesięcznie (prototyp zapisuje wpisy w jednym pliku). Jedno zapytanie do Bielika przez Hugging Face to około pięciu tysięcy tokenów po 40 centów za milion, czyli jedna piąta centa; cała droga to cztery zapytania, łącznie poniżej jednego centa.</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Dla wszystkich: ROPS prowadził inkubator dostępności, więc postawiliśmy sobie poprzeczkę wyżej, niż wymaga prawo: krój pisma dla osób słabowidzących, kontrast 7:1, trzy motywy, pełna obsługa klawiaturą i automatyczny test każdego ekranu. Osoba niewidoma może opisać i zapisać potrzebę za pomocą czytnika ekranu: każde pole ma etykietę, czytnik informuje o każdym etapie oczekiwania, a o wymaganej zgodzie informujemy przed pierwszą próbą wysłania. Wszystko, co pokazuje narzędzie, pochodzi z otwartych danych, z linkiem do źródła i informacją o licencji; katalogi pozostają nadrzędnym źródłem danych. Przy budowie pomagali nam agenci AI piszący kod; pomysł i decyzje są nasze, a każdą z nich zapisujemy w jawnym rejestrze decyzji projektu. Dziękujemy.</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2.xml"/><Relationship Id="rId1" Type="http://schemas.openxmlformats.org/officeDocument/2006/relationships/slideLayout" Target="../slideLayouts/slideLayout1.xml"/><Relationship Id="rId6" Type="http://schemas.openxmlformats.org/officeDocument/2006/relationships/image" Target="../media/image5.png"/><Relationship Id="rId5" Type="http://schemas.openxmlformats.org/officeDocument/2006/relationships/image" Target="../media/image4.png"/><Relationship Id="rId4" Type="http://schemas.openxmlformats.org/officeDocument/2006/relationships/image" Target="../media/image3.png"/></Relationships>
</file>

<file path=ppt/slides/_rels/slide3.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7.png"/></Relationships>
</file>

<file path=ppt/slides/_rels/slide4.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5.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5.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6.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13.png"/></Relationships>
</file>

<file path=ppt/slides/_rels/slide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9.xml"/><Relationship Id="rId1" Type="http://schemas.openxmlformats.org/officeDocument/2006/relationships/slideLayout" Target="../slideLayouts/slideLayout1.xml"/><Relationship Id="rId4" Type="http://schemas.openxmlformats.org/officeDocument/2006/relationships/hyperlink" Target="https://github.com/bobrovsky420/hackyeah2026" TargetMode="Externa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4B8C"/>
        </a:solidFill>
        <a:effectLst/>
      </p:bgPr>
    </p:bg>
    <p:spTree>
      <p:nvGrpSpPr>
        <p:cNvPr id="1" name=""/>
        <p:cNvGrpSpPr/>
        <p:nvPr/>
      </p:nvGrpSpPr>
      <p:grpSpPr>
        <a:xfrm>
          <a:off x="0" y="0"/>
          <a:ext cx="0" cy="0"/>
          <a:chOff x="0" y="0"/>
          <a:chExt cx="0" cy="0"/>
        </a:xfrm>
      </p:grpSpPr>
      <p:sp>
        <p:nvSpPr>
          <p:cNvPr id="2" name="Text 0"/>
          <p:cNvSpPr txBox="1"/>
          <p:nvPr/>
        </p:nvSpPr>
        <p:spPr>
          <a:xfrm>
            <a:off x="640080" y="685800"/>
            <a:ext cx="7498080" cy="320040"/>
          </a:xfrm>
          <a:prstGeom prst="rect">
            <a:avLst/>
          </a:prstGeom>
          <a:noFill/>
          <a:ln/>
        </p:spPr>
        <p:txBody>
          <a:bodyPr wrap="square" lIns="0" tIns="0" rIns="0" bIns="0" rtlCol="0" anchor="ctr"/>
          <a:lstStyle/>
          <a:p>
            <a:pPr marL="0" indent="0">
              <a:buNone/>
            </a:pPr>
            <a:r>
              <a:rPr lang="en-US" sz="1200" b="1" kern="0" spc="200" dirty="0">
                <a:solidFill>
                  <a:srgbClr val="9DC3F7"/>
                </a:solidFill>
                <a:latin typeface="Atkinson Hyperlegible Next" pitchFamily="34" charset="0"/>
                <a:ea typeface="Atkinson Hyperlegible Next" pitchFamily="34" charset="-122"/>
                <a:cs typeface="Atkinson Hyperlegible Next" pitchFamily="34" charset="-120"/>
              </a:rPr>
              <a:t>HACKYEAH 2026  ·  ZADANIE HUBMI.PL  ·  ROPS KRAKÓW</a:t>
            </a:r>
            <a:endParaRPr lang="en-US" sz="1200" dirty="0"/>
          </a:p>
        </p:txBody>
      </p:sp>
      <p:sp>
        <p:nvSpPr>
          <p:cNvPr id="3" name="Text 1"/>
          <p:cNvSpPr txBox="1"/>
          <p:nvPr/>
        </p:nvSpPr>
        <p:spPr>
          <a:xfrm>
            <a:off x="640080" y="1234440"/>
            <a:ext cx="7498080" cy="2011680"/>
          </a:xfrm>
          <a:prstGeom prst="rect">
            <a:avLst/>
          </a:prstGeom>
          <a:noFill/>
          <a:ln/>
        </p:spPr>
        <p:txBody>
          <a:bodyPr wrap="square" lIns="0" tIns="0" rIns="0" bIns="0" rtlCol="0" anchor="t"/>
          <a:lstStyle/>
          <a:p>
            <a:pPr marL="0" indent="0">
              <a:buNone/>
            </a:pPr>
            <a:r>
              <a:rPr lang="en-US" sz="5400" b="1" dirty="0">
                <a:solidFill>
                  <a:srgbClr val="FFFFFF"/>
                </a:solidFill>
                <a:latin typeface="Atkinson Hyperlegible Next" pitchFamily="34" charset="0"/>
                <a:ea typeface="Atkinson Hyperlegible Next" pitchFamily="34" charset="-122"/>
                <a:cs typeface="Atkinson Hyperlegible Next" pitchFamily="34" charset="-120"/>
              </a:rPr>
              <a:t>HubMI: od potrzeby</a:t>
            </a:r>
            <a:endParaRPr lang="en-US" sz="5400" dirty="0"/>
          </a:p>
          <a:p>
            <a:pPr marL="0" indent="0">
              <a:buNone/>
            </a:pPr>
            <a:r>
              <a:rPr lang="en-US" sz="5400" b="1" dirty="0">
                <a:solidFill>
                  <a:srgbClr val="FFFFFF"/>
                </a:solidFill>
                <a:latin typeface="Atkinson Hyperlegible Next" pitchFamily="34" charset="0"/>
                <a:ea typeface="Atkinson Hyperlegible Next" pitchFamily="34" charset="-122"/>
                <a:cs typeface="Atkinson Hyperlegible Next" pitchFamily="34" charset="-120"/>
              </a:rPr>
              <a:t>do rozwiązania</a:t>
            </a:r>
            <a:endParaRPr lang="en-US" sz="5400" dirty="0"/>
          </a:p>
        </p:txBody>
      </p:sp>
      <p:sp>
        <p:nvSpPr>
          <p:cNvPr id="4" name="Text 2"/>
          <p:cNvSpPr txBox="1"/>
          <p:nvPr/>
        </p:nvSpPr>
        <p:spPr>
          <a:xfrm>
            <a:off x="640080" y="3108960"/>
            <a:ext cx="7498080" cy="548640"/>
          </a:xfrm>
          <a:prstGeom prst="rect">
            <a:avLst/>
          </a:prstGeom>
          <a:noFill/>
          <a:ln/>
        </p:spPr>
        <p:txBody>
          <a:bodyPr wrap="square" lIns="0" tIns="0" rIns="0" bIns="0" rtlCol="0" anchor="ctr"/>
          <a:lstStyle/>
          <a:p>
            <a:pPr marL="0" indent="0">
              <a:buNone/>
            </a:pPr>
            <a:r>
              <a:rPr lang="en-US" sz="2800" dirty="0">
                <a:solidFill>
                  <a:srgbClr val="9DC3F7"/>
                </a:solidFill>
                <a:latin typeface="Atkinson Hyperlegible Next" pitchFamily="34" charset="0"/>
                <a:ea typeface="Atkinson Hyperlegible Next" pitchFamily="34" charset="-122"/>
                <a:cs typeface="Atkinson Hyperlegible Next" pitchFamily="34" charset="-120"/>
              </a:rPr>
              <a:t>Droga, nie katalog.</a:t>
            </a:r>
            <a:endParaRPr lang="en-US" sz="2800" dirty="0"/>
          </a:p>
        </p:txBody>
      </p:sp>
      <p:sp>
        <p:nvSpPr>
          <p:cNvPr id="5" name="Shape 3"/>
          <p:cNvSpPr/>
          <p:nvPr/>
        </p:nvSpPr>
        <p:spPr>
          <a:xfrm>
            <a:off x="640080" y="3840480"/>
            <a:ext cx="54864" cy="1371600"/>
          </a:xfrm>
          <a:prstGeom prst="rect">
            <a:avLst/>
          </a:prstGeom>
          <a:solidFill>
            <a:srgbClr val="9DC3F7"/>
          </a:solidFill>
          <a:ln w="12700">
            <a:solidFill>
              <a:srgbClr val="9DC3F7"/>
            </a:solidFill>
            <a:prstDash val="solid"/>
          </a:ln>
        </p:spPr>
      </p:sp>
      <p:sp>
        <p:nvSpPr>
          <p:cNvPr id="6" name="Text 4"/>
          <p:cNvSpPr txBox="1"/>
          <p:nvPr/>
        </p:nvSpPr>
        <p:spPr>
          <a:xfrm>
            <a:off x="868680" y="3794760"/>
            <a:ext cx="6720840" cy="1463040"/>
          </a:xfrm>
          <a:prstGeom prst="rect">
            <a:avLst/>
          </a:prstGeom>
          <a:noFill/>
          <a:ln/>
        </p:spPr>
        <p:txBody>
          <a:bodyPr wrap="square" lIns="0" tIns="0" rIns="0" bIns="0" rtlCol="0" anchor="t"/>
          <a:lstStyle/>
          <a:p>
            <a:pPr marL="0" indent="0">
              <a:lnSpc>
                <a:spcPct val="110000"/>
              </a:lnSpc>
              <a:buNone/>
            </a:pPr>
            <a:r>
              <a:rPr lang="en-US" sz="1500" i="1" dirty="0">
                <a:solidFill>
                  <a:srgbClr val="DCE6F2"/>
                </a:solidFill>
                <a:latin typeface="Atkinson Hyperlegible Next" pitchFamily="34" charset="0"/>
                <a:ea typeface="Atkinson Hyperlegible Next" pitchFamily="34" charset="-122"/>
                <a:cs typeface="Atkinson Hyperlegible Next" pitchFamily="34" charset="-120"/>
              </a:rPr>
              <a:t>„Nie chcemy kolejnego portalu, katalogu ani wyszukiwarki. Chcemy narzędzia, które potrafi połączyć problem z istniejącym rozwiązaniem, wskazać właściwą wiedzę i ludzi, a gdy rozwiązania jeszcze nie ma, pomóc znaleźć drogę do jego stworzenia.”</a:t>
            </a:r>
            <a:endParaRPr lang="en-US" sz="1500" dirty="0"/>
          </a:p>
          <a:p>
            <a:pPr marL="0" indent="0">
              <a:lnSpc>
                <a:spcPct val="110000"/>
              </a:lnSpc>
              <a:spcBef>
                <a:spcPts val="600"/>
              </a:spcBef>
              <a:buNone/>
            </a:pPr>
            <a:r>
              <a:rPr lang="en-US" sz="1100" b="1" dirty="0">
                <a:solidFill>
                  <a:srgbClr val="9DC3F7"/>
                </a:solidFill>
                <a:latin typeface="Atkinson Hyperlegible Next" pitchFamily="34" charset="0"/>
                <a:ea typeface="Atkinson Hyperlegible Next" pitchFamily="34" charset="-122"/>
                <a:cs typeface="Atkinson Hyperlegible Next" pitchFamily="34" charset="-120"/>
              </a:rPr>
              <a:t>ROPS w Krakowie, zadanie HubMI.pl</a:t>
            </a:r>
            <a:endParaRPr lang="en-US" sz="1500" dirty="0"/>
          </a:p>
        </p:txBody>
      </p:sp>
      <p:sp>
        <p:nvSpPr>
          <p:cNvPr id="7" name="Text 5"/>
          <p:cNvSpPr txBox="1"/>
          <p:nvPr/>
        </p:nvSpPr>
        <p:spPr>
          <a:xfrm>
            <a:off x="640080" y="5440680"/>
            <a:ext cx="7498080" cy="914400"/>
          </a:xfrm>
          <a:prstGeom prst="rect">
            <a:avLst/>
          </a:prstGeom>
          <a:noFill/>
          <a:ln/>
        </p:spPr>
        <p:txBody>
          <a:bodyPr wrap="square" lIns="0" tIns="0" rIns="0" bIns="0" rtlCol="0" anchor="t"/>
          <a:lstStyle/>
          <a:p>
            <a:pPr marL="0" indent="0">
              <a:spcAft>
                <a:spcPts val="300"/>
              </a:spcAft>
              <a:buNone/>
            </a:pPr>
            <a:r>
              <a:rPr lang="en-US" sz="1100" b="1" kern="0" spc="200" dirty="0">
                <a:solidFill>
                  <a:srgbClr val="9DC3F7"/>
                </a:solidFill>
                <a:latin typeface="Atkinson Hyperlegible Next" pitchFamily="34" charset="0"/>
                <a:ea typeface="Atkinson Hyperlegible Next" pitchFamily="34" charset="-122"/>
                <a:cs typeface="Atkinson Hyperlegible Next" pitchFamily="34" charset="-120"/>
              </a:rPr>
              <a:t>ZESPÓŁ</a:t>
            </a:r>
            <a:endParaRPr lang="en-US" sz="1400" dirty="0"/>
          </a:p>
          <a:p>
            <a:pPr marL="0" indent="0">
              <a:spcAft>
                <a:spcPts val="300"/>
              </a:spcAft>
              <a:buNone/>
            </a:pPr>
            <a:r>
              <a:rPr lang="en-US" sz="1400" dirty="0">
                <a:solidFill>
                  <a:srgbClr val="FFFFFF"/>
                </a:solidFill>
                <a:latin typeface="Atkinson Hyperlegible Next" pitchFamily="34" charset="0"/>
                <a:ea typeface="Atkinson Hyperlegible Next" pitchFamily="34" charset="-122"/>
                <a:cs typeface="Atkinson Hyperlegible Next" pitchFamily="34" charset="-120"/>
              </a:rPr>
              <a:t>Alexander Bobrovský  ·  Anton Myshelov  ·  Dmytro Chernikov</a:t>
            </a:r>
            <a:endParaRPr lang="en-US" sz="1400" dirty="0"/>
          </a:p>
          <a:p>
            <a:pPr marL="0" indent="0">
              <a:spcAft>
                <a:spcPts val="300"/>
              </a:spcAft>
              <a:buNone/>
            </a:pPr>
            <a:r>
              <a:rPr lang="en-US" sz="1400" dirty="0">
                <a:solidFill>
                  <a:srgbClr val="FFFFFF"/>
                </a:solidFill>
                <a:latin typeface="Atkinson Hyperlegible Next" pitchFamily="34" charset="0"/>
                <a:ea typeface="Atkinson Hyperlegible Next" pitchFamily="34" charset="-122"/>
                <a:cs typeface="Atkinson Hyperlegible Next" pitchFamily="34" charset="-120"/>
              </a:rPr>
              <a:t>Dmytro Ushakov  ·  Krzysztof Zając</a:t>
            </a:r>
            <a:endParaRPr lang="en-US" sz="1400" dirty="0"/>
          </a:p>
        </p:txBody>
      </p:sp>
      <p:pic>
        <p:nvPicPr>
          <p:cNvPr id="8" name="Image 0" descr="C:\Users\bobro\OneDrive\Developer\HackYeah2026\.local\presentation\source\img\phone.png"/>
          <p:cNvPicPr>
            <a:picLocks noChangeAspect="1"/>
          </p:cNvPicPr>
          <p:nvPr/>
        </p:nvPicPr>
        <p:blipFill>
          <a:blip r:embed="rId3"/>
          <a:stretch>
            <a:fillRect/>
          </a:stretch>
        </p:blipFill>
        <p:spPr>
          <a:xfrm>
            <a:off x="8380034" y="369444"/>
            <a:ext cx="3167898" cy="6119113"/>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329184"/>
            <a:ext cx="786384" cy="237744"/>
          </a:xfrm>
          <a:prstGeom prst="roundRect">
            <a:avLst>
              <a:gd name="adj" fmla="val 50000"/>
            </a:avLst>
          </a:prstGeom>
          <a:solidFill>
            <a:srgbClr val="1A4B8C"/>
          </a:solidFill>
          <a:ln w="12700">
            <a:solidFill>
              <a:srgbClr val="1A4B8C"/>
            </a:solidFill>
            <a:prstDash val="solid"/>
          </a:ln>
        </p:spPr>
      </p:sp>
      <p:sp>
        <p:nvSpPr>
          <p:cNvPr id="3" name="Text 1"/>
          <p:cNvSpPr txBox="1"/>
          <p:nvPr/>
        </p:nvSpPr>
        <p:spPr>
          <a:xfrm>
            <a:off x="640080" y="329184"/>
            <a:ext cx="78638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Atkinson Hyperlegible Next" pitchFamily="34" charset="0"/>
                <a:ea typeface="Atkinson Hyperlegible Next" pitchFamily="34" charset="-122"/>
                <a:cs typeface="Atkinson Hyperlegible Next" pitchFamily="34" charset="-120"/>
              </a:rPr>
              <a:t>działa</a:t>
            </a:r>
            <a:endParaRPr lang="en-US" sz="1000" dirty="0"/>
          </a:p>
        </p:txBody>
      </p:sp>
      <p:sp>
        <p:nvSpPr>
          <p:cNvPr id="4" name="Text 2"/>
          <p:cNvSpPr txBox="1"/>
          <p:nvPr/>
        </p:nvSpPr>
        <p:spPr>
          <a:xfrm>
            <a:off x="1563624" y="329184"/>
            <a:ext cx="9987991" cy="237744"/>
          </a:xfrm>
          <a:prstGeom prst="rect">
            <a:avLst/>
          </a:prstGeom>
          <a:noFill/>
          <a:ln/>
        </p:spPr>
        <p:txBody>
          <a:bodyPr wrap="square" lIns="0" tIns="0" rIns="0" bIns="0" rtlCol="0" anchor="ctr"/>
          <a:lstStyle/>
          <a:p>
            <a:pPr marL="0" indent="0">
              <a:buNone/>
            </a:pPr>
            <a:r>
              <a:rPr lang="en-US" sz="1100" b="1" kern="0" spc="100" dirty="0">
                <a:solidFill>
                  <a:srgbClr val="1A4B8C"/>
                </a:solidFill>
                <a:latin typeface="Atkinson Hyperlegible Next" pitchFamily="34" charset="0"/>
                <a:ea typeface="Atkinson Hyperlegible Next" pitchFamily="34" charset="-122"/>
                <a:cs typeface="Atkinson Hyperlegible Next" pitchFamily="34" charset="-120"/>
              </a:rPr>
              <a:t>MODUŁ I  ·  MATCHMAKING SPOŁECZNY, MODUŁ OBOWIĄZKOWY</a:t>
            </a:r>
            <a:endParaRPr lang="en-US" sz="1100" dirty="0"/>
          </a:p>
        </p:txBody>
      </p:sp>
      <p:sp>
        <p:nvSpPr>
          <p:cNvPr id="5" name="Text 3"/>
          <p:cNvSpPr txBox="1"/>
          <p:nvPr/>
        </p:nvSpPr>
        <p:spPr>
          <a:xfrm>
            <a:off x="640080" y="676656"/>
            <a:ext cx="10911535" cy="914400"/>
          </a:xfrm>
          <a:prstGeom prst="rect">
            <a:avLst/>
          </a:prstGeom>
          <a:noFill/>
          <a:ln/>
        </p:spPr>
        <p:txBody>
          <a:bodyPr wrap="square" lIns="0" tIns="0" rIns="0" bIns="0" rtlCol="0" anchor="t"/>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Opisz potrzebę, poznaj drogę</a:t>
            </a:r>
            <a:endParaRPr lang="en-US" sz="3200" dirty="0"/>
          </a:p>
          <a:p>
            <a:pPr marL="0" indent="0">
              <a:spcBef>
                <a:spcPts val="600"/>
              </a:spcBef>
              <a:buNone/>
            </a:pPr>
            <a:r>
              <a:rPr lang="en-US" sz="1600" b="1" dirty="0">
                <a:solidFill>
                  <a:srgbClr val="1A4B8C"/>
                </a:solidFill>
                <a:latin typeface="Atkinson Hyperlegible Next" pitchFamily="34" charset="0"/>
                <a:ea typeface="Atkinson Hyperlegible Next" pitchFamily="34" charset="-122"/>
                <a:cs typeface="Atkinson Hyperlegible Next" pitchFamily="34" charset="-120"/>
              </a:rPr>
              <a:t>Wymaganie: system „proponuje gotowe rozwiązania/innowacje społeczne”.</a:t>
            </a:r>
            <a:r>
              <a:rPr lang="en-US" sz="1600" dirty="0">
                <a:solidFill>
                  <a:srgbClr val="454D57"/>
                </a:solidFill>
                <a:latin typeface="Atkinson Hyperlegible Next" pitchFamily="34" charset="0"/>
                <a:ea typeface="Atkinson Hyperlegible Next" pitchFamily="34" charset="-122"/>
                <a:cs typeface="Atkinson Hyperlegible Next" pitchFamily="34" charset="-120"/>
              </a:rPr>
              <a:t>  Prawdziwa droga z prototypu</a:t>
            </a:r>
            <a:endParaRPr lang="en-US" sz="3200" dirty="0"/>
          </a:p>
        </p:txBody>
      </p:sp>
      <p:sp>
        <p:nvSpPr>
          <p:cNvPr id="6" name="Text 4"/>
          <p:cNvSpPr txBox="1"/>
          <p:nvPr/>
        </p:nvSpPr>
        <p:spPr>
          <a:xfrm>
            <a:off x="640080" y="1691640"/>
            <a:ext cx="3291840" cy="274320"/>
          </a:xfrm>
          <a:prstGeom prst="rect">
            <a:avLst/>
          </a:prstGeom>
          <a:noFill/>
          <a:ln/>
        </p:spPr>
        <p:txBody>
          <a:bodyPr wrap="square" lIns="0" tIns="0" rIns="0" bIns="0" rtlCol="0" anchor="ctr"/>
          <a:lstStyle/>
          <a:p>
            <a:pPr marL="0" indent="0">
              <a:buNone/>
            </a:pPr>
            <a:r>
              <a:rPr lang="en-US" sz="1100" b="1" kern="0" spc="100" dirty="0">
                <a:solidFill>
                  <a:srgbClr val="454D57"/>
                </a:solidFill>
                <a:latin typeface="Atkinson Hyperlegible Next" pitchFamily="34" charset="0"/>
                <a:ea typeface="Atkinson Hyperlegible Next" pitchFamily="34" charset="-122"/>
                <a:cs typeface="Atkinson Hyperlegible Next" pitchFamily="34" charset="-120"/>
              </a:rPr>
              <a:t>POTRZEBA  ·  PRZYPADEK TESTOWY P01</a:t>
            </a:r>
            <a:endParaRPr lang="en-US" sz="1100" dirty="0"/>
          </a:p>
        </p:txBody>
      </p:sp>
      <p:sp>
        <p:nvSpPr>
          <p:cNvPr id="7" name="Shape 5"/>
          <p:cNvSpPr/>
          <p:nvPr/>
        </p:nvSpPr>
        <p:spPr>
          <a:xfrm>
            <a:off x="640080" y="2057400"/>
            <a:ext cx="3017520" cy="3429000"/>
          </a:xfrm>
          <a:prstGeom prst="roundRect">
            <a:avLst>
              <a:gd name="adj" fmla="val 3636"/>
            </a:avLst>
          </a:prstGeom>
          <a:solidFill>
            <a:srgbClr val="EEF4FB"/>
          </a:solidFill>
          <a:ln w="12700">
            <a:solidFill>
              <a:srgbClr val="EEF4FB"/>
            </a:solidFill>
            <a:prstDash val="solid"/>
          </a:ln>
        </p:spPr>
      </p:sp>
      <p:sp>
        <p:nvSpPr>
          <p:cNvPr id="8" name="Text 6"/>
          <p:cNvSpPr txBox="1"/>
          <p:nvPr/>
        </p:nvSpPr>
        <p:spPr>
          <a:xfrm>
            <a:off x="841248" y="2194560"/>
            <a:ext cx="2615184" cy="2560320"/>
          </a:xfrm>
          <a:prstGeom prst="rect">
            <a:avLst/>
          </a:prstGeom>
          <a:noFill/>
          <a:ln/>
        </p:spPr>
        <p:txBody>
          <a:bodyPr wrap="square" lIns="0" tIns="0" rIns="0" bIns="0" rtlCol="0" anchor="t"/>
          <a:lstStyle/>
          <a:p>
            <a:pPr marL="0" indent="0">
              <a:lnSpc>
                <a:spcPct val="112000"/>
              </a:lnSpc>
              <a:buNone/>
            </a:pPr>
            <a:r>
              <a:rPr lang="en-US" sz="1500" i="1" dirty="0">
                <a:solidFill>
                  <a:srgbClr val="14171A"/>
                </a:solidFill>
                <a:latin typeface="Atkinson Hyperlegible Next" pitchFamily="34" charset="0"/>
                <a:ea typeface="Atkinson Hyperlegible Next" pitchFamily="34" charset="-122"/>
                <a:cs typeface="Atkinson Hyperlegible Next" pitchFamily="34" charset="-120"/>
              </a:rPr>
              <a:t>„Coraz więcej samotnych seniorów w naszej gminie. Nie ma domu dziennego pobytu ani klubu seniora, a sąsiedzi zgłaszają, że starsze osoby nie wychodzą z domu i nie mają z kim porozmawiać. Gmina ma świetlicę wiejską wolną trzy dni w tygodniu.”</a:t>
            </a:r>
            <a:endParaRPr lang="en-US" sz="1500" dirty="0"/>
          </a:p>
        </p:txBody>
      </p:sp>
      <p:sp>
        <p:nvSpPr>
          <p:cNvPr id="9" name="Text 7"/>
          <p:cNvSpPr txBox="1"/>
          <p:nvPr/>
        </p:nvSpPr>
        <p:spPr>
          <a:xfrm>
            <a:off x="841248" y="4846320"/>
            <a:ext cx="2615184" cy="594360"/>
          </a:xfrm>
          <a:prstGeom prst="rect">
            <a:avLst/>
          </a:prstGeom>
          <a:noFill/>
          <a:ln/>
        </p:spPr>
        <p:txBody>
          <a:bodyPr wrap="square" lIns="0" tIns="0" rIns="0" bIns="0" rtlCol="0" anchor="t"/>
          <a:lstStyle/>
          <a:p>
            <a:pPr marL="0" indent="0">
              <a:spcAft>
                <a:spcPts val="200"/>
              </a:spcAft>
              <a:buNone/>
            </a:pPr>
            <a:r>
              <a:rPr lang="en-US" sz="1300" dirty="0">
                <a:solidFill>
                  <a:srgbClr val="454D57"/>
                </a:solidFill>
                <a:latin typeface="Atkinson Hyperlegible Next" pitchFamily="34" charset="0"/>
                <a:ea typeface="Atkinson Hyperlegible Next" pitchFamily="34" charset="-122"/>
                <a:cs typeface="Atkinson Hyperlegible Next" pitchFamily="34" charset="-120"/>
              </a:rPr>
              <a:t>Miejsce  </a:t>
            </a:r>
            <a:r>
              <a:rPr lang="en-US" sz="1300" b="1" dirty="0">
                <a:solidFill>
                  <a:srgbClr val="14171A"/>
                </a:solidFill>
                <a:latin typeface="Atkinson Hyperlegible Next" pitchFamily="34" charset="0"/>
                <a:ea typeface="Atkinson Hyperlegible Next" pitchFamily="34" charset="-122"/>
                <a:cs typeface="Atkinson Hyperlegible Next" pitchFamily="34" charset="-120"/>
              </a:rPr>
              <a:t>gmina Laskowa</a:t>
            </a:r>
            <a:endParaRPr lang="en-US" sz="1300" dirty="0"/>
          </a:p>
          <a:p>
            <a:pPr marL="0" indent="0">
              <a:spcAft>
                <a:spcPts val="200"/>
              </a:spcAft>
              <a:buNone/>
            </a:pPr>
            <a:r>
              <a:rPr lang="en-US" sz="1300" dirty="0">
                <a:solidFill>
                  <a:srgbClr val="454D57"/>
                </a:solidFill>
                <a:latin typeface="Atkinson Hyperlegible Next" pitchFamily="34" charset="0"/>
                <a:ea typeface="Atkinson Hyperlegible Next" pitchFamily="34" charset="-122"/>
                <a:cs typeface="Atkinson Hyperlegible Next" pitchFamily="34" charset="-120"/>
              </a:rPr>
              <a:t>Zgłasza  </a:t>
            </a:r>
            <a:r>
              <a:rPr lang="en-US" sz="1300" b="1" dirty="0">
                <a:solidFill>
                  <a:srgbClr val="14171A"/>
                </a:solidFill>
                <a:latin typeface="Atkinson Hyperlegible Next" pitchFamily="34" charset="0"/>
                <a:ea typeface="Atkinson Hyperlegible Next" pitchFamily="34" charset="-122"/>
                <a:cs typeface="Atkinson Hyperlegible Next" pitchFamily="34" charset="-120"/>
              </a:rPr>
              <a:t>pracownik instytucji</a:t>
            </a:r>
            <a:endParaRPr lang="en-US" sz="1300" dirty="0"/>
          </a:p>
        </p:txBody>
      </p:sp>
      <p:sp>
        <p:nvSpPr>
          <p:cNvPr id="10" name="Shape 8"/>
          <p:cNvSpPr/>
          <p:nvPr/>
        </p:nvSpPr>
        <p:spPr>
          <a:xfrm>
            <a:off x="2971800" y="5733288"/>
            <a:ext cx="685800" cy="384048"/>
          </a:xfrm>
          <a:prstGeom prst="rightArrow">
            <a:avLst/>
          </a:prstGeom>
          <a:solidFill>
            <a:srgbClr val="1A4B8C"/>
          </a:solidFill>
          <a:ln w="12700">
            <a:solidFill>
              <a:srgbClr val="1A4B8C"/>
            </a:solidFill>
            <a:prstDash val="solid"/>
          </a:ln>
        </p:spPr>
      </p:sp>
      <p:sp>
        <p:nvSpPr>
          <p:cNvPr id="11" name="Text 9"/>
          <p:cNvSpPr txBox="1"/>
          <p:nvPr/>
        </p:nvSpPr>
        <p:spPr>
          <a:xfrm>
            <a:off x="640080" y="5605272"/>
            <a:ext cx="2194560" cy="640080"/>
          </a:xfrm>
          <a:prstGeom prst="rect">
            <a:avLst/>
          </a:prstGeom>
          <a:noFill/>
          <a:ln/>
        </p:spPr>
        <p:txBody>
          <a:bodyPr wrap="square" lIns="0" tIns="0" rIns="0" bIns="0" rtlCol="0" anchor="ctr"/>
          <a:lstStyle/>
          <a:p>
            <a:pPr marL="0" indent="0">
              <a:buNone/>
            </a:pPr>
            <a:r>
              <a:rPr lang="en-US" sz="1200" dirty="0">
                <a:solidFill>
                  <a:srgbClr val="14171A"/>
                </a:solidFill>
                <a:latin typeface="Atkinson Hyperlegible Next" pitchFamily="34" charset="0"/>
                <a:ea typeface="Atkinson Hyperlegible Next" pitchFamily="34" charset="-122"/>
                <a:cs typeface="Atkinson Hyperlegible Next" pitchFamily="34" charset="-120"/>
              </a:rPr>
              <a:t>Każdy cytat porównujemy z opisem w katalogu. Tekst wygenerowany przez AI jest oznaczony.</a:t>
            </a:r>
            <a:endParaRPr lang="en-US" sz="1200" dirty="0"/>
          </a:p>
        </p:txBody>
      </p:sp>
      <p:sp>
        <p:nvSpPr>
          <p:cNvPr id="12" name="Shape 10"/>
          <p:cNvSpPr/>
          <p:nvPr/>
        </p:nvSpPr>
        <p:spPr>
          <a:xfrm>
            <a:off x="3977640" y="1691640"/>
            <a:ext cx="292608" cy="292608"/>
          </a:xfrm>
          <a:prstGeom prst="ellipse">
            <a:avLst/>
          </a:prstGeom>
          <a:solidFill>
            <a:srgbClr val="FFFFFF"/>
          </a:solidFill>
          <a:ln w="19050">
            <a:solidFill>
              <a:srgbClr val="1A4B8C"/>
            </a:solidFill>
            <a:prstDash val="solid"/>
          </a:ln>
        </p:spPr>
      </p:sp>
      <p:sp>
        <p:nvSpPr>
          <p:cNvPr id="13" name="Text 11"/>
          <p:cNvSpPr txBox="1"/>
          <p:nvPr/>
        </p:nvSpPr>
        <p:spPr>
          <a:xfrm>
            <a:off x="3977640" y="1691640"/>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1</a:t>
            </a:r>
            <a:endParaRPr lang="en-US" sz="1200" dirty="0"/>
          </a:p>
        </p:txBody>
      </p:sp>
      <p:sp>
        <p:nvSpPr>
          <p:cNvPr id="14" name="Text 12"/>
          <p:cNvSpPr txBox="1"/>
          <p:nvPr/>
        </p:nvSpPr>
        <p:spPr>
          <a:xfrm>
            <a:off x="4361688" y="1691640"/>
            <a:ext cx="3288640" cy="292608"/>
          </a:xfrm>
          <a:prstGeom prst="rect">
            <a:avLst/>
          </a:prstGeom>
          <a:noFill/>
          <a:ln/>
        </p:spPr>
        <p:txBody>
          <a:bodyPr wrap="square" lIns="0" tIns="0" rIns="0" bIns="0" rtlCol="0" anchor="ctr"/>
          <a:lstStyle/>
          <a:p>
            <a:pPr marL="0" indent="0">
              <a:buNone/>
            </a:pPr>
            <a:r>
              <a:rPr lang="en-US" sz="1400" b="1" dirty="0">
                <a:solidFill>
                  <a:srgbClr val="14171A"/>
                </a:solidFill>
                <a:latin typeface="Atkinson Hyperlegible Next" pitchFamily="34" charset="0"/>
                <a:ea typeface="Atkinson Hyperlegible Next" pitchFamily="34" charset="-122"/>
                <a:cs typeface="Atkinson Hyperlegible Next" pitchFamily="34" charset="-120"/>
              </a:rPr>
              <a:t>Rozwiązania  </a:t>
            </a:r>
            <a:r>
              <a:rPr lang="en-US" sz="1100" dirty="0">
                <a:solidFill>
                  <a:srgbClr val="454D57"/>
                </a:solidFill>
                <a:latin typeface="Atkinson Hyperlegible Next" pitchFamily="34" charset="0"/>
                <a:ea typeface="Atkinson Hyperlegible Next" pitchFamily="34" charset="-122"/>
                <a:cs typeface="Atkinson Hyperlegible Next" pitchFamily="34" charset="-120"/>
              </a:rPr>
              <a:t>dlaczego pasują, czego wymagają</a:t>
            </a:r>
            <a:endParaRPr lang="en-US" sz="1400" dirty="0"/>
          </a:p>
        </p:txBody>
      </p:sp>
      <p:sp>
        <p:nvSpPr>
          <p:cNvPr id="15" name="Shape 13"/>
          <p:cNvSpPr/>
          <p:nvPr/>
        </p:nvSpPr>
        <p:spPr>
          <a:xfrm>
            <a:off x="3977640" y="2075688"/>
            <a:ext cx="3672688" cy="1904921"/>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16" name="Image 0" descr="C:\Users\bobro\OneDrive\Developer\HackYeah2026\.local\presentation\source\img\b-solution.png"/>
          <p:cNvPicPr>
            <a:picLocks noChangeAspect="1"/>
          </p:cNvPicPr>
          <p:nvPr/>
        </p:nvPicPr>
        <p:blipFill>
          <a:blip r:embed="rId3"/>
          <a:stretch>
            <a:fillRect/>
          </a:stretch>
        </p:blipFill>
        <p:spPr>
          <a:xfrm>
            <a:off x="3977640" y="2075688"/>
            <a:ext cx="3672688" cy="1904921"/>
          </a:xfrm>
          <a:prstGeom prst="rect">
            <a:avLst/>
          </a:prstGeom>
        </p:spPr>
      </p:pic>
      <p:sp>
        <p:nvSpPr>
          <p:cNvPr id="17" name="Shape 14"/>
          <p:cNvSpPr/>
          <p:nvPr/>
        </p:nvSpPr>
        <p:spPr>
          <a:xfrm>
            <a:off x="3977640" y="2075688"/>
            <a:ext cx="3672688" cy="1904921"/>
          </a:xfrm>
          <a:prstGeom prst="rect">
            <a:avLst/>
          </a:prstGeom>
          <a:solidFill>
            <a:srgbClr val="FFFFFF">
              <a:alpha val="0"/>
            </a:srgbClr>
          </a:solidFill>
          <a:ln w="9525">
            <a:solidFill>
              <a:srgbClr val="C3CAD3"/>
            </a:solidFill>
            <a:prstDash val="solid"/>
          </a:ln>
        </p:spPr>
      </p:sp>
      <p:sp>
        <p:nvSpPr>
          <p:cNvPr id="18" name="Shape 15"/>
          <p:cNvSpPr/>
          <p:nvPr/>
        </p:nvSpPr>
        <p:spPr>
          <a:xfrm>
            <a:off x="7878928" y="1691640"/>
            <a:ext cx="292608" cy="292608"/>
          </a:xfrm>
          <a:prstGeom prst="ellipse">
            <a:avLst/>
          </a:prstGeom>
          <a:solidFill>
            <a:srgbClr val="FFFFFF"/>
          </a:solidFill>
          <a:ln w="19050">
            <a:solidFill>
              <a:srgbClr val="1A4B8C"/>
            </a:solidFill>
            <a:prstDash val="solid"/>
          </a:ln>
        </p:spPr>
      </p:sp>
      <p:sp>
        <p:nvSpPr>
          <p:cNvPr id="19" name="Text 16"/>
          <p:cNvSpPr txBox="1"/>
          <p:nvPr/>
        </p:nvSpPr>
        <p:spPr>
          <a:xfrm>
            <a:off x="7878928" y="1691640"/>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2</a:t>
            </a:r>
            <a:endParaRPr lang="en-US" sz="1200" dirty="0"/>
          </a:p>
        </p:txBody>
      </p:sp>
      <p:sp>
        <p:nvSpPr>
          <p:cNvPr id="20" name="Text 17"/>
          <p:cNvSpPr txBox="1"/>
          <p:nvPr/>
        </p:nvSpPr>
        <p:spPr>
          <a:xfrm>
            <a:off x="8262976" y="1691640"/>
            <a:ext cx="3288640" cy="292608"/>
          </a:xfrm>
          <a:prstGeom prst="rect">
            <a:avLst/>
          </a:prstGeom>
          <a:noFill/>
          <a:ln/>
        </p:spPr>
        <p:txBody>
          <a:bodyPr wrap="square" lIns="0" tIns="0" rIns="0" bIns="0" rtlCol="0" anchor="ctr"/>
          <a:lstStyle/>
          <a:p>
            <a:pPr marL="0" indent="0">
              <a:buNone/>
            </a:pPr>
            <a:r>
              <a:rPr lang="en-US" sz="1400" b="1" dirty="0">
                <a:solidFill>
                  <a:srgbClr val="14171A"/>
                </a:solidFill>
                <a:latin typeface="Atkinson Hyperlegible Next" pitchFamily="34" charset="0"/>
                <a:ea typeface="Atkinson Hyperlegible Next" pitchFamily="34" charset="-122"/>
                <a:cs typeface="Atkinson Hyperlegible Next" pitchFamily="34" charset="-120"/>
              </a:rPr>
              <a:t>Wiedza  </a:t>
            </a:r>
            <a:r>
              <a:rPr lang="en-US" sz="1100" dirty="0">
                <a:solidFill>
                  <a:srgbClr val="454D57"/>
                </a:solidFill>
                <a:latin typeface="Atkinson Hyperlegible Next" pitchFamily="34" charset="0"/>
                <a:ea typeface="Atkinson Hyperlegible Next" pitchFamily="34" charset="-122"/>
                <a:cs typeface="Atkinson Hyperlegible Next" pitchFamily="34" charset="-120"/>
              </a:rPr>
              <a:t>poradniki i modele usług</a:t>
            </a:r>
            <a:endParaRPr lang="en-US" sz="1400" dirty="0"/>
          </a:p>
        </p:txBody>
      </p:sp>
      <p:sp>
        <p:nvSpPr>
          <p:cNvPr id="21" name="Shape 18"/>
          <p:cNvSpPr/>
          <p:nvPr/>
        </p:nvSpPr>
        <p:spPr>
          <a:xfrm>
            <a:off x="7878928" y="2075688"/>
            <a:ext cx="3672688" cy="1904921"/>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22" name="Image 1" descr="C:\Users\bobro\OneDrive\Developer\HackYeah2026\.local\presentation\source\img\b-knowledge.png"/>
          <p:cNvPicPr>
            <a:picLocks noChangeAspect="1"/>
          </p:cNvPicPr>
          <p:nvPr/>
        </p:nvPicPr>
        <p:blipFill>
          <a:blip r:embed="rId4"/>
          <a:stretch>
            <a:fillRect/>
          </a:stretch>
        </p:blipFill>
        <p:spPr>
          <a:xfrm>
            <a:off x="7878928" y="2075688"/>
            <a:ext cx="3672688" cy="1904921"/>
          </a:xfrm>
          <a:prstGeom prst="rect">
            <a:avLst/>
          </a:prstGeom>
        </p:spPr>
      </p:pic>
      <p:sp>
        <p:nvSpPr>
          <p:cNvPr id="23" name="Shape 19"/>
          <p:cNvSpPr/>
          <p:nvPr/>
        </p:nvSpPr>
        <p:spPr>
          <a:xfrm>
            <a:off x="7878928" y="2075688"/>
            <a:ext cx="3672688" cy="1904921"/>
          </a:xfrm>
          <a:prstGeom prst="rect">
            <a:avLst/>
          </a:prstGeom>
          <a:solidFill>
            <a:srgbClr val="FFFFFF">
              <a:alpha val="0"/>
            </a:srgbClr>
          </a:solidFill>
          <a:ln w="9525">
            <a:solidFill>
              <a:srgbClr val="C3CAD3"/>
            </a:solidFill>
            <a:prstDash val="solid"/>
          </a:ln>
        </p:spPr>
      </p:sp>
      <p:sp>
        <p:nvSpPr>
          <p:cNvPr id="24" name="Shape 20"/>
          <p:cNvSpPr/>
          <p:nvPr/>
        </p:nvSpPr>
        <p:spPr>
          <a:xfrm>
            <a:off x="3977640" y="4163489"/>
            <a:ext cx="292608" cy="292608"/>
          </a:xfrm>
          <a:prstGeom prst="ellipse">
            <a:avLst/>
          </a:prstGeom>
          <a:solidFill>
            <a:srgbClr val="FFFFFF"/>
          </a:solidFill>
          <a:ln w="19050">
            <a:solidFill>
              <a:srgbClr val="1A4B8C"/>
            </a:solidFill>
            <a:prstDash val="solid"/>
          </a:ln>
        </p:spPr>
      </p:sp>
      <p:sp>
        <p:nvSpPr>
          <p:cNvPr id="25" name="Text 21"/>
          <p:cNvSpPr txBox="1"/>
          <p:nvPr/>
        </p:nvSpPr>
        <p:spPr>
          <a:xfrm>
            <a:off x="3977640" y="4163489"/>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3</a:t>
            </a:r>
            <a:endParaRPr lang="en-US" sz="1200" dirty="0"/>
          </a:p>
        </p:txBody>
      </p:sp>
      <p:sp>
        <p:nvSpPr>
          <p:cNvPr id="26" name="Text 22"/>
          <p:cNvSpPr txBox="1"/>
          <p:nvPr/>
        </p:nvSpPr>
        <p:spPr>
          <a:xfrm>
            <a:off x="4361688" y="4163489"/>
            <a:ext cx="3288640" cy="292608"/>
          </a:xfrm>
          <a:prstGeom prst="rect">
            <a:avLst/>
          </a:prstGeom>
          <a:noFill/>
          <a:ln/>
        </p:spPr>
        <p:txBody>
          <a:bodyPr wrap="square" lIns="0" tIns="0" rIns="0" bIns="0" rtlCol="0" anchor="ctr"/>
          <a:lstStyle/>
          <a:p>
            <a:pPr marL="0" indent="0">
              <a:buNone/>
            </a:pPr>
            <a:r>
              <a:rPr lang="en-US" sz="1400" b="1" dirty="0">
                <a:solidFill>
                  <a:srgbClr val="14171A"/>
                </a:solidFill>
                <a:latin typeface="Atkinson Hyperlegible Next" pitchFamily="34" charset="0"/>
                <a:ea typeface="Atkinson Hyperlegible Next" pitchFamily="34" charset="-122"/>
                <a:cs typeface="Atkinson Hyperlegible Next" pitchFamily="34" charset="-120"/>
              </a:rPr>
              <a:t>Ludzie  </a:t>
            </a:r>
            <a:r>
              <a:rPr lang="en-US" sz="1100" dirty="0">
                <a:solidFill>
                  <a:srgbClr val="454D57"/>
                </a:solidFill>
                <a:latin typeface="Atkinson Hyperlegible Next" pitchFamily="34" charset="0"/>
                <a:ea typeface="Atkinson Hyperlegible Next" pitchFamily="34" charset="-122"/>
                <a:cs typeface="Atkinson Hyperlegible Next" pitchFamily="34" charset="-120"/>
              </a:rPr>
              <a:t>autorzy, opiekun, chętni do pomocy</a:t>
            </a:r>
            <a:endParaRPr lang="en-US" sz="1400" dirty="0"/>
          </a:p>
        </p:txBody>
      </p:sp>
      <p:sp>
        <p:nvSpPr>
          <p:cNvPr id="27" name="Shape 23"/>
          <p:cNvSpPr/>
          <p:nvPr/>
        </p:nvSpPr>
        <p:spPr>
          <a:xfrm>
            <a:off x="3977640" y="4547537"/>
            <a:ext cx="3672688" cy="1904921"/>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28" name="Image 2" descr="C:\Users\bobro\OneDrive\Developer\HackYeah2026\.local\presentation\source\img\b-people.png"/>
          <p:cNvPicPr>
            <a:picLocks noChangeAspect="1"/>
          </p:cNvPicPr>
          <p:nvPr/>
        </p:nvPicPr>
        <p:blipFill>
          <a:blip r:embed="rId5"/>
          <a:stretch>
            <a:fillRect/>
          </a:stretch>
        </p:blipFill>
        <p:spPr>
          <a:xfrm>
            <a:off x="3977640" y="4547537"/>
            <a:ext cx="3672688" cy="1904921"/>
          </a:xfrm>
          <a:prstGeom prst="rect">
            <a:avLst/>
          </a:prstGeom>
        </p:spPr>
      </p:pic>
      <p:sp>
        <p:nvSpPr>
          <p:cNvPr id="29" name="Shape 24"/>
          <p:cNvSpPr/>
          <p:nvPr/>
        </p:nvSpPr>
        <p:spPr>
          <a:xfrm>
            <a:off x="3977640" y="4547537"/>
            <a:ext cx="3672688" cy="1904921"/>
          </a:xfrm>
          <a:prstGeom prst="rect">
            <a:avLst/>
          </a:prstGeom>
          <a:solidFill>
            <a:srgbClr val="FFFFFF">
              <a:alpha val="0"/>
            </a:srgbClr>
          </a:solidFill>
          <a:ln w="9525">
            <a:solidFill>
              <a:srgbClr val="C3CAD3"/>
            </a:solidFill>
            <a:prstDash val="solid"/>
          </a:ln>
        </p:spPr>
      </p:sp>
      <p:sp>
        <p:nvSpPr>
          <p:cNvPr id="30" name="Shape 25"/>
          <p:cNvSpPr/>
          <p:nvPr/>
        </p:nvSpPr>
        <p:spPr>
          <a:xfrm>
            <a:off x="7878928" y="4163489"/>
            <a:ext cx="292608" cy="292608"/>
          </a:xfrm>
          <a:prstGeom prst="ellipse">
            <a:avLst/>
          </a:prstGeom>
          <a:solidFill>
            <a:srgbClr val="FFFFFF"/>
          </a:solidFill>
          <a:ln w="19050">
            <a:solidFill>
              <a:srgbClr val="1A4B8C"/>
            </a:solidFill>
            <a:prstDash val="solid"/>
          </a:ln>
        </p:spPr>
      </p:sp>
      <p:sp>
        <p:nvSpPr>
          <p:cNvPr id="31" name="Text 26"/>
          <p:cNvSpPr txBox="1"/>
          <p:nvPr/>
        </p:nvSpPr>
        <p:spPr>
          <a:xfrm>
            <a:off x="7878928" y="4163489"/>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4</a:t>
            </a:r>
            <a:endParaRPr lang="en-US" sz="1200" dirty="0"/>
          </a:p>
        </p:txBody>
      </p:sp>
      <p:sp>
        <p:nvSpPr>
          <p:cNvPr id="32" name="Text 27"/>
          <p:cNvSpPr txBox="1"/>
          <p:nvPr/>
        </p:nvSpPr>
        <p:spPr>
          <a:xfrm>
            <a:off x="8262976" y="4163489"/>
            <a:ext cx="3288640" cy="292608"/>
          </a:xfrm>
          <a:prstGeom prst="rect">
            <a:avLst/>
          </a:prstGeom>
          <a:noFill/>
          <a:ln/>
        </p:spPr>
        <p:txBody>
          <a:bodyPr wrap="square" lIns="0" tIns="0" rIns="0" bIns="0" rtlCol="0" anchor="ctr"/>
          <a:lstStyle/>
          <a:p>
            <a:pPr marL="0" indent="0">
              <a:buNone/>
            </a:pPr>
            <a:r>
              <a:rPr lang="en-US" sz="1400" b="1" dirty="0">
                <a:solidFill>
                  <a:srgbClr val="14171A"/>
                </a:solidFill>
                <a:latin typeface="Atkinson Hyperlegible Next" pitchFamily="34" charset="0"/>
                <a:ea typeface="Atkinson Hyperlegible Next" pitchFamily="34" charset="-122"/>
                <a:cs typeface="Atkinson Hyperlegible Next" pitchFamily="34" charset="-120"/>
              </a:rPr>
              <a:t>Ścieżka wdrożenia  </a:t>
            </a:r>
            <a:r>
              <a:rPr lang="en-US" sz="1100" dirty="0">
                <a:solidFill>
                  <a:srgbClr val="454D57"/>
                </a:solidFill>
                <a:latin typeface="Atkinson Hyperlegible Next" pitchFamily="34" charset="0"/>
                <a:ea typeface="Atkinson Hyperlegible Next" pitchFamily="34" charset="-122"/>
                <a:cs typeface="Atkinson Hyperlegible Next" pitchFamily="34" charset="-120"/>
              </a:rPr>
              <a:t>finansowanie i kroki</a:t>
            </a:r>
            <a:endParaRPr lang="en-US" sz="1400" dirty="0"/>
          </a:p>
        </p:txBody>
      </p:sp>
      <p:sp>
        <p:nvSpPr>
          <p:cNvPr id="33" name="Shape 28"/>
          <p:cNvSpPr/>
          <p:nvPr/>
        </p:nvSpPr>
        <p:spPr>
          <a:xfrm>
            <a:off x="7878928" y="4547537"/>
            <a:ext cx="3672688" cy="1904921"/>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34" name="Image 3" descr="C:\Users\bobro\OneDrive\Developer\HackYeah2026\.local\presentation\source\img\b-path.png"/>
          <p:cNvPicPr>
            <a:picLocks noChangeAspect="1"/>
          </p:cNvPicPr>
          <p:nvPr/>
        </p:nvPicPr>
        <p:blipFill>
          <a:blip r:embed="rId6"/>
          <a:stretch>
            <a:fillRect/>
          </a:stretch>
        </p:blipFill>
        <p:spPr>
          <a:xfrm>
            <a:off x="7878928" y="4547537"/>
            <a:ext cx="3672688" cy="1904921"/>
          </a:xfrm>
          <a:prstGeom prst="rect">
            <a:avLst/>
          </a:prstGeom>
        </p:spPr>
      </p:pic>
      <p:sp>
        <p:nvSpPr>
          <p:cNvPr id="35" name="Shape 29"/>
          <p:cNvSpPr/>
          <p:nvPr/>
        </p:nvSpPr>
        <p:spPr>
          <a:xfrm>
            <a:off x="7878928" y="4547537"/>
            <a:ext cx="3672688" cy="1904921"/>
          </a:xfrm>
          <a:prstGeom prst="rect">
            <a:avLst/>
          </a:prstGeom>
          <a:solidFill>
            <a:srgbClr val="FFFFFF">
              <a:alpha val="0"/>
            </a:srgbClr>
          </a:solidFill>
          <a:ln w="9525">
            <a:solidFill>
              <a:srgbClr val="C3CAD3"/>
            </a:solidFill>
            <a:prstDash val="solid"/>
          </a:ln>
        </p:spPr>
      </p:sp>
      <p:sp>
        <p:nvSpPr>
          <p:cNvPr id="36" name="Text 30"/>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2 / 9</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329184"/>
            <a:ext cx="786384" cy="237744"/>
          </a:xfrm>
          <a:prstGeom prst="roundRect">
            <a:avLst>
              <a:gd name="adj" fmla="val 50000"/>
            </a:avLst>
          </a:prstGeom>
          <a:solidFill>
            <a:srgbClr val="1A4B8C"/>
          </a:solidFill>
          <a:ln w="12700">
            <a:solidFill>
              <a:srgbClr val="1A4B8C"/>
            </a:solidFill>
            <a:prstDash val="solid"/>
          </a:ln>
        </p:spPr>
      </p:sp>
      <p:sp>
        <p:nvSpPr>
          <p:cNvPr id="3" name="Text 1"/>
          <p:cNvSpPr txBox="1"/>
          <p:nvPr/>
        </p:nvSpPr>
        <p:spPr>
          <a:xfrm>
            <a:off x="640080" y="329184"/>
            <a:ext cx="78638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Atkinson Hyperlegible Next" pitchFamily="34" charset="0"/>
                <a:ea typeface="Atkinson Hyperlegible Next" pitchFamily="34" charset="-122"/>
                <a:cs typeface="Atkinson Hyperlegible Next" pitchFamily="34" charset="-120"/>
              </a:rPr>
              <a:t>działa</a:t>
            </a:r>
            <a:endParaRPr lang="en-US" sz="1000" dirty="0"/>
          </a:p>
        </p:txBody>
      </p:sp>
      <p:sp>
        <p:nvSpPr>
          <p:cNvPr id="4" name="Text 2"/>
          <p:cNvSpPr txBox="1"/>
          <p:nvPr/>
        </p:nvSpPr>
        <p:spPr>
          <a:xfrm>
            <a:off x="1563624" y="329184"/>
            <a:ext cx="9987991" cy="237744"/>
          </a:xfrm>
          <a:prstGeom prst="rect">
            <a:avLst/>
          </a:prstGeom>
          <a:noFill/>
          <a:ln/>
        </p:spPr>
        <p:txBody>
          <a:bodyPr wrap="square" lIns="0" tIns="0" rIns="0" bIns="0" rtlCol="0" anchor="ctr"/>
          <a:lstStyle/>
          <a:p>
            <a:pPr marL="0" indent="0">
              <a:buNone/>
            </a:pPr>
            <a:r>
              <a:rPr lang="en-US" sz="1100" b="1" kern="0" spc="100" dirty="0">
                <a:solidFill>
                  <a:srgbClr val="1A4B8C"/>
                </a:solidFill>
                <a:latin typeface="Atkinson Hyperlegible Next" pitchFamily="34" charset="0"/>
                <a:ea typeface="Atkinson Hyperlegible Next" pitchFamily="34" charset="-122"/>
                <a:cs typeface="Atkinson Hyperlegible Next" pitchFamily="34" charset="-120"/>
              </a:rPr>
              <a:t>MODUŁ I  ·  MATCHMAKING SPOŁECZNY, MODUŁ OBOWIĄZKOWY</a:t>
            </a:r>
            <a:endParaRPr lang="en-US" sz="1100" dirty="0"/>
          </a:p>
        </p:txBody>
      </p:sp>
      <p:sp>
        <p:nvSpPr>
          <p:cNvPr id="5" name="Text 3"/>
          <p:cNvSpPr txBox="1"/>
          <p:nvPr/>
        </p:nvSpPr>
        <p:spPr>
          <a:xfrm>
            <a:off x="640080" y="676656"/>
            <a:ext cx="10911535" cy="914400"/>
          </a:xfrm>
          <a:prstGeom prst="rect">
            <a:avLst/>
          </a:prstGeom>
          <a:noFill/>
          <a:ln/>
        </p:spPr>
        <p:txBody>
          <a:bodyPr wrap="square" lIns="0" tIns="0" rIns="0" bIns="0" rtlCol="0" anchor="t"/>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Podobne przypadki i jasne „nie”</a:t>
            </a:r>
            <a:endParaRPr lang="en-US" sz="3200" dirty="0"/>
          </a:p>
          <a:p>
            <a:pPr marL="0" indent="0">
              <a:spcBef>
                <a:spcPts val="600"/>
              </a:spcBef>
              <a:buNone/>
            </a:pPr>
            <a:r>
              <a:rPr lang="en-US" sz="1600" b="1" dirty="0">
                <a:solidFill>
                  <a:srgbClr val="1A4B8C"/>
                </a:solidFill>
                <a:latin typeface="Atkinson Hyperlegible Next" pitchFamily="34" charset="0"/>
                <a:ea typeface="Atkinson Hyperlegible Next" pitchFamily="34" charset="-122"/>
                <a:cs typeface="Atkinson Hyperlegible Next" pitchFamily="34" charset="-120"/>
              </a:rPr>
              <a:t>Wymaganie: system „wyszukuje podobne przypadki”.</a:t>
            </a:r>
            <a:r>
              <a:rPr lang="en-US" sz="1600" dirty="0">
                <a:solidFill>
                  <a:srgbClr val="454D57"/>
                </a:solidFill>
                <a:latin typeface="Atkinson Hyperlegible Next" pitchFamily="34" charset="0"/>
                <a:ea typeface="Atkinson Hyperlegible Next" pitchFamily="34" charset="-122"/>
                <a:cs typeface="Atkinson Hyperlegible Next" pitchFamily="34" charset="-120"/>
              </a:rPr>
              <a:t>  Ani wyszukiwarka, ani czatbot do dokumentów</a:t>
            </a:r>
            <a:endParaRPr lang="en-US" sz="32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640080" y="1691640"/>
          <a:ext cx="5989320" cy="914400"/>
        </p:xfrm>
        <a:graphic>
          <a:graphicData uri="http://schemas.openxmlformats.org/drawingml/2006/table">
            <a:tbl>
              <a:tblPr/>
              <a:tblGrid>
                <a:gridCol w="1280160">
                  <a:extLst>
                    <a:ext uri="{9D8B030D-6E8A-4147-A177-3AD203B41FA5}">
                      <a16:colId xmlns:a16="http://schemas.microsoft.com/office/drawing/2014/main" val="20000"/>
                    </a:ext>
                  </a:extLst>
                </a:gridCol>
                <a:gridCol w="1188720">
                  <a:extLst>
                    <a:ext uri="{9D8B030D-6E8A-4147-A177-3AD203B41FA5}">
                      <a16:colId xmlns:a16="http://schemas.microsoft.com/office/drawing/2014/main" val="20001"/>
                    </a:ext>
                  </a:extLst>
                </a:gridCol>
                <a:gridCol w="1325880">
                  <a:extLst>
                    <a:ext uri="{9D8B030D-6E8A-4147-A177-3AD203B41FA5}">
                      <a16:colId xmlns:a16="http://schemas.microsoft.com/office/drawing/2014/main" val="20002"/>
                    </a:ext>
                  </a:extLst>
                </a:gridCol>
                <a:gridCol w="2194560">
                  <a:extLst>
                    <a:ext uri="{9D8B030D-6E8A-4147-A177-3AD203B41FA5}">
                      <a16:colId xmlns:a16="http://schemas.microsoft.com/office/drawing/2014/main" val="20003"/>
                    </a:ext>
                  </a:extLst>
                </a:gridCol>
              </a:tblGrid>
              <a:tr h="384048">
                <a:tc>
                  <a:txBody>
                    <a:bodyPr/>
                    <a:lstStyle/>
                    <a:p>
                      <a:pPr marL="0" indent="0">
                        <a:buNone/>
                      </a:pPr>
                      <a:endParaRPr lang="en-US" sz="12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F3F5F8"/>
                    </a:solidFill>
                  </a:tcPr>
                </a:tc>
                <a:tc>
                  <a:txBody>
                    <a:bodyPr/>
                    <a:lstStyle/>
                    <a:p>
                      <a:pPr marL="0" indent="0">
                        <a:buNone/>
                      </a:pPr>
                      <a:r>
                        <a:rPr lang="en-US" sz="1200" b="1" dirty="0">
                          <a:solidFill>
                            <a:srgbClr val="14171A"/>
                          </a:solidFill>
                          <a:latin typeface="Atkinson Hyperlegible Next" pitchFamily="34" charset="0"/>
                          <a:ea typeface="Atkinson Hyperlegible Next" pitchFamily="34" charset="-122"/>
                          <a:cs typeface="Atkinson Hyperlegible Next" pitchFamily="34" charset="-120"/>
                        </a:rPr>
                        <a:t>Wyszukiwarka</a:t>
                      </a:r>
                      <a:endParaRPr lang="en-US" sz="12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F3F5F8"/>
                    </a:solidFill>
                  </a:tcPr>
                </a:tc>
                <a:tc>
                  <a:txBody>
                    <a:bodyPr/>
                    <a:lstStyle/>
                    <a:p>
                      <a:pPr marL="0" indent="0">
                        <a:buNone/>
                      </a:pPr>
                      <a:r>
                        <a:rPr lang="en-US" sz="1200" b="1" dirty="0">
                          <a:solidFill>
                            <a:srgbClr val="14171A"/>
                          </a:solidFill>
                          <a:latin typeface="Atkinson Hyperlegible Next" pitchFamily="34" charset="0"/>
                          <a:ea typeface="Atkinson Hyperlegible Next" pitchFamily="34" charset="-122"/>
                          <a:cs typeface="Atkinson Hyperlegible Next" pitchFamily="34" charset="-120"/>
                        </a:rPr>
                        <a:t>Czatbot z RAG</a:t>
                      </a:r>
                      <a:endParaRPr lang="en-US" sz="12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F3F5F8"/>
                    </a:solidFill>
                  </a:tcPr>
                </a:tc>
                <a:tc>
                  <a:txBody>
                    <a:bodyPr/>
                    <a:lstStyle/>
                    <a:p>
                      <a:pPr marL="0" indent="0">
                        <a:buNone/>
                      </a:pPr>
                      <a:r>
                        <a:rPr lang="en-US" sz="1200" b="1" dirty="0">
                          <a:solidFill>
                            <a:srgbClr val="FFFFFF"/>
                          </a:solidFill>
                          <a:latin typeface="Atkinson Hyperlegible Next" pitchFamily="34" charset="0"/>
                          <a:ea typeface="Atkinson Hyperlegible Next" pitchFamily="34" charset="-122"/>
                          <a:cs typeface="Atkinson Hyperlegible Next" pitchFamily="34" charset="-120"/>
                        </a:rPr>
                        <a:t>HubMI</a:t>
                      </a:r>
                      <a:endParaRPr lang="en-US" sz="12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1A4B8C"/>
                    </a:solidFill>
                  </a:tcPr>
                </a:tc>
                <a:extLst>
                  <a:ext uri="{0D108BD9-81ED-4DB2-BD59-A6C34878D82A}">
                    <a16:rowId xmlns:a16="http://schemas.microsoft.com/office/drawing/2014/main" val="10000"/>
                  </a:ext>
                </a:extLst>
              </a:tr>
              <a:tr h="566928">
                <a:tc>
                  <a:txBody>
                    <a:bodyPr/>
                    <a:lstStyle/>
                    <a:p>
                      <a:pPr marL="0" indent="0">
                        <a:buNone/>
                      </a:pPr>
                      <a:r>
                        <a:rPr lang="en-US" sz="1100" b="1" dirty="0">
                          <a:solidFill>
                            <a:srgbClr val="14171A"/>
                          </a:solidFill>
                          <a:latin typeface="Atkinson Hyperlegible Next" pitchFamily="34" charset="0"/>
                          <a:ea typeface="Atkinson Hyperlegible Next" pitchFamily="34" charset="-122"/>
                          <a:cs typeface="Atkinson Hyperlegible Next" pitchFamily="34" charset="-120"/>
                        </a:rPr>
                        <a:t>Co dostajesz</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Listę linków</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Zgrabny akapit</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Drogę: rozwiązania, wiedzę, ludzi, finansowanie i kolejne kroki</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EEF4FB"/>
                    </a:solidFill>
                  </a:tcPr>
                </a:tc>
                <a:extLst>
                  <a:ext uri="{0D108BD9-81ED-4DB2-BD59-A6C34878D82A}">
                    <a16:rowId xmlns:a16="http://schemas.microsoft.com/office/drawing/2014/main" val="10001"/>
                  </a:ext>
                </a:extLst>
              </a:tr>
              <a:tr h="566928">
                <a:tc>
                  <a:txBody>
                    <a:bodyPr/>
                    <a:lstStyle/>
                    <a:p>
                      <a:pPr marL="0" indent="0">
                        <a:buNone/>
                      </a:pPr>
                      <a:r>
                        <a:rPr lang="en-US" sz="1100" b="1" dirty="0">
                          <a:solidFill>
                            <a:srgbClr val="14171A"/>
                          </a:solidFill>
                          <a:latin typeface="Atkinson Hyperlegible Next" pitchFamily="34" charset="0"/>
                          <a:ea typeface="Atkinson Hyperlegible Next" pitchFamily="34" charset="-122"/>
                          <a:cs typeface="Atkinson Hyperlegible Next" pitchFamily="34" charset="-120"/>
                        </a:rPr>
                        <a:t>Gdy nic nie pasuje</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Mimo to daje listę</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Mimo to odpowiada</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Mówi to wprost: przy wyniku poniżej 45/100 nie proponuje drogi</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EEF4FB"/>
                    </a:solidFill>
                  </a:tcPr>
                </a:tc>
                <a:extLst>
                  <a:ext uri="{0D108BD9-81ED-4DB2-BD59-A6C34878D82A}">
                    <a16:rowId xmlns:a16="http://schemas.microsoft.com/office/drawing/2014/main" val="10002"/>
                  </a:ext>
                </a:extLst>
              </a:tr>
              <a:tr h="566928">
                <a:tc>
                  <a:txBody>
                    <a:bodyPr/>
                    <a:lstStyle/>
                    <a:p>
                      <a:pPr marL="0" indent="0">
                        <a:buNone/>
                      </a:pPr>
                      <a:r>
                        <a:rPr lang="en-US" sz="1100" b="1" dirty="0">
                          <a:solidFill>
                            <a:srgbClr val="14171A"/>
                          </a:solidFill>
                          <a:latin typeface="Atkinson Hyperlegible Next" pitchFamily="34" charset="0"/>
                          <a:ea typeface="Atkinson Hyperlegible Next" pitchFamily="34" charset="-122"/>
                          <a:cs typeface="Atkinson Hyperlegible Next" pitchFamily="34" charset="-120"/>
                        </a:rPr>
                        <a:t>Kwoty i terminy</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Ze stron internetowych</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Pisze je model</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Z 30 udokumentowanych ścieżek; model nie ma do nich dostępu</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EEF4FB"/>
                    </a:solidFill>
                  </a:tcPr>
                </a:tc>
                <a:extLst>
                  <a:ext uri="{0D108BD9-81ED-4DB2-BD59-A6C34878D82A}">
                    <a16:rowId xmlns:a16="http://schemas.microsoft.com/office/drawing/2014/main" val="10003"/>
                  </a:ext>
                </a:extLst>
              </a:tr>
              <a:tr h="566928">
                <a:tc>
                  <a:txBody>
                    <a:bodyPr/>
                    <a:lstStyle/>
                    <a:p>
                      <a:pPr marL="0" indent="0">
                        <a:buNone/>
                      </a:pPr>
                      <a:r>
                        <a:rPr lang="en-US" sz="1100" b="1" dirty="0">
                          <a:solidFill>
                            <a:srgbClr val="14171A"/>
                          </a:solidFill>
                          <a:latin typeface="Atkinson Hyperlegible Next" pitchFamily="34" charset="0"/>
                          <a:ea typeface="Atkinson Hyperlegible Next" pitchFamily="34" charset="-122"/>
                          <a:cs typeface="Atkinson Hyperlegible Next" pitchFamily="34" charset="-120"/>
                        </a:rPr>
                        <a:t>Rola modelu</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Szereguje strony</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Pisze odpowiedź</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Wybiera i wyjaśnia; program sprawdza każde odwołanie i cytat</a:t>
                      </a:r>
                      <a:endParaRPr lang="en-US" sz="1100" dirty="0">
                        <a:latin typeface="Atkinson Hyperlegible Next" charset="0"/>
                        <a:ea typeface="Atkinson Hyperlegible Next" charset="0"/>
                        <a:cs typeface="Atkinson Hyperlegible Next" charset="0"/>
                      </a:endParaRPr>
                    </a:p>
                  </a:txBody>
                  <a:tcPr marL="76200" marR="76200" marT="50800" marB="50800" anchor="ctr">
                    <a:lnL w="9525" cap="flat" cmpd="sng" algn="ctr">
                      <a:solidFill>
                        <a:srgbClr val="C3CAD3"/>
                      </a:solidFill>
                      <a:prstDash val="solid"/>
                      <a:round/>
                      <a:headEnd type="none" w="med" len="med"/>
                      <a:tailEnd type="none" w="med" len="med"/>
                    </a:lnL>
                    <a:lnR w="9525" cap="flat" cmpd="sng" algn="ctr">
                      <a:solidFill>
                        <a:srgbClr val="C3CAD3"/>
                      </a:solidFill>
                      <a:prstDash val="solid"/>
                      <a:round/>
                      <a:headEnd type="none" w="med" len="med"/>
                      <a:tailEnd type="none" w="med" len="med"/>
                    </a:lnR>
                    <a:lnT w="9525" cap="flat" cmpd="sng" algn="ctr">
                      <a:solidFill>
                        <a:srgbClr val="C3CAD3"/>
                      </a:solidFill>
                      <a:prstDash val="solid"/>
                      <a:round/>
                      <a:headEnd type="none" w="med" len="med"/>
                      <a:tailEnd type="none" w="med" len="med"/>
                    </a:lnT>
                    <a:lnB w="9525" cap="flat" cmpd="sng" algn="ctr">
                      <a:solidFill>
                        <a:srgbClr val="C3CAD3"/>
                      </a:solidFill>
                      <a:prstDash val="solid"/>
                      <a:round/>
                      <a:headEnd type="none" w="med" len="med"/>
                      <a:tailEnd type="none" w="med" len="med"/>
                    </a:lnB>
                    <a:solidFill>
                      <a:srgbClr val="EEF4FB"/>
                    </a:solidFill>
                  </a:tcPr>
                </a:tc>
                <a:extLst>
                  <a:ext uri="{0D108BD9-81ED-4DB2-BD59-A6C34878D82A}">
                    <a16:rowId xmlns:a16="http://schemas.microsoft.com/office/drawing/2014/main" val="10004"/>
                  </a:ext>
                </a:extLst>
              </a:tr>
            </a:tbl>
          </a:graphicData>
        </a:graphic>
      </p:graphicFrame>
      <p:sp>
        <p:nvSpPr>
          <p:cNvPr id="7" name="Shape 4"/>
          <p:cNvSpPr/>
          <p:nvPr/>
        </p:nvSpPr>
        <p:spPr>
          <a:xfrm>
            <a:off x="640080" y="4572000"/>
            <a:ext cx="5989320" cy="1783080"/>
          </a:xfrm>
          <a:prstGeom prst="roundRect">
            <a:avLst>
              <a:gd name="adj" fmla="val 5128"/>
            </a:avLst>
          </a:prstGeom>
          <a:solidFill>
            <a:srgbClr val="F3F5F8"/>
          </a:solidFill>
          <a:ln w="12700">
            <a:solidFill>
              <a:srgbClr val="F3F5F8"/>
            </a:solidFill>
            <a:prstDash val="solid"/>
          </a:ln>
        </p:spPr>
      </p:sp>
      <p:sp>
        <p:nvSpPr>
          <p:cNvPr id="8" name="Text 5"/>
          <p:cNvSpPr txBox="1"/>
          <p:nvPr/>
        </p:nvSpPr>
        <p:spPr>
          <a:xfrm>
            <a:off x="868680" y="4709160"/>
            <a:ext cx="5532120" cy="237744"/>
          </a:xfrm>
          <a:prstGeom prst="rect">
            <a:avLst/>
          </a:prstGeom>
          <a:noFill/>
          <a:ln/>
        </p:spPr>
        <p:txBody>
          <a:bodyPr wrap="square" lIns="0" tIns="0" rIns="0" bIns="0" rtlCol="0" anchor="ctr"/>
          <a:lstStyle/>
          <a:p>
            <a:pPr marL="0" indent="0">
              <a:buNone/>
            </a:pPr>
            <a:r>
              <a:rPr lang="en-US" sz="1000" b="1" kern="0" spc="100" dirty="0">
                <a:solidFill>
                  <a:srgbClr val="1A4B8C"/>
                </a:solidFill>
                <a:latin typeface="Atkinson Hyperlegible Next" pitchFamily="34" charset="0"/>
                <a:ea typeface="Atkinson Hyperlegible Next" pitchFamily="34" charset="-122"/>
                <a:cs typeface="Atkinson Hyperlegible Next" pitchFamily="34" charset="-120"/>
              </a:rPr>
              <a:t>TRAFNOŚĆ DOPASOWANIA  ·  PRZYPADKI TESTOWE</a:t>
            </a:r>
            <a:endParaRPr lang="en-US" sz="1000" dirty="0"/>
          </a:p>
        </p:txBody>
      </p:sp>
      <p:sp>
        <p:nvSpPr>
          <p:cNvPr id="9" name="Text 6"/>
          <p:cNvSpPr txBox="1"/>
          <p:nvPr/>
        </p:nvSpPr>
        <p:spPr>
          <a:xfrm>
            <a:off x="868680" y="5029200"/>
            <a:ext cx="2628900" cy="1234440"/>
          </a:xfrm>
          <a:prstGeom prst="rect">
            <a:avLst/>
          </a:prstGeom>
          <a:noFill/>
          <a:ln/>
        </p:spPr>
        <p:txBody>
          <a:bodyPr wrap="square" lIns="0" tIns="0" rIns="0" bIns="0" rtlCol="0" anchor="t"/>
          <a:lstStyle/>
          <a:p>
            <a:pPr marL="0" indent="0">
              <a:buNone/>
            </a:pPr>
            <a:r>
              <a:rPr lang="en-US" sz="3000" b="1" dirty="0">
                <a:solidFill>
                  <a:srgbClr val="1A4B8C"/>
                </a:solidFill>
                <a:latin typeface="Atkinson Hyperlegible Next" pitchFamily="34" charset="0"/>
                <a:ea typeface="Atkinson Hyperlegible Next" pitchFamily="34" charset="-122"/>
                <a:cs typeface="Atkinson Hyperlegible Next" pitchFamily="34" charset="-120"/>
              </a:rPr>
              <a:t>7 z 7</a:t>
            </a:r>
            <a:endParaRPr lang="en-US" sz="3000" dirty="0"/>
          </a:p>
          <a:p>
            <a:pPr marL="0" indent="0">
              <a:spcBef>
                <a:spcPts val="200"/>
              </a:spcBef>
              <a:buNone/>
            </a:pPr>
            <a:r>
              <a:rPr lang="en-US" sz="1150" dirty="0">
                <a:solidFill>
                  <a:srgbClr val="14171A"/>
                </a:solidFill>
                <a:latin typeface="Atkinson Hyperlegible Next" pitchFamily="34" charset="0"/>
                <a:ea typeface="Atkinson Hyperlegible Next" pitchFamily="34" charset="-122"/>
                <a:cs typeface="Atkinson Hyperlegible Next" pitchFamily="34" charset="-120"/>
              </a:rPr>
              <a:t>przypadków, dla których istnieje sprawdzone rozwiązanie: właściwa innowacja jest wśród trzech proponowanych</a:t>
            </a:r>
            <a:endParaRPr lang="en-US" sz="3000" dirty="0"/>
          </a:p>
        </p:txBody>
      </p:sp>
      <p:sp>
        <p:nvSpPr>
          <p:cNvPr id="10" name="Text 7"/>
          <p:cNvSpPr txBox="1"/>
          <p:nvPr/>
        </p:nvSpPr>
        <p:spPr>
          <a:xfrm>
            <a:off x="3771900" y="5029200"/>
            <a:ext cx="2628900" cy="1234440"/>
          </a:xfrm>
          <a:prstGeom prst="rect">
            <a:avLst/>
          </a:prstGeom>
          <a:noFill/>
          <a:ln/>
        </p:spPr>
        <p:txBody>
          <a:bodyPr wrap="square" lIns="0" tIns="0" rIns="0" bIns="0" rtlCol="0" anchor="t"/>
          <a:lstStyle/>
          <a:p>
            <a:pPr marL="0" indent="0">
              <a:buNone/>
            </a:pPr>
            <a:r>
              <a:rPr lang="en-US" sz="3000" b="1" dirty="0">
                <a:solidFill>
                  <a:srgbClr val="1A4B8C"/>
                </a:solidFill>
                <a:latin typeface="Atkinson Hyperlegible Next" pitchFamily="34" charset="0"/>
                <a:ea typeface="Atkinson Hyperlegible Next" pitchFamily="34" charset="-122"/>
                <a:cs typeface="Atkinson Hyperlegible Next" pitchFamily="34" charset="-120"/>
              </a:rPr>
              <a:t>9 z 10</a:t>
            </a:r>
            <a:endParaRPr lang="en-US" sz="3000" dirty="0"/>
          </a:p>
          <a:p>
            <a:pPr marL="0" indent="0">
              <a:spcBef>
                <a:spcPts val="200"/>
              </a:spcBef>
              <a:buNone/>
            </a:pPr>
            <a:r>
              <a:rPr lang="en-US" sz="1150" dirty="0">
                <a:solidFill>
                  <a:srgbClr val="14171A"/>
                </a:solidFill>
                <a:latin typeface="Atkinson Hyperlegible Next" pitchFamily="34" charset="0"/>
                <a:ea typeface="Atkinson Hyperlegible Next" pitchFamily="34" charset="-122"/>
                <a:cs typeface="Atkinson Hyperlegible Next" pitchFamily="34" charset="-120"/>
              </a:rPr>
              <a:t>przypadków: narzędzie trafnie rozpoznaje, czy jest pełna droga, częściowa, czy żadna</a:t>
            </a:r>
            <a:endParaRPr lang="en-US" sz="3000" dirty="0"/>
          </a:p>
        </p:txBody>
      </p:sp>
      <p:sp>
        <p:nvSpPr>
          <p:cNvPr id="11" name="Shape 8"/>
          <p:cNvSpPr/>
          <p:nvPr/>
        </p:nvSpPr>
        <p:spPr>
          <a:xfrm>
            <a:off x="7599776" y="1691640"/>
            <a:ext cx="3392943" cy="1615889"/>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12" name="Image 0" descr="C:\Users\bobro\OneDrive\Developer\HackYeah2026\.local\presentation\source\img\similar-cases.png"/>
          <p:cNvPicPr>
            <a:picLocks noChangeAspect="1"/>
          </p:cNvPicPr>
          <p:nvPr/>
        </p:nvPicPr>
        <p:blipFill>
          <a:blip r:embed="rId3"/>
          <a:stretch>
            <a:fillRect/>
          </a:stretch>
        </p:blipFill>
        <p:spPr>
          <a:xfrm>
            <a:off x="7599776" y="1691640"/>
            <a:ext cx="3392943" cy="1615889"/>
          </a:xfrm>
          <a:prstGeom prst="rect">
            <a:avLst/>
          </a:prstGeom>
        </p:spPr>
      </p:pic>
      <p:sp>
        <p:nvSpPr>
          <p:cNvPr id="13" name="Shape 9"/>
          <p:cNvSpPr/>
          <p:nvPr/>
        </p:nvSpPr>
        <p:spPr>
          <a:xfrm>
            <a:off x="7599776" y="1691640"/>
            <a:ext cx="3392943" cy="1615889"/>
          </a:xfrm>
          <a:prstGeom prst="rect">
            <a:avLst/>
          </a:prstGeom>
          <a:solidFill>
            <a:srgbClr val="FFFFFF">
              <a:alpha val="0"/>
            </a:srgbClr>
          </a:solidFill>
          <a:ln w="9525">
            <a:solidFill>
              <a:srgbClr val="C3CAD3"/>
            </a:solidFill>
            <a:prstDash val="solid"/>
          </a:ln>
        </p:spPr>
      </p:sp>
      <p:sp>
        <p:nvSpPr>
          <p:cNvPr id="14" name="Text 10"/>
          <p:cNvSpPr txBox="1"/>
          <p:nvPr/>
        </p:nvSpPr>
        <p:spPr>
          <a:xfrm>
            <a:off x="7599776" y="3380681"/>
            <a:ext cx="3392943" cy="45720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Podobne przypadki: potrzeby i pomysły innych, za zgodą autorów i po akceptacji ROPS</a:t>
            </a:r>
            <a:endParaRPr lang="en-US" sz="1100" dirty="0"/>
          </a:p>
        </p:txBody>
      </p:sp>
      <p:sp>
        <p:nvSpPr>
          <p:cNvPr id="15" name="Shape 11"/>
          <p:cNvSpPr/>
          <p:nvPr/>
        </p:nvSpPr>
        <p:spPr>
          <a:xfrm>
            <a:off x="7599776" y="4112201"/>
            <a:ext cx="3392943" cy="1712527"/>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16" name="Image 1" descr="C:\Users\bobro\OneDrive\Developer\HackYeah2026\.local\presentation\source\img\no-match-top.png"/>
          <p:cNvPicPr>
            <a:picLocks noChangeAspect="1"/>
          </p:cNvPicPr>
          <p:nvPr/>
        </p:nvPicPr>
        <p:blipFill>
          <a:blip r:embed="rId4"/>
          <a:stretch>
            <a:fillRect/>
          </a:stretch>
        </p:blipFill>
        <p:spPr>
          <a:xfrm>
            <a:off x="7599776" y="4112201"/>
            <a:ext cx="3392943" cy="1712527"/>
          </a:xfrm>
          <a:prstGeom prst="rect">
            <a:avLst/>
          </a:prstGeom>
        </p:spPr>
      </p:pic>
      <p:sp>
        <p:nvSpPr>
          <p:cNvPr id="17" name="Shape 12"/>
          <p:cNvSpPr/>
          <p:nvPr/>
        </p:nvSpPr>
        <p:spPr>
          <a:xfrm>
            <a:off x="7599776" y="4112201"/>
            <a:ext cx="3392943" cy="1712527"/>
          </a:xfrm>
          <a:prstGeom prst="rect">
            <a:avLst/>
          </a:prstGeom>
          <a:solidFill>
            <a:srgbClr val="FFFFFF">
              <a:alpha val="0"/>
            </a:srgbClr>
          </a:solidFill>
          <a:ln w="9525">
            <a:solidFill>
              <a:srgbClr val="C3CAD3"/>
            </a:solidFill>
            <a:prstDash val="solid"/>
          </a:ln>
        </p:spPr>
      </p:sp>
      <p:sp>
        <p:nvSpPr>
          <p:cNvPr id="18" name="Text 13"/>
          <p:cNvSpPr txBox="1"/>
          <p:nvPr/>
        </p:nvSpPr>
        <p:spPr>
          <a:xfrm>
            <a:off x="7599776" y="5897880"/>
            <a:ext cx="3392943" cy="45720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Wyschnięte studnie w gminie Dobra: nic nie pasuje, więc narzędzie mówi to wprost i proponuje wpis do banku potrzeb</a:t>
            </a:r>
            <a:endParaRPr lang="en-US" sz="1100" dirty="0"/>
          </a:p>
        </p:txBody>
      </p:sp>
      <p:sp>
        <p:nvSpPr>
          <p:cNvPr id="19" name="Text 14"/>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3 / 9</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329184"/>
            <a:ext cx="786384" cy="237744"/>
          </a:xfrm>
          <a:prstGeom prst="roundRect">
            <a:avLst>
              <a:gd name="adj" fmla="val 50000"/>
            </a:avLst>
          </a:prstGeom>
          <a:solidFill>
            <a:srgbClr val="1A4B8C"/>
          </a:solidFill>
          <a:ln w="12700">
            <a:solidFill>
              <a:srgbClr val="1A4B8C"/>
            </a:solidFill>
            <a:prstDash val="solid"/>
          </a:ln>
        </p:spPr>
      </p:sp>
      <p:sp>
        <p:nvSpPr>
          <p:cNvPr id="3" name="Text 1"/>
          <p:cNvSpPr txBox="1"/>
          <p:nvPr/>
        </p:nvSpPr>
        <p:spPr>
          <a:xfrm>
            <a:off x="640080" y="329184"/>
            <a:ext cx="78638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Atkinson Hyperlegible Next" pitchFamily="34" charset="0"/>
                <a:ea typeface="Atkinson Hyperlegible Next" pitchFamily="34" charset="-122"/>
                <a:cs typeface="Atkinson Hyperlegible Next" pitchFamily="34" charset="-120"/>
              </a:rPr>
              <a:t>działa</a:t>
            </a:r>
            <a:endParaRPr lang="en-US" sz="1000" dirty="0"/>
          </a:p>
        </p:txBody>
      </p:sp>
      <p:sp>
        <p:nvSpPr>
          <p:cNvPr id="4" name="Text 2"/>
          <p:cNvSpPr txBox="1"/>
          <p:nvPr/>
        </p:nvSpPr>
        <p:spPr>
          <a:xfrm>
            <a:off x="1563624" y="329184"/>
            <a:ext cx="9987991" cy="237744"/>
          </a:xfrm>
          <a:prstGeom prst="rect">
            <a:avLst/>
          </a:prstGeom>
          <a:noFill/>
          <a:ln/>
        </p:spPr>
        <p:txBody>
          <a:bodyPr wrap="square" lIns="0" tIns="0" rIns="0" bIns="0" rtlCol="0" anchor="ctr"/>
          <a:lstStyle/>
          <a:p>
            <a:pPr marL="0" indent="0">
              <a:buNone/>
            </a:pPr>
            <a:r>
              <a:rPr lang="en-US" sz="1100" b="1" kern="0" spc="100" dirty="0">
                <a:solidFill>
                  <a:srgbClr val="1A4B8C"/>
                </a:solidFill>
                <a:latin typeface="Atkinson Hyperlegible Next" pitchFamily="34" charset="0"/>
                <a:ea typeface="Atkinson Hyperlegible Next" pitchFamily="34" charset="-122"/>
                <a:cs typeface="Atkinson Hyperlegible Next" pitchFamily="34" charset="-120"/>
              </a:rPr>
              <a:t>MODUŁ IV  ·  TESTER INNOWACJI</a:t>
            </a:r>
            <a:endParaRPr lang="en-US" sz="1100" dirty="0"/>
          </a:p>
        </p:txBody>
      </p:sp>
      <p:sp>
        <p:nvSpPr>
          <p:cNvPr id="5" name="Text 3"/>
          <p:cNvSpPr txBox="1"/>
          <p:nvPr/>
        </p:nvSpPr>
        <p:spPr>
          <a:xfrm>
            <a:off x="640080" y="676656"/>
            <a:ext cx="10911535" cy="914400"/>
          </a:xfrm>
          <a:prstGeom prst="rect">
            <a:avLst/>
          </a:prstGeom>
          <a:noFill/>
          <a:ln/>
        </p:spPr>
        <p:txBody>
          <a:bodyPr wrap="square" lIns="0" tIns="0" rIns="0" bIns="0" rtlCol="0" anchor="t"/>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Każdą innowację można ocenić i przetestować</a:t>
            </a:r>
            <a:endParaRPr lang="en-US" sz="3200" dirty="0"/>
          </a:p>
          <a:p>
            <a:pPr marL="0" indent="0">
              <a:spcBef>
                <a:spcPts val="600"/>
              </a:spcBef>
              <a:buNone/>
            </a:pPr>
            <a:r>
              <a:rPr lang="en-US" sz="1600" dirty="0">
                <a:solidFill>
                  <a:srgbClr val="454D57"/>
                </a:solidFill>
                <a:latin typeface="Atkinson Hyperlegible Next" pitchFamily="34" charset="0"/>
                <a:ea typeface="Atkinson Hyperlegible Next" pitchFamily="34" charset="-122"/>
                <a:cs typeface="Atkinson Hyperlegible Next" pitchFamily="34" charset="-120"/>
              </a:rPr>
              <a:t>Opinie trafiają do autorów innowacji za pośrednictwem ROPS, gdy zatwierdzi je pracownik</a:t>
            </a:r>
            <a:endParaRPr lang="en-US" sz="3200" dirty="0"/>
          </a:p>
        </p:txBody>
      </p:sp>
      <p:sp>
        <p:nvSpPr>
          <p:cNvPr id="6" name="Text 4"/>
          <p:cNvSpPr txBox="1"/>
          <p:nvPr/>
        </p:nvSpPr>
        <p:spPr>
          <a:xfrm>
            <a:off x="640080" y="1691640"/>
            <a:ext cx="4800600" cy="256032"/>
          </a:xfrm>
          <a:prstGeom prst="rect">
            <a:avLst/>
          </a:prstGeom>
          <a:noFill/>
          <a:ln/>
        </p:spPr>
        <p:txBody>
          <a:bodyPr wrap="square" lIns="0" tIns="0" rIns="0" bIns="0" rtlCol="0" anchor="ctr"/>
          <a:lstStyle/>
          <a:p>
            <a:pPr marL="0" indent="0">
              <a:buNone/>
            </a:pPr>
            <a:r>
              <a:rPr lang="en-US" sz="1000" b="1" kern="0" spc="100" dirty="0">
                <a:solidFill>
                  <a:srgbClr val="1A4B8C"/>
                </a:solidFill>
                <a:latin typeface="Atkinson Hyperlegible Next" pitchFamily="34" charset="0"/>
                <a:ea typeface="Atkinson Hyperlegible Next" pitchFamily="34" charset="-122"/>
                <a:cs typeface="Atkinson Hyperlegible Next" pitchFamily="34" charset="-120"/>
              </a:rPr>
              <a:t>WYMAGANIA ROPS  ·  JAK JE SPEŁNIAMY</a:t>
            </a:r>
            <a:endParaRPr lang="en-US" sz="1000" dirty="0"/>
          </a:p>
        </p:txBody>
      </p:sp>
      <p:sp>
        <p:nvSpPr>
          <p:cNvPr id="7" name="Shape 5"/>
          <p:cNvSpPr/>
          <p:nvPr/>
        </p:nvSpPr>
        <p:spPr>
          <a:xfrm>
            <a:off x="640080" y="2075688"/>
            <a:ext cx="310896" cy="310896"/>
          </a:xfrm>
          <a:prstGeom prst="ellipse">
            <a:avLst/>
          </a:prstGeom>
          <a:solidFill>
            <a:srgbClr val="1A4B8C"/>
          </a:solidFill>
          <a:ln w="12700">
            <a:solidFill>
              <a:srgbClr val="1A4B8C"/>
            </a:solidFill>
            <a:prstDash val="solid"/>
          </a:ln>
        </p:spPr>
      </p:sp>
      <p:sp>
        <p:nvSpPr>
          <p:cNvPr id="8" name="Text 6"/>
          <p:cNvSpPr txBox="1"/>
          <p:nvPr/>
        </p:nvSpPr>
        <p:spPr>
          <a:xfrm>
            <a:off x="640080" y="2075688"/>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9" name="Text 7"/>
          <p:cNvSpPr txBox="1"/>
          <p:nvPr/>
        </p:nvSpPr>
        <p:spPr>
          <a:xfrm>
            <a:off x="1097280" y="2057400"/>
            <a:ext cx="4343400" cy="101498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Zgłoszenie chęci udziału w testach</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Jako użytkownik albo jako organizacja, która wdroży rozwiązanie na próbę w swojej gminie</a:t>
            </a:r>
            <a:endParaRPr lang="en-US" sz="1350" dirty="0"/>
          </a:p>
        </p:txBody>
      </p:sp>
      <p:sp>
        <p:nvSpPr>
          <p:cNvPr id="10" name="Shape 8"/>
          <p:cNvSpPr/>
          <p:nvPr/>
        </p:nvSpPr>
        <p:spPr>
          <a:xfrm>
            <a:off x="640080" y="3145536"/>
            <a:ext cx="310896" cy="310896"/>
          </a:xfrm>
          <a:prstGeom prst="ellipse">
            <a:avLst/>
          </a:prstGeom>
          <a:solidFill>
            <a:srgbClr val="1A4B8C"/>
          </a:solidFill>
          <a:ln w="12700">
            <a:solidFill>
              <a:srgbClr val="1A4B8C"/>
            </a:solidFill>
            <a:prstDash val="solid"/>
          </a:ln>
        </p:spPr>
      </p:sp>
      <p:sp>
        <p:nvSpPr>
          <p:cNvPr id="11" name="Text 9"/>
          <p:cNvSpPr txBox="1"/>
          <p:nvPr/>
        </p:nvSpPr>
        <p:spPr>
          <a:xfrm>
            <a:off x="640080" y="3145536"/>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12" name="Text 10"/>
          <p:cNvSpPr txBox="1"/>
          <p:nvPr/>
        </p:nvSpPr>
        <p:spPr>
          <a:xfrm>
            <a:off x="1097280" y="3127248"/>
            <a:ext cx="4343400" cy="101498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Ocena istniejących rozwiązań</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Od 1 do 5, z informacją, skąd oceniający zna rozwiązanie: korzysta z niego, wdraża je albo zna z opisu</a:t>
            </a:r>
            <a:endParaRPr lang="en-US" sz="1350" dirty="0"/>
          </a:p>
        </p:txBody>
      </p:sp>
      <p:sp>
        <p:nvSpPr>
          <p:cNvPr id="13" name="Shape 11"/>
          <p:cNvSpPr/>
          <p:nvPr/>
        </p:nvSpPr>
        <p:spPr>
          <a:xfrm>
            <a:off x="640080" y="4215384"/>
            <a:ext cx="310896" cy="310896"/>
          </a:xfrm>
          <a:prstGeom prst="ellipse">
            <a:avLst/>
          </a:prstGeom>
          <a:solidFill>
            <a:srgbClr val="1A4B8C"/>
          </a:solidFill>
          <a:ln w="12700">
            <a:solidFill>
              <a:srgbClr val="1A4B8C"/>
            </a:solidFill>
            <a:prstDash val="solid"/>
          </a:ln>
        </p:spPr>
      </p:sp>
      <p:sp>
        <p:nvSpPr>
          <p:cNvPr id="14" name="Text 12"/>
          <p:cNvSpPr txBox="1"/>
          <p:nvPr/>
        </p:nvSpPr>
        <p:spPr>
          <a:xfrm>
            <a:off x="640080" y="4215384"/>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15" name="Text 13"/>
          <p:cNvSpPr txBox="1"/>
          <p:nvPr/>
        </p:nvSpPr>
        <p:spPr>
          <a:xfrm>
            <a:off x="1097280" y="4197096"/>
            <a:ext cx="4343400" cy="101498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Przekazywanie informacji zwrotnej</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Opinię można wysłać anonimowo; przechodzi przez filtr bezpieczeństwa, a ROPS przekazuje ją autorom</a:t>
            </a:r>
            <a:endParaRPr lang="en-US" sz="1350" dirty="0"/>
          </a:p>
        </p:txBody>
      </p:sp>
      <p:sp>
        <p:nvSpPr>
          <p:cNvPr id="16" name="Shape 14"/>
          <p:cNvSpPr/>
          <p:nvPr/>
        </p:nvSpPr>
        <p:spPr>
          <a:xfrm>
            <a:off x="640080" y="5285232"/>
            <a:ext cx="310896" cy="310896"/>
          </a:xfrm>
          <a:prstGeom prst="ellipse">
            <a:avLst/>
          </a:prstGeom>
          <a:solidFill>
            <a:srgbClr val="1A4B8C"/>
          </a:solidFill>
          <a:ln w="12700">
            <a:solidFill>
              <a:srgbClr val="1A4B8C"/>
            </a:solidFill>
            <a:prstDash val="solid"/>
          </a:ln>
        </p:spPr>
      </p:sp>
      <p:sp>
        <p:nvSpPr>
          <p:cNvPr id="17" name="Text 15"/>
          <p:cNvSpPr txBox="1"/>
          <p:nvPr/>
        </p:nvSpPr>
        <p:spPr>
          <a:xfrm>
            <a:off x="640080" y="5285232"/>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18" name="Text 16"/>
          <p:cNvSpPr txBox="1"/>
          <p:nvPr/>
        </p:nvSpPr>
        <p:spPr>
          <a:xfrm>
            <a:off x="1097280" y="5266944"/>
            <a:ext cx="4343400" cy="101498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Proponowanie usprawnień</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Na stronie innowacji widać liczbę ocen, propozycji ulepszeń i zgłoszeń do testów, bez treści i danych kontaktowych</a:t>
            </a:r>
            <a:endParaRPr lang="en-US" sz="1350" dirty="0"/>
          </a:p>
        </p:txBody>
      </p:sp>
      <p:sp>
        <p:nvSpPr>
          <p:cNvPr id="19" name="Shape 17"/>
          <p:cNvSpPr/>
          <p:nvPr/>
        </p:nvSpPr>
        <p:spPr>
          <a:xfrm>
            <a:off x="6027391" y="1691640"/>
            <a:ext cx="5348993" cy="1825961"/>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20" name="Image 0" descr="C:\Users\bobro\OneDrive\Developer\HackYeah2026\.local\presentation\source\img\tester-signup-box.png"/>
          <p:cNvPicPr>
            <a:picLocks noChangeAspect="1"/>
          </p:cNvPicPr>
          <p:nvPr/>
        </p:nvPicPr>
        <p:blipFill>
          <a:blip r:embed="rId3"/>
          <a:stretch>
            <a:fillRect/>
          </a:stretch>
        </p:blipFill>
        <p:spPr>
          <a:xfrm>
            <a:off x="6027391" y="1691640"/>
            <a:ext cx="5348993" cy="1825961"/>
          </a:xfrm>
          <a:prstGeom prst="rect">
            <a:avLst/>
          </a:prstGeom>
        </p:spPr>
      </p:pic>
      <p:sp>
        <p:nvSpPr>
          <p:cNvPr id="21" name="Shape 18"/>
          <p:cNvSpPr/>
          <p:nvPr/>
        </p:nvSpPr>
        <p:spPr>
          <a:xfrm>
            <a:off x="6027391" y="1691640"/>
            <a:ext cx="5348993" cy="1825961"/>
          </a:xfrm>
          <a:prstGeom prst="rect">
            <a:avLst/>
          </a:prstGeom>
          <a:solidFill>
            <a:srgbClr val="FFFFFF">
              <a:alpha val="0"/>
            </a:srgbClr>
          </a:solidFill>
          <a:ln w="9525">
            <a:solidFill>
              <a:srgbClr val="C3CAD3"/>
            </a:solidFill>
            <a:prstDash val="solid"/>
          </a:ln>
        </p:spPr>
      </p:sp>
      <p:sp>
        <p:nvSpPr>
          <p:cNvPr id="22" name="Text 19"/>
          <p:cNvSpPr txBox="1"/>
          <p:nvPr/>
        </p:nvSpPr>
        <p:spPr>
          <a:xfrm>
            <a:off x="6027391" y="3590753"/>
            <a:ext cx="5348993"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Zgłoszenie do testów w formularzu testera: jako użytkownik albo organizacja</a:t>
            </a:r>
            <a:endParaRPr lang="en-US" sz="1100" dirty="0"/>
          </a:p>
        </p:txBody>
      </p:sp>
      <p:sp>
        <p:nvSpPr>
          <p:cNvPr id="23" name="Shape 20"/>
          <p:cNvSpPr/>
          <p:nvPr/>
        </p:nvSpPr>
        <p:spPr>
          <a:xfrm>
            <a:off x="6027391" y="4139393"/>
            <a:ext cx="5348993" cy="1868215"/>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24" name="Image 1" descr="C:\Users\bobro\OneDrive\Developer\HackYeah2026\.local\presentation\source\img\tester-results.png"/>
          <p:cNvPicPr>
            <a:picLocks noChangeAspect="1"/>
          </p:cNvPicPr>
          <p:nvPr/>
        </p:nvPicPr>
        <p:blipFill>
          <a:blip r:embed="rId4"/>
          <a:stretch>
            <a:fillRect/>
          </a:stretch>
        </p:blipFill>
        <p:spPr>
          <a:xfrm>
            <a:off x="6027391" y="4139393"/>
            <a:ext cx="5348993" cy="1868215"/>
          </a:xfrm>
          <a:prstGeom prst="rect">
            <a:avLst/>
          </a:prstGeom>
        </p:spPr>
      </p:pic>
      <p:sp>
        <p:nvSpPr>
          <p:cNvPr id="25" name="Shape 21"/>
          <p:cNvSpPr/>
          <p:nvPr/>
        </p:nvSpPr>
        <p:spPr>
          <a:xfrm>
            <a:off x="6027391" y="4139393"/>
            <a:ext cx="5348993" cy="1868215"/>
          </a:xfrm>
          <a:prstGeom prst="rect">
            <a:avLst/>
          </a:prstGeom>
          <a:solidFill>
            <a:srgbClr val="FFFFFF">
              <a:alpha val="0"/>
            </a:srgbClr>
          </a:solidFill>
          <a:ln w="9525">
            <a:solidFill>
              <a:srgbClr val="C3CAD3"/>
            </a:solidFill>
            <a:prstDash val="solid"/>
          </a:ln>
        </p:spPr>
      </p:sp>
      <p:sp>
        <p:nvSpPr>
          <p:cNvPr id="26" name="Text 22"/>
          <p:cNvSpPr txBox="1"/>
          <p:nvPr/>
        </p:nvSpPr>
        <p:spPr>
          <a:xfrm>
            <a:off x="6027391" y="6080760"/>
            <a:ext cx="5348993"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„Opinie i testy” na stronie innowacji</a:t>
            </a:r>
            <a:endParaRPr lang="en-US" sz="1100" dirty="0"/>
          </a:p>
        </p:txBody>
      </p:sp>
      <p:sp>
        <p:nvSpPr>
          <p:cNvPr id="27" name="Text 23"/>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4 / 9</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329184"/>
            <a:ext cx="786384" cy="237744"/>
          </a:xfrm>
          <a:prstGeom prst="roundRect">
            <a:avLst>
              <a:gd name="adj" fmla="val 50000"/>
            </a:avLst>
          </a:prstGeom>
          <a:solidFill>
            <a:srgbClr val="1A4B8C"/>
          </a:solidFill>
          <a:ln w="12700">
            <a:solidFill>
              <a:srgbClr val="1A4B8C"/>
            </a:solidFill>
            <a:prstDash val="solid"/>
          </a:ln>
        </p:spPr>
      </p:sp>
      <p:sp>
        <p:nvSpPr>
          <p:cNvPr id="3" name="Text 1"/>
          <p:cNvSpPr txBox="1"/>
          <p:nvPr/>
        </p:nvSpPr>
        <p:spPr>
          <a:xfrm>
            <a:off x="640080" y="329184"/>
            <a:ext cx="78638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Atkinson Hyperlegible Next" pitchFamily="34" charset="0"/>
                <a:ea typeface="Atkinson Hyperlegible Next" pitchFamily="34" charset="-122"/>
                <a:cs typeface="Atkinson Hyperlegible Next" pitchFamily="34" charset="-120"/>
              </a:rPr>
              <a:t>działa</a:t>
            </a:r>
            <a:endParaRPr lang="en-US" sz="1000" dirty="0"/>
          </a:p>
        </p:txBody>
      </p:sp>
      <p:sp>
        <p:nvSpPr>
          <p:cNvPr id="4" name="Text 2"/>
          <p:cNvSpPr txBox="1"/>
          <p:nvPr/>
        </p:nvSpPr>
        <p:spPr>
          <a:xfrm>
            <a:off x="1563624" y="329184"/>
            <a:ext cx="9987991" cy="237744"/>
          </a:xfrm>
          <a:prstGeom prst="rect">
            <a:avLst/>
          </a:prstGeom>
          <a:noFill/>
          <a:ln/>
        </p:spPr>
        <p:txBody>
          <a:bodyPr wrap="square" lIns="0" tIns="0" rIns="0" bIns="0" rtlCol="0" anchor="ctr"/>
          <a:lstStyle/>
          <a:p>
            <a:pPr marL="0" indent="0">
              <a:buNone/>
            </a:pPr>
            <a:r>
              <a:rPr lang="en-US" sz="1100" b="1" kern="0" spc="100" dirty="0">
                <a:solidFill>
                  <a:srgbClr val="1A4B8C"/>
                </a:solidFill>
                <a:latin typeface="Atkinson Hyperlegible Next" pitchFamily="34" charset="0"/>
                <a:ea typeface="Atkinson Hyperlegible Next" pitchFamily="34" charset="-122"/>
                <a:cs typeface="Atkinson Hyperlegible Next" pitchFamily="34" charset="-120"/>
              </a:rPr>
              <a:t>MODUŁ V  ·  PLATFORMA AKTYWNEJ KOMUNIKACJI</a:t>
            </a:r>
            <a:endParaRPr lang="en-US" sz="1100" dirty="0"/>
          </a:p>
        </p:txBody>
      </p:sp>
      <p:sp>
        <p:nvSpPr>
          <p:cNvPr id="5" name="Text 3"/>
          <p:cNvSpPr txBox="1"/>
          <p:nvPr/>
        </p:nvSpPr>
        <p:spPr>
          <a:xfrm>
            <a:off x="640080" y="676656"/>
            <a:ext cx="10911535" cy="914400"/>
          </a:xfrm>
          <a:prstGeom prst="rect">
            <a:avLst/>
          </a:prstGeom>
          <a:noFill/>
          <a:ln/>
        </p:spPr>
        <p:txBody>
          <a:bodyPr wrap="square" lIns="0" tIns="0" rIns="0" bIns="0" rtlCol="0" anchor="t"/>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Rozmowa z ROPS, mentorem i partnerami – bez konta</a:t>
            </a:r>
            <a:endParaRPr lang="en-US" sz="3200" dirty="0"/>
          </a:p>
          <a:p>
            <a:pPr marL="0" indent="0">
              <a:spcBef>
                <a:spcPts val="600"/>
              </a:spcBef>
              <a:buNone/>
            </a:pPr>
            <a:r>
              <a:rPr lang="en-US" sz="1600" dirty="0">
                <a:solidFill>
                  <a:srgbClr val="454D57"/>
                </a:solidFill>
                <a:latin typeface="Atkinson Hyperlegible Next" pitchFamily="34" charset="0"/>
                <a:ea typeface="Atkinson Hyperlegible Next" pitchFamily="34" charset="-122"/>
                <a:cs typeface="Atkinson Hyperlegible Next" pitchFamily="34" charset="-120"/>
              </a:rPr>
              <a:t>Prywatny link zamiast logowania: pyta mieszkaniec, organizacja albo gmina, odpowiada pracownik ROPS</a:t>
            </a:r>
            <a:endParaRPr lang="en-US" sz="3200" dirty="0"/>
          </a:p>
        </p:txBody>
      </p:sp>
      <p:sp>
        <p:nvSpPr>
          <p:cNvPr id="6" name="Text 4"/>
          <p:cNvSpPr txBox="1"/>
          <p:nvPr/>
        </p:nvSpPr>
        <p:spPr>
          <a:xfrm>
            <a:off x="640080" y="1691640"/>
            <a:ext cx="4800600" cy="256032"/>
          </a:xfrm>
          <a:prstGeom prst="rect">
            <a:avLst/>
          </a:prstGeom>
          <a:noFill/>
          <a:ln/>
        </p:spPr>
        <p:txBody>
          <a:bodyPr wrap="square" lIns="0" tIns="0" rIns="0" bIns="0" rtlCol="0" anchor="ctr"/>
          <a:lstStyle/>
          <a:p>
            <a:pPr marL="0" indent="0">
              <a:buNone/>
            </a:pPr>
            <a:r>
              <a:rPr lang="en-US" sz="1000" b="1" kern="0" spc="100" dirty="0">
                <a:solidFill>
                  <a:srgbClr val="1A4B8C"/>
                </a:solidFill>
                <a:latin typeface="Atkinson Hyperlegible Next" pitchFamily="34" charset="0"/>
                <a:ea typeface="Atkinson Hyperlegible Next" pitchFamily="34" charset="-122"/>
                <a:cs typeface="Atkinson Hyperlegible Next" pitchFamily="34" charset="-120"/>
              </a:rPr>
              <a:t>WYMAGANIA ROPS  ·  JAK JE SPEŁNIAMY</a:t>
            </a:r>
            <a:endParaRPr lang="en-US" sz="1000" dirty="0"/>
          </a:p>
        </p:txBody>
      </p:sp>
      <p:sp>
        <p:nvSpPr>
          <p:cNvPr id="7" name="Shape 5"/>
          <p:cNvSpPr/>
          <p:nvPr/>
        </p:nvSpPr>
        <p:spPr>
          <a:xfrm>
            <a:off x="640080" y="2075688"/>
            <a:ext cx="310896" cy="310896"/>
          </a:xfrm>
          <a:prstGeom prst="ellipse">
            <a:avLst/>
          </a:prstGeom>
          <a:solidFill>
            <a:srgbClr val="1A4B8C"/>
          </a:solidFill>
          <a:ln w="12700">
            <a:solidFill>
              <a:srgbClr val="1A4B8C"/>
            </a:solidFill>
            <a:prstDash val="solid"/>
          </a:ln>
        </p:spPr>
      </p:sp>
      <p:sp>
        <p:nvSpPr>
          <p:cNvPr id="8" name="Text 6"/>
          <p:cNvSpPr txBox="1"/>
          <p:nvPr/>
        </p:nvSpPr>
        <p:spPr>
          <a:xfrm>
            <a:off x="640080" y="2075688"/>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9" name="Text 7"/>
          <p:cNvSpPr txBox="1"/>
          <p:nvPr/>
        </p:nvSpPr>
        <p:spPr>
          <a:xfrm>
            <a:off x="1097280" y="2057400"/>
            <a:ext cx="4343400" cy="101498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Bezpośredni dialog między ROPS a użytkownikami</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Rozmowa pod prywatnym linkiem, bez zakładania konta i podawania e-maila; odpowiedź podpisana nazwiskiem pracownika ROPS</a:t>
            </a:r>
            <a:endParaRPr lang="en-US" sz="1350" dirty="0"/>
          </a:p>
        </p:txBody>
      </p:sp>
      <p:sp>
        <p:nvSpPr>
          <p:cNvPr id="10" name="Shape 8"/>
          <p:cNvSpPr/>
          <p:nvPr/>
        </p:nvSpPr>
        <p:spPr>
          <a:xfrm>
            <a:off x="640080" y="3145536"/>
            <a:ext cx="310896" cy="310896"/>
          </a:xfrm>
          <a:prstGeom prst="ellipse">
            <a:avLst/>
          </a:prstGeom>
          <a:solidFill>
            <a:srgbClr val="1A4B8C"/>
          </a:solidFill>
          <a:ln w="12700">
            <a:solidFill>
              <a:srgbClr val="1A4B8C"/>
            </a:solidFill>
            <a:prstDash val="solid"/>
          </a:ln>
        </p:spPr>
      </p:sp>
      <p:sp>
        <p:nvSpPr>
          <p:cNvPr id="11" name="Text 9"/>
          <p:cNvSpPr txBox="1"/>
          <p:nvPr/>
        </p:nvSpPr>
        <p:spPr>
          <a:xfrm>
            <a:off x="640080" y="3145536"/>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12" name="Text 10"/>
          <p:cNvSpPr txBox="1"/>
          <p:nvPr/>
        </p:nvSpPr>
        <p:spPr>
          <a:xfrm>
            <a:off x="1097280" y="3127248"/>
            <a:ext cx="4343400" cy="101498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Szybkie zadawanie pytań</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„Zapytaj eksperta” przy każdej innowacji, fiszce pomysłu i ogłoszeniu; od razu wiadomo, czego dotyczy pytanie</a:t>
            </a:r>
            <a:endParaRPr lang="en-US" sz="1350" dirty="0"/>
          </a:p>
        </p:txBody>
      </p:sp>
      <p:sp>
        <p:nvSpPr>
          <p:cNvPr id="13" name="Shape 11"/>
          <p:cNvSpPr/>
          <p:nvPr/>
        </p:nvSpPr>
        <p:spPr>
          <a:xfrm>
            <a:off x="640080" y="4215384"/>
            <a:ext cx="310896" cy="310896"/>
          </a:xfrm>
          <a:prstGeom prst="ellipse">
            <a:avLst/>
          </a:prstGeom>
          <a:solidFill>
            <a:srgbClr val="1A4B8C"/>
          </a:solidFill>
          <a:ln w="12700">
            <a:solidFill>
              <a:srgbClr val="1A4B8C"/>
            </a:solidFill>
            <a:prstDash val="solid"/>
          </a:ln>
        </p:spPr>
      </p:sp>
      <p:sp>
        <p:nvSpPr>
          <p:cNvPr id="14" name="Text 12"/>
          <p:cNvSpPr txBox="1"/>
          <p:nvPr/>
        </p:nvSpPr>
        <p:spPr>
          <a:xfrm>
            <a:off x="640080" y="4215384"/>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15" name="Text 13"/>
          <p:cNvSpPr txBox="1"/>
          <p:nvPr/>
        </p:nvSpPr>
        <p:spPr>
          <a:xfrm>
            <a:off x="1097280" y="4197096"/>
            <a:ext cx="4343400" cy="101498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Wsparcie mentorów</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ROPS zaprasza mentora do rozmowy; mentor dołącza przez własny link, bez dostępu do panelu</a:t>
            </a:r>
            <a:endParaRPr lang="en-US" sz="1350" dirty="0"/>
          </a:p>
        </p:txBody>
      </p:sp>
      <p:sp>
        <p:nvSpPr>
          <p:cNvPr id="16" name="Shape 14"/>
          <p:cNvSpPr/>
          <p:nvPr/>
        </p:nvSpPr>
        <p:spPr>
          <a:xfrm>
            <a:off x="640080" y="5285232"/>
            <a:ext cx="310896" cy="310896"/>
          </a:xfrm>
          <a:prstGeom prst="ellipse">
            <a:avLst/>
          </a:prstGeom>
          <a:solidFill>
            <a:srgbClr val="1A4B8C"/>
          </a:solidFill>
          <a:ln w="12700">
            <a:solidFill>
              <a:srgbClr val="1A4B8C"/>
            </a:solidFill>
            <a:prstDash val="solid"/>
          </a:ln>
        </p:spPr>
      </p:sp>
      <p:sp>
        <p:nvSpPr>
          <p:cNvPr id="17" name="Text 15"/>
          <p:cNvSpPr txBox="1"/>
          <p:nvPr/>
        </p:nvSpPr>
        <p:spPr>
          <a:xfrm>
            <a:off x="640080" y="5285232"/>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18" name="Text 16"/>
          <p:cNvSpPr txBox="1"/>
          <p:nvPr/>
        </p:nvSpPr>
        <p:spPr>
          <a:xfrm>
            <a:off x="1097280" y="5266944"/>
            <a:ext cx="4343400" cy="101498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Budowanie partnerstw międzysektorowych</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Tablica „Szukam partnera” i „Oferuję współpracę” z filtrem według sektora; ROPS zatwierdza ogłoszenia i przekazuje odpowiedzi</a:t>
            </a:r>
            <a:endParaRPr lang="en-US" sz="1350" dirty="0"/>
          </a:p>
        </p:txBody>
      </p:sp>
      <p:sp>
        <p:nvSpPr>
          <p:cNvPr id="19" name="Shape 17"/>
          <p:cNvSpPr/>
          <p:nvPr/>
        </p:nvSpPr>
        <p:spPr>
          <a:xfrm>
            <a:off x="5852160" y="1691640"/>
            <a:ext cx="2530518" cy="2581686"/>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20" name="Image 0" descr="C:\Users\bobro\OneDrive\Developer\HackYeah2026\.local\presentation\source\img\talk-thread-crop.png"/>
          <p:cNvPicPr>
            <a:picLocks noChangeAspect="1"/>
          </p:cNvPicPr>
          <p:nvPr/>
        </p:nvPicPr>
        <p:blipFill>
          <a:blip r:embed="rId3"/>
          <a:stretch>
            <a:fillRect/>
          </a:stretch>
        </p:blipFill>
        <p:spPr>
          <a:xfrm>
            <a:off x="5852160" y="1691640"/>
            <a:ext cx="2530518" cy="2581686"/>
          </a:xfrm>
          <a:prstGeom prst="rect">
            <a:avLst/>
          </a:prstGeom>
        </p:spPr>
      </p:pic>
      <p:sp>
        <p:nvSpPr>
          <p:cNvPr id="21" name="Shape 18"/>
          <p:cNvSpPr/>
          <p:nvPr/>
        </p:nvSpPr>
        <p:spPr>
          <a:xfrm>
            <a:off x="5852160" y="1691640"/>
            <a:ext cx="2530518" cy="2581686"/>
          </a:xfrm>
          <a:prstGeom prst="rect">
            <a:avLst/>
          </a:prstGeom>
          <a:solidFill>
            <a:srgbClr val="FFFFFF">
              <a:alpha val="0"/>
            </a:srgbClr>
          </a:solidFill>
          <a:ln w="9525">
            <a:solidFill>
              <a:srgbClr val="C3CAD3"/>
            </a:solidFill>
            <a:prstDash val="solid"/>
          </a:ln>
        </p:spPr>
      </p:sp>
      <p:sp>
        <p:nvSpPr>
          <p:cNvPr id="22" name="Text 19"/>
          <p:cNvSpPr txBox="1"/>
          <p:nvPr/>
        </p:nvSpPr>
        <p:spPr>
          <a:xfrm>
            <a:off x="5852160" y="4346478"/>
            <a:ext cx="2530518"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Rozmowa: autor, ROPS i mentor</a:t>
            </a:r>
            <a:endParaRPr lang="en-US" sz="1100" dirty="0"/>
          </a:p>
        </p:txBody>
      </p:sp>
      <p:sp>
        <p:nvSpPr>
          <p:cNvPr id="23" name="Shape 20"/>
          <p:cNvSpPr/>
          <p:nvPr/>
        </p:nvSpPr>
        <p:spPr>
          <a:xfrm>
            <a:off x="8656998" y="1691640"/>
            <a:ext cx="2894618" cy="2581686"/>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24" name="Image 1" descr="C:\Users\bobro\OneDrive\Developer\HackYeah2026\.local\presentation\source\img\talk-board-top.png"/>
          <p:cNvPicPr>
            <a:picLocks noChangeAspect="1"/>
          </p:cNvPicPr>
          <p:nvPr/>
        </p:nvPicPr>
        <p:blipFill>
          <a:blip r:embed="rId4"/>
          <a:stretch>
            <a:fillRect/>
          </a:stretch>
        </p:blipFill>
        <p:spPr>
          <a:xfrm>
            <a:off x="8656998" y="1691640"/>
            <a:ext cx="2894618" cy="2581686"/>
          </a:xfrm>
          <a:prstGeom prst="rect">
            <a:avLst/>
          </a:prstGeom>
        </p:spPr>
      </p:pic>
      <p:sp>
        <p:nvSpPr>
          <p:cNvPr id="25" name="Shape 21"/>
          <p:cNvSpPr/>
          <p:nvPr/>
        </p:nvSpPr>
        <p:spPr>
          <a:xfrm>
            <a:off x="8656998" y="1691640"/>
            <a:ext cx="2894618" cy="2581686"/>
          </a:xfrm>
          <a:prstGeom prst="rect">
            <a:avLst/>
          </a:prstGeom>
          <a:solidFill>
            <a:srgbClr val="FFFFFF">
              <a:alpha val="0"/>
            </a:srgbClr>
          </a:solidFill>
          <a:ln w="9525">
            <a:solidFill>
              <a:srgbClr val="C3CAD3"/>
            </a:solidFill>
            <a:prstDash val="solid"/>
          </a:ln>
        </p:spPr>
      </p:sp>
      <p:sp>
        <p:nvSpPr>
          <p:cNvPr id="26" name="Text 22"/>
          <p:cNvSpPr txBox="1"/>
          <p:nvPr/>
        </p:nvSpPr>
        <p:spPr>
          <a:xfrm>
            <a:off x="8656998" y="4346478"/>
            <a:ext cx="2894618"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Tablica partnerstw</a:t>
            </a:r>
            <a:endParaRPr lang="en-US" sz="1100" dirty="0"/>
          </a:p>
        </p:txBody>
      </p:sp>
      <p:sp>
        <p:nvSpPr>
          <p:cNvPr id="27" name="Text 23"/>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5 / 9</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Shape 0"/>
          <p:cNvSpPr/>
          <p:nvPr/>
        </p:nvSpPr>
        <p:spPr>
          <a:xfrm>
            <a:off x="640080" y="329184"/>
            <a:ext cx="786384" cy="237744"/>
          </a:xfrm>
          <a:prstGeom prst="roundRect">
            <a:avLst>
              <a:gd name="adj" fmla="val 50000"/>
            </a:avLst>
          </a:prstGeom>
          <a:solidFill>
            <a:srgbClr val="1A4B8C"/>
          </a:solidFill>
          <a:ln w="12700">
            <a:solidFill>
              <a:srgbClr val="1A4B8C"/>
            </a:solidFill>
            <a:prstDash val="solid"/>
          </a:ln>
        </p:spPr>
      </p:sp>
      <p:sp>
        <p:nvSpPr>
          <p:cNvPr id="3" name="Text 1"/>
          <p:cNvSpPr txBox="1"/>
          <p:nvPr/>
        </p:nvSpPr>
        <p:spPr>
          <a:xfrm>
            <a:off x="640080" y="329184"/>
            <a:ext cx="786384" cy="237744"/>
          </a:xfrm>
          <a:prstGeom prst="rect">
            <a:avLst/>
          </a:prstGeom>
          <a:noFill/>
          <a:ln/>
        </p:spPr>
        <p:txBody>
          <a:bodyPr wrap="square" lIns="0" tIns="0" rIns="0" bIns="0" rtlCol="0" anchor="ctr"/>
          <a:lstStyle/>
          <a:p>
            <a:pPr marL="0" indent="0" algn="ctr">
              <a:buNone/>
            </a:pPr>
            <a:r>
              <a:rPr lang="en-US" sz="1000" b="1" dirty="0">
                <a:solidFill>
                  <a:srgbClr val="FFFFFF"/>
                </a:solidFill>
                <a:latin typeface="Atkinson Hyperlegible Next" pitchFamily="34" charset="0"/>
                <a:ea typeface="Atkinson Hyperlegible Next" pitchFamily="34" charset="-122"/>
                <a:cs typeface="Atkinson Hyperlegible Next" pitchFamily="34" charset="-120"/>
              </a:rPr>
              <a:t>działa</a:t>
            </a:r>
            <a:endParaRPr lang="en-US" sz="1000" dirty="0"/>
          </a:p>
        </p:txBody>
      </p:sp>
      <p:sp>
        <p:nvSpPr>
          <p:cNvPr id="4" name="Text 2"/>
          <p:cNvSpPr txBox="1"/>
          <p:nvPr/>
        </p:nvSpPr>
        <p:spPr>
          <a:xfrm>
            <a:off x="1563624" y="329184"/>
            <a:ext cx="9987991" cy="237744"/>
          </a:xfrm>
          <a:prstGeom prst="rect">
            <a:avLst/>
          </a:prstGeom>
          <a:noFill/>
          <a:ln/>
        </p:spPr>
        <p:txBody>
          <a:bodyPr wrap="square" lIns="0" tIns="0" rIns="0" bIns="0" rtlCol="0" anchor="ctr"/>
          <a:lstStyle/>
          <a:p>
            <a:pPr marL="0" indent="0">
              <a:buNone/>
            </a:pPr>
            <a:r>
              <a:rPr lang="en-US" sz="1100" b="1" kern="0" spc="100" dirty="0">
                <a:solidFill>
                  <a:srgbClr val="1A4B8C"/>
                </a:solidFill>
                <a:latin typeface="Atkinson Hyperlegible Next" pitchFamily="34" charset="0"/>
                <a:ea typeface="Atkinson Hyperlegible Next" pitchFamily="34" charset="-122"/>
                <a:cs typeface="Atkinson Hyperlegible Next" pitchFamily="34" charset="-120"/>
              </a:rPr>
              <a:t>MODUŁ VI  ·  PANEL ADMINISTRATORA</a:t>
            </a:r>
            <a:endParaRPr lang="en-US" sz="1100" dirty="0"/>
          </a:p>
        </p:txBody>
      </p:sp>
      <p:sp>
        <p:nvSpPr>
          <p:cNvPr id="5" name="Text 3"/>
          <p:cNvSpPr txBox="1"/>
          <p:nvPr/>
        </p:nvSpPr>
        <p:spPr>
          <a:xfrm>
            <a:off x="640080" y="676656"/>
            <a:ext cx="10911535" cy="914400"/>
          </a:xfrm>
          <a:prstGeom prst="rect">
            <a:avLst/>
          </a:prstGeom>
          <a:noFill/>
          <a:ln/>
        </p:spPr>
        <p:txBody>
          <a:bodyPr wrap="square" lIns="0" tIns="0" rIns="0" bIns="0" rtlCol="0" anchor="t"/>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Panel ROPS: o każdym wpisie decyduje człowiek</a:t>
            </a:r>
            <a:endParaRPr lang="en-US" sz="3200" dirty="0"/>
          </a:p>
          <a:p>
            <a:pPr marL="0" indent="0">
              <a:spcBef>
                <a:spcPts val="600"/>
              </a:spcBef>
              <a:buNone/>
            </a:pPr>
            <a:r>
              <a:rPr lang="en-US" sz="1600" dirty="0">
                <a:solidFill>
                  <a:srgbClr val="454D57"/>
                </a:solidFill>
                <a:latin typeface="Atkinson Hyperlegible Next" pitchFamily="34" charset="0"/>
                <a:ea typeface="Atkinson Hyperlegible Next" pitchFamily="34" charset="-122"/>
                <a:cs typeface="Atkinson Hyperlegible Next" pitchFamily="34" charset="-120"/>
              </a:rPr>
              <a:t>Zmiany w panelu widać od razu; autor pomysłu znajdzie odpowiedź na stronie swojej fiszki</a:t>
            </a:r>
            <a:endParaRPr lang="en-US" sz="3200" dirty="0"/>
          </a:p>
        </p:txBody>
      </p:sp>
      <p:sp>
        <p:nvSpPr>
          <p:cNvPr id="6" name="Text 4"/>
          <p:cNvSpPr txBox="1"/>
          <p:nvPr/>
        </p:nvSpPr>
        <p:spPr>
          <a:xfrm>
            <a:off x="640080" y="1691640"/>
            <a:ext cx="4800600" cy="256032"/>
          </a:xfrm>
          <a:prstGeom prst="rect">
            <a:avLst/>
          </a:prstGeom>
          <a:noFill/>
          <a:ln/>
        </p:spPr>
        <p:txBody>
          <a:bodyPr wrap="square" lIns="0" tIns="0" rIns="0" bIns="0" rtlCol="0" anchor="ctr"/>
          <a:lstStyle/>
          <a:p>
            <a:pPr marL="0" indent="0">
              <a:buNone/>
            </a:pPr>
            <a:r>
              <a:rPr lang="en-US" sz="1000" b="1" kern="0" spc="100" dirty="0">
                <a:solidFill>
                  <a:srgbClr val="1A4B8C"/>
                </a:solidFill>
                <a:latin typeface="Atkinson Hyperlegible Next" pitchFamily="34" charset="0"/>
                <a:ea typeface="Atkinson Hyperlegible Next" pitchFamily="34" charset="-122"/>
                <a:cs typeface="Atkinson Hyperlegible Next" pitchFamily="34" charset="-120"/>
              </a:rPr>
              <a:t>WYMAGANIA ROPS  ·  JAK JE SPEŁNIAMY</a:t>
            </a:r>
            <a:endParaRPr lang="en-US" sz="1000" dirty="0"/>
          </a:p>
        </p:txBody>
      </p:sp>
      <p:sp>
        <p:nvSpPr>
          <p:cNvPr id="7" name="Shape 5"/>
          <p:cNvSpPr/>
          <p:nvPr/>
        </p:nvSpPr>
        <p:spPr>
          <a:xfrm>
            <a:off x="640080" y="2075688"/>
            <a:ext cx="310896" cy="310896"/>
          </a:xfrm>
          <a:prstGeom prst="ellipse">
            <a:avLst/>
          </a:prstGeom>
          <a:solidFill>
            <a:srgbClr val="1A4B8C"/>
          </a:solidFill>
          <a:ln w="12700">
            <a:solidFill>
              <a:srgbClr val="1A4B8C"/>
            </a:solidFill>
            <a:prstDash val="solid"/>
          </a:ln>
        </p:spPr>
      </p:sp>
      <p:sp>
        <p:nvSpPr>
          <p:cNvPr id="8" name="Text 6"/>
          <p:cNvSpPr txBox="1"/>
          <p:nvPr/>
        </p:nvSpPr>
        <p:spPr>
          <a:xfrm>
            <a:off x="640080" y="2075688"/>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9" name="Text 7"/>
          <p:cNvSpPr txBox="1"/>
          <p:nvPr/>
        </p:nvSpPr>
        <p:spPr>
          <a:xfrm>
            <a:off x="1097280" y="2057400"/>
            <a:ext cx="4343400" cy="80101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Szybkie modyfikowanie wiedzy</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Poprawiony opis, nowy film, nowy materiał dla grupy docelowej: zmiany widać od razu, także w drogach utworzonych wcześniej</a:t>
            </a:r>
            <a:endParaRPr lang="en-US" sz="1350" dirty="0"/>
          </a:p>
        </p:txBody>
      </p:sp>
      <p:sp>
        <p:nvSpPr>
          <p:cNvPr id="10" name="Shape 8"/>
          <p:cNvSpPr/>
          <p:nvPr/>
        </p:nvSpPr>
        <p:spPr>
          <a:xfrm>
            <a:off x="640080" y="2931566"/>
            <a:ext cx="310896" cy="310896"/>
          </a:xfrm>
          <a:prstGeom prst="ellipse">
            <a:avLst/>
          </a:prstGeom>
          <a:solidFill>
            <a:srgbClr val="1A4B8C"/>
          </a:solidFill>
          <a:ln w="12700">
            <a:solidFill>
              <a:srgbClr val="1A4B8C"/>
            </a:solidFill>
            <a:prstDash val="solid"/>
          </a:ln>
        </p:spPr>
      </p:sp>
      <p:sp>
        <p:nvSpPr>
          <p:cNvPr id="11" name="Text 9"/>
          <p:cNvSpPr txBox="1"/>
          <p:nvPr/>
        </p:nvSpPr>
        <p:spPr>
          <a:xfrm>
            <a:off x="640080" y="2931566"/>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12" name="Text 10"/>
          <p:cNvSpPr txBox="1"/>
          <p:nvPr/>
        </p:nvSpPr>
        <p:spPr>
          <a:xfrm>
            <a:off x="1097280" y="2913278"/>
            <a:ext cx="4343400" cy="80101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Weryfikacja wiedzy</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Oznaczenie „Sprawdzone przez ROPS” na stronie innowacji i w drogach; każda decyzja odnotowana z nazwiskiem pracownika</a:t>
            </a:r>
            <a:endParaRPr lang="en-US" sz="1350" dirty="0"/>
          </a:p>
        </p:txBody>
      </p:sp>
      <p:sp>
        <p:nvSpPr>
          <p:cNvPr id="13" name="Shape 11"/>
          <p:cNvSpPr/>
          <p:nvPr/>
        </p:nvSpPr>
        <p:spPr>
          <a:xfrm>
            <a:off x="640080" y="3787445"/>
            <a:ext cx="310896" cy="310896"/>
          </a:xfrm>
          <a:prstGeom prst="ellipse">
            <a:avLst/>
          </a:prstGeom>
          <a:solidFill>
            <a:srgbClr val="1A4B8C"/>
          </a:solidFill>
          <a:ln w="12700">
            <a:solidFill>
              <a:srgbClr val="1A4B8C"/>
            </a:solidFill>
            <a:prstDash val="solid"/>
          </a:ln>
        </p:spPr>
      </p:sp>
      <p:sp>
        <p:nvSpPr>
          <p:cNvPr id="14" name="Text 12"/>
          <p:cNvSpPr txBox="1"/>
          <p:nvPr/>
        </p:nvSpPr>
        <p:spPr>
          <a:xfrm>
            <a:off x="640080" y="3787445"/>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15" name="Text 13"/>
          <p:cNvSpPr txBox="1"/>
          <p:nvPr/>
        </p:nvSpPr>
        <p:spPr>
          <a:xfrm>
            <a:off x="1097280" y="3769157"/>
            <a:ext cx="4343400" cy="80101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Udostępnianie wiedzy</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Potrzeby, fiszki, opinie i ogłoszenia są publikowane za zgodą autora i po akceptacji ROPS; eksport do CSV</a:t>
            </a:r>
            <a:endParaRPr lang="en-US" sz="1350" dirty="0"/>
          </a:p>
        </p:txBody>
      </p:sp>
      <p:sp>
        <p:nvSpPr>
          <p:cNvPr id="16" name="Shape 14"/>
          <p:cNvSpPr/>
          <p:nvPr/>
        </p:nvSpPr>
        <p:spPr>
          <a:xfrm>
            <a:off x="640080" y="4643323"/>
            <a:ext cx="310896" cy="310896"/>
          </a:xfrm>
          <a:prstGeom prst="ellipse">
            <a:avLst/>
          </a:prstGeom>
          <a:solidFill>
            <a:srgbClr val="1A4B8C"/>
          </a:solidFill>
          <a:ln w="12700">
            <a:solidFill>
              <a:srgbClr val="1A4B8C"/>
            </a:solidFill>
            <a:prstDash val="solid"/>
          </a:ln>
        </p:spPr>
      </p:sp>
      <p:sp>
        <p:nvSpPr>
          <p:cNvPr id="17" name="Text 15"/>
          <p:cNvSpPr txBox="1"/>
          <p:nvPr/>
        </p:nvSpPr>
        <p:spPr>
          <a:xfrm>
            <a:off x="640080" y="4643323"/>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18" name="Text 16"/>
          <p:cNvSpPr txBox="1"/>
          <p:nvPr/>
        </p:nvSpPr>
        <p:spPr>
          <a:xfrm>
            <a:off x="1097280" y="4625035"/>
            <a:ext cx="4343400" cy="80101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Powiadamianie administratora o nowym pomyśle</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Pulpit pokazuje, co czeka na decyzję i co nowego od ostatniej wizyty</a:t>
            </a:r>
            <a:endParaRPr lang="en-US" sz="1350" dirty="0"/>
          </a:p>
        </p:txBody>
      </p:sp>
      <p:sp>
        <p:nvSpPr>
          <p:cNvPr id="19" name="Shape 17"/>
          <p:cNvSpPr/>
          <p:nvPr/>
        </p:nvSpPr>
        <p:spPr>
          <a:xfrm>
            <a:off x="640080" y="5499202"/>
            <a:ext cx="310896" cy="310896"/>
          </a:xfrm>
          <a:prstGeom prst="ellipse">
            <a:avLst/>
          </a:prstGeom>
          <a:solidFill>
            <a:srgbClr val="1A4B8C"/>
          </a:solidFill>
          <a:ln w="12700">
            <a:solidFill>
              <a:srgbClr val="1A4B8C"/>
            </a:solidFill>
            <a:prstDash val="solid"/>
          </a:ln>
        </p:spPr>
      </p:sp>
      <p:sp>
        <p:nvSpPr>
          <p:cNvPr id="20" name="Text 18"/>
          <p:cNvSpPr txBox="1"/>
          <p:nvPr/>
        </p:nvSpPr>
        <p:spPr>
          <a:xfrm>
            <a:off x="640080" y="5499202"/>
            <a:ext cx="310896" cy="310896"/>
          </a:xfrm>
          <a:prstGeom prst="rect">
            <a:avLst/>
          </a:prstGeom>
          <a:noFill/>
          <a:ln/>
        </p:spPr>
        <p:txBody>
          <a:bodyPr wrap="square" lIns="0" tIns="0" rIns="0" bIns="0" rtlCol="0" anchor="ctr"/>
          <a:lstStyle/>
          <a:p>
            <a:pPr marL="0" indent="0" algn="ctr">
              <a:buNone/>
            </a:pPr>
            <a:r>
              <a:rPr lang="en-US" sz="1200" b="1" dirty="0">
                <a:solidFill>
                  <a:srgbClr val="FFFFFF"/>
                </a:solidFill>
                <a:latin typeface="Segoe UI Symbol" pitchFamily="34" charset="0"/>
                <a:ea typeface="Segoe UI Symbol" pitchFamily="34" charset="-122"/>
                <a:cs typeface="Segoe UI Symbol" pitchFamily="34" charset="-120"/>
              </a:rPr>
              <a:t>✓</a:t>
            </a:r>
            <a:endParaRPr lang="en-US" sz="1200" dirty="0"/>
          </a:p>
        </p:txBody>
      </p:sp>
      <p:sp>
        <p:nvSpPr>
          <p:cNvPr id="21" name="Text 19"/>
          <p:cNvSpPr txBox="1"/>
          <p:nvPr/>
        </p:nvSpPr>
        <p:spPr>
          <a:xfrm>
            <a:off x="1097280" y="5480914"/>
            <a:ext cx="4343400" cy="801014"/>
          </a:xfrm>
          <a:prstGeom prst="rect">
            <a:avLst/>
          </a:prstGeom>
          <a:noFill/>
          <a:ln/>
        </p:spPr>
        <p:txBody>
          <a:bodyPr wrap="square" lIns="0" tIns="0" rIns="0" bIns="0" rtlCol="0" anchor="t"/>
          <a:lstStyle/>
          <a:p>
            <a:pPr marL="0" indent="0">
              <a:buNone/>
            </a:pPr>
            <a:r>
              <a:rPr lang="en-US" sz="1350" b="1" dirty="0">
                <a:solidFill>
                  <a:srgbClr val="14171A"/>
                </a:solidFill>
                <a:latin typeface="Atkinson Hyperlegible Next" pitchFamily="34" charset="0"/>
                <a:ea typeface="Atkinson Hyperlegible Next" pitchFamily="34" charset="-122"/>
                <a:cs typeface="Atkinson Hyperlegible Next" pitchFamily="34" charset="-120"/>
              </a:rPr>
              <a:t>Ścieżka odpowiedzi do autora</a:t>
            </a:r>
            <a:endParaRPr lang="en-US" sz="1350" dirty="0"/>
          </a:p>
          <a:p>
            <a:pPr marL="0" indent="0">
              <a:spcBef>
                <a:spcPts val="2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Status i odpowiedź ROPS z datą, od razu widoczne na stronie fiszki</a:t>
            </a:r>
            <a:endParaRPr lang="en-US" sz="1350" dirty="0"/>
          </a:p>
        </p:txBody>
      </p:sp>
      <p:sp>
        <p:nvSpPr>
          <p:cNvPr id="22" name="Shape 20"/>
          <p:cNvSpPr/>
          <p:nvPr/>
        </p:nvSpPr>
        <p:spPr>
          <a:xfrm>
            <a:off x="6573062" y="1691640"/>
            <a:ext cx="4257652" cy="2201911"/>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23" name="Image 0" descr="C:\Users\bobro\OneDrive\Developer\HackYeah2026\.local\presentation\source\img\panel-dashboard-top.png"/>
          <p:cNvPicPr>
            <a:picLocks noChangeAspect="1"/>
          </p:cNvPicPr>
          <p:nvPr/>
        </p:nvPicPr>
        <p:blipFill>
          <a:blip r:embed="rId3"/>
          <a:stretch>
            <a:fillRect/>
          </a:stretch>
        </p:blipFill>
        <p:spPr>
          <a:xfrm>
            <a:off x="6573062" y="1691640"/>
            <a:ext cx="4257652" cy="2201911"/>
          </a:xfrm>
          <a:prstGeom prst="rect">
            <a:avLst/>
          </a:prstGeom>
        </p:spPr>
      </p:pic>
      <p:sp>
        <p:nvSpPr>
          <p:cNvPr id="24" name="Shape 21"/>
          <p:cNvSpPr/>
          <p:nvPr/>
        </p:nvSpPr>
        <p:spPr>
          <a:xfrm>
            <a:off x="6573062" y="1691640"/>
            <a:ext cx="4257652" cy="2201911"/>
          </a:xfrm>
          <a:prstGeom prst="rect">
            <a:avLst/>
          </a:prstGeom>
          <a:solidFill>
            <a:srgbClr val="FFFFFF">
              <a:alpha val="0"/>
            </a:srgbClr>
          </a:solidFill>
          <a:ln w="9525">
            <a:solidFill>
              <a:srgbClr val="C3CAD3"/>
            </a:solidFill>
            <a:prstDash val="solid"/>
          </a:ln>
        </p:spPr>
      </p:sp>
      <p:sp>
        <p:nvSpPr>
          <p:cNvPr id="25" name="Text 22"/>
          <p:cNvSpPr txBox="1"/>
          <p:nvPr/>
        </p:nvSpPr>
        <p:spPr>
          <a:xfrm>
            <a:off x="6573062" y="3966703"/>
            <a:ext cx="4257652"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Pulpit: co czeka na decyzję i co nowego od ostatniej wizyty</a:t>
            </a:r>
            <a:endParaRPr lang="en-US" sz="1100" dirty="0"/>
          </a:p>
        </p:txBody>
      </p:sp>
      <p:sp>
        <p:nvSpPr>
          <p:cNvPr id="26" name="Shape 23"/>
          <p:cNvSpPr/>
          <p:nvPr/>
        </p:nvSpPr>
        <p:spPr>
          <a:xfrm>
            <a:off x="6573062" y="4515343"/>
            <a:ext cx="4257652" cy="1492265"/>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27" name="Image 1" descr="C:\Users\bobro\OneDrive\Developer\HackYeah2026\.local\presentation\source\img\idea-reply-status.png"/>
          <p:cNvPicPr>
            <a:picLocks noChangeAspect="1"/>
          </p:cNvPicPr>
          <p:nvPr/>
        </p:nvPicPr>
        <p:blipFill>
          <a:blip r:embed="rId4"/>
          <a:stretch>
            <a:fillRect/>
          </a:stretch>
        </p:blipFill>
        <p:spPr>
          <a:xfrm>
            <a:off x="6573062" y="4515343"/>
            <a:ext cx="4257652" cy="1492265"/>
          </a:xfrm>
          <a:prstGeom prst="rect">
            <a:avLst/>
          </a:prstGeom>
        </p:spPr>
      </p:pic>
      <p:sp>
        <p:nvSpPr>
          <p:cNvPr id="28" name="Shape 24"/>
          <p:cNvSpPr/>
          <p:nvPr/>
        </p:nvSpPr>
        <p:spPr>
          <a:xfrm>
            <a:off x="6573062" y="4515343"/>
            <a:ext cx="4257652" cy="1492265"/>
          </a:xfrm>
          <a:prstGeom prst="rect">
            <a:avLst/>
          </a:prstGeom>
          <a:solidFill>
            <a:srgbClr val="FFFFFF">
              <a:alpha val="0"/>
            </a:srgbClr>
          </a:solidFill>
          <a:ln w="9525">
            <a:solidFill>
              <a:srgbClr val="C3CAD3"/>
            </a:solidFill>
            <a:prstDash val="solid"/>
          </a:ln>
        </p:spPr>
      </p:sp>
      <p:sp>
        <p:nvSpPr>
          <p:cNvPr id="29" name="Text 25"/>
          <p:cNvSpPr txBox="1"/>
          <p:nvPr/>
        </p:nvSpPr>
        <p:spPr>
          <a:xfrm>
            <a:off x="6573062" y="6080760"/>
            <a:ext cx="4257652"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Status i odpowiedź ROPS na stronie fiszki pomysłu</a:t>
            </a:r>
            <a:endParaRPr lang="en-US" sz="1100" dirty="0"/>
          </a:p>
        </p:txBody>
      </p:sp>
      <p:sp>
        <p:nvSpPr>
          <p:cNvPr id="30" name="Text 26"/>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6 / 9</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20040"/>
            <a:ext cx="10911535" cy="1143000"/>
          </a:xfrm>
          <a:prstGeom prst="rect">
            <a:avLst/>
          </a:prstGeom>
          <a:noFill/>
          <a:ln/>
        </p:spPr>
        <p:txBody>
          <a:bodyPr wrap="square" lIns="0" tIns="0" rIns="0" bIns="0" rtlCol="0" anchor="b"/>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Empatia przed technologią</a:t>
            </a:r>
            <a:endParaRPr lang="en-US" sz="3200" dirty="0"/>
          </a:p>
          <a:p>
            <a:pPr marL="0" indent="0">
              <a:spcBef>
                <a:spcPts val="600"/>
              </a:spcBef>
              <a:buNone/>
            </a:pPr>
            <a:r>
              <a:rPr lang="en-US" sz="1600" dirty="0">
                <a:solidFill>
                  <a:srgbClr val="454D57"/>
                </a:solidFill>
                <a:latin typeface="Atkinson Hyperlegible Next" pitchFamily="34" charset="0"/>
                <a:ea typeface="Atkinson Hyperlegible Next" pitchFamily="34" charset="-122"/>
                <a:cs typeface="Atkinson Hyperlegible Next" pitchFamily="34" charset="-120"/>
              </a:rPr>
              <a:t>Najpierw filtr bezpieczeństwa. Model wybiera i wyjaśnia, a decydują ludzie.</a:t>
            </a:r>
            <a:endParaRPr lang="en-US" sz="3200" dirty="0"/>
          </a:p>
        </p:txBody>
      </p:sp>
      <p:sp>
        <p:nvSpPr>
          <p:cNvPr id="3" name="Shape 1"/>
          <p:cNvSpPr/>
          <p:nvPr/>
        </p:nvSpPr>
        <p:spPr>
          <a:xfrm>
            <a:off x="640080" y="1691640"/>
            <a:ext cx="1948221" cy="868680"/>
          </a:xfrm>
          <a:prstGeom prst="roundRect">
            <a:avLst>
              <a:gd name="adj" fmla="val 10526"/>
            </a:avLst>
          </a:prstGeom>
          <a:solidFill>
            <a:srgbClr val="1A4B8C"/>
          </a:solidFill>
          <a:ln w="12700">
            <a:solidFill>
              <a:srgbClr val="1A4B8C"/>
            </a:solidFill>
            <a:prstDash val="solid"/>
          </a:ln>
        </p:spPr>
      </p:sp>
      <p:sp>
        <p:nvSpPr>
          <p:cNvPr id="4" name="Text 2"/>
          <p:cNvSpPr txBox="1"/>
          <p:nvPr/>
        </p:nvSpPr>
        <p:spPr>
          <a:xfrm>
            <a:off x="777240" y="1691640"/>
            <a:ext cx="1673901" cy="868680"/>
          </a:xfrm>
          <a:prstGeom prst="rect">
            <a:avLst/>
          </a:prstGeom>
          <a:noFill/>
          <a:ln/>
        </p:spPr>
        <p:txBody>
          <a:bodyPr wrap="square" lIns="0" tIns="0" rIns="0" bIns="0" rtlCol="0" anchor="ctr"/>
          <a:lstStyle/>
          <a:p>
            <a:pPr marL="0" indent="0">
              <a:buNone/>
            </a:pPr>
            <a:r>
              <a:rPr lang="en-US" sz="1300" b="1" dirty="0">
                <a:solidFill>
                  <a:srgbClr val="FFFFFF"/>
                </a:solidFill>
                <a:latin typeface="Atkinson Hyperlegible Next" pitchFamily="34" charset="0"/>
                <a:ea typeface="Atkinson Hyperlegible Next" pitchFamily="34" charset="-122"/>
                <a:cs typeface="Atkinson Hyperlegible Next" pitchFamily="34" charset="-120"/>
              </a:rPr>
              <a:t>1  Filtr bezpieczeństwa</a:t>
            </a:r>
            <a:endParaRPr lang="en-US" sz="1300" dirty="0"/>
          </a:p>
          <a:p>
            <a:pPr marL="0" indent="0">
              <a:buNone/>
            </a:pPr>
            <a:r>
              <a:rPr lang="en-US" sz="1100" dirty="0">
                <a:solidFill>
                  <a:srgbClr val="DCE6F2"/>
                </a:solidFill>
                <a:latin typeface="Atkinson Hyperlegible Next" pitchFamily="34" charset="0"/>
                <a:ea typeface="Atkinson Hyperlegible Next" pitchFamily="34" charset="-122"/>
                <a:cs typeface="Atkinson Hyperlegible Next" pitchFamily="34" charset="-120"/>
              </a:rPr>
              <a:t>najpierw reguły, potem model</a:t>
            </a:r>
            <a:endParaRPr lang="en-US" sz="1300" dirty="0"/>
          </a:p>
        </p:txBody>
      </p:sp>
      <p:sp>
        <p:nvSpPr>
          <p:cNvPr id="5" name="Shape 3"/>
          <p:cNvSpPr/>
          <p:nvPr/>
        </p:nvSpPr>
        <p:spPr>
          <a:xfrm>
            <a:off x="2670597" y="2025396"/>
            <a:ext cx="128016" cy="201168"/>
          </a:xfrm>
          <a:prstGeom prst="chevron">
            <a:avLst/>
          </a:prstGeom>
          <a:solidFill>
            <a:srgbClr val="1A4B8C"/>
          </a:solidFill>
          <a:ln w="12700">
            <a:solidFill>
              <a:srgbClr val="1A4B8C"/>
            </a:solidFill>
            <a:prstDash val="solid"/>
          </a:ln>
        </p:spPr>
      </p:sp>
      <p:sp>
        <p:nvSpPr>
          <p:cNvPr id="6" name="Shape 4"/>
          <p:cNvSpPr/>
          <p:nvPr/>
        </p:nvSpPr>
        <p:spPr>
          <a:xfrm>
            <a:off x="2880909" y="1691640"/>
            <a:ext cx="1948221" cy="868680"/>
          </a:xfrm>
          <a:prstGeom prst="roundRect">
            <a:avLst>
              <a:gd name="adj" fmla="val 10526"/>
            </a:avLst>
          </a:prstGeom>
          <a:solidFill>
            <a:srgbClr val="EEF4FB"/>
          </a:solidFill>
          <a:ln w="12700">
            <a:solidFill>
              <a:srgbClr val="EEF4FB"/>
            </a:solidFill>
            <a:prstDash val="solid"/>
          </a:ln>
        </p:spPr>
      </p:sp>
      <p:sp>
        <p:nvSpPr>
          <p:cNvPr id="7" name="Text 5"/>
          <p:cNvSpPr txBox="1"/>
          <p:nvPr/>
        </p:nvSpPr>
        <p:spPr>
          <a:xfrm>
            <a:off x="3018069" y="1691640"/>
            <a:ext cx="1673901" cy="868680"/>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2  Wyszukiwanie</a:t>
            </a:r>
            <a:endParaRPr lang="en-US" sz="130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PolDense-400M: 40 najbardziej podobnych z 381</a:t>
            </a:r>
            <a:endParaRPr lang="en-US" sz="1300" dirty="0"/>
          </a:p>
        </p:txBody>
      </p:sp>
      <p:sp>
        <p:nvSpPr>
          <p:cNvPr id="8" name="Shape 6"/>
          <p:cNvSpPr/>
          <p:nvPr/>
        </p:nvSpPr>
        <p:spPr>
          <a:xfrm>
            <a:off x="4911425" y="2025396"/>
            <a:ext cx="128016" cy="201168"/>
          </a:xfrm>
          <a:prstGeom prst="chevron">
            <a:avLst/>
          </a:prstGeom>
          <a:solidFill>
            <a:srgbClr val="1A4B8C"/>
          </a:solidFill>
          <a:ln w="12700">
            <a:solidFill>
              <a:srgbClr val="1A4B8C"/>
            </a:solidFill>
            <a:prstDash val="solid"/>
          </a:ln>
        </p:spPr>
      </p:sp>
      <p:sp>
        <p:nvSpPr>
          <p:cNvPr id="9" name="Shape 7"/>
          <p:cNvSpPr/>
          <p:nvPr/>
        </p:nvSpPr>
        <p:spPr>
          <a:xfrm>
            <a:off x="5121737" y="1691640"/>
            <a:ext cx="1948221" cy="868680"/>
          </a:xfrm>
          <a:prstGeom prst="roundRect">
            <a:avLst>
              <a:gd name="adj" fmla="val 10526"/>
            </a:avLst>
          </a:prstGeom>
          <a:solidFill>
            <a:srgbClr val="EEF4FB"/>
          </a:solidFill>
          <a:ln w="12700">
            <a:solidFill>
              <a:srgbClr val="EEF4FB"/>
            </a:solidFill>
            <a:prstDash val="solid"/>
          </a:ln>
        </p:spPr>
      </p:sp>
      <p:sp>
        <p:nvSpPr>
          <p:cNvPr id="10" name="Text 8"/>
          <p:cNvSpPr txBox="1"/>
          <p:nvPr/>
        </p:nvSpPr>
        <p:spPr>
          <a:xfrm>
            <a:off x="5258897" y="1691640"/>
            <a:ext cx="1673901" cy="868680"/>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3  Ocena i uzasadnienia</a:t>
            </a:r>
            <a:endParaRPr lang="en-US" sz="130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Bielik 11B v3.0, otwarty polski model</a:t>
            </a:r>
            <a:endParaRPr lang="en-US" sz="1300" dirty="0"/>
          </a:p>
        </p:txBody>
      </p:sp>
      <p:sp>
        <p:nvSpPr>
          <p:cNvPr id="11" name="Shape 9"/>
          <p:cNvSpPr/>
          <p:nvPr/>
        </p:nvSpPr>
        <p:spPr>
          <a:xfrm>
            <a:off x="7152254" y="2025396"/>
            <a:ext cx="128016" cy="201168"/>
          </a:xfrm>
          <a:prstGeom prst="chevron">
            <a:avLst/>
          </a:prstGeom>
          <a:solidFill>
            <a:srgbClr val="1A4B8C"/>
          </a:solidFill>
          <a:ln w="12700">
            <a:solidFill>
              <a:srgbClr val="1A4B8C"/>
            </a:solidFill>
            <a:prstDash val="solid"/>
          </a:ln>
        </p:spPr>
      </p:sp>
      <p:sp>
        <p:nvSpPr>
          <p:cNvPr id="12" name="Shape 10"/>
          <p:cNvSpPr/>
          <p:nvPr/>
        </p:nvSpPr>
        <p:spPr>
          <a:xfrm>
            <a:off x="7362566" y="1691640"/>
            <a:ext cx="1948221" cy="868680"/>
          </a:xfrm>
          <a:prstGeom prst="roundRect">
            <a:avLst>
              <a:gd name="adj" fmla="val 10526"/>
            </a:avLst>
          </a:prstGeom>
          <a:solidFill>
            <a:srgbClr val="EEF4FB"/>
          </a:solidFill>
          <a:ln w="12700">
            <a:solidFill>
              <a:srgbClr val="EEF4FB"/>
            </a:solidFill>
            <a:prstDash val="solid"/>
          </a:ln>
        </p:spPr>
      </p:sp>
      <p:sp>
        <p:nvSpPr>
          <p:cNvPr id="13" name="Text 11"/>
          <p:cNvSpPr txBox="1"/>
          <p:nvPr/>
        </p:nvSpPr>
        <p:spPr>
          <a:xfrm>
            <a:off x="7499726" y="1691640"/>
            <a:ext cx="1673901" cy="868680"/>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4  Układanie drogi</a:t>
            </a:r>
            <a:endParaRPr lang="en-US" sz="130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wiedza, ludzie, ścieżki, kolejne kroki</a:t>
            </a:r>
            <a:endParaRPr lang="en-US" sz="1300" dirty="0"/>
          </a:p>
        </p:txBody>
      </p:sp>
      <p:sp>
        <p:nvSpPr>
          <p:cNvPr id="14" name="Shape 12"/>
          <p:cNvSpPr/>
          <p:nvPr/>
        </p:nvSpPr>
        <p:spPr>
          <a:xfrm>
            <a:off x="9393083" y="2025396"/>
            <a:ext cx="128016" cy="201168"/>
          </a:xfrm>
          <a:prstGeom prst="chevron">
            <a:avLst/>
          </a:prstGeom>
          <a:solidFill>
            <a:srgbClr val="1A4B8C"/>
          </a:solidFill>
          <a:ln w="12700">
            <a:solidFill>
              <a:srgbClr val="1A4B8C"/>
            </a:solidFill>
            <a:prstDash val="solid"/>
          </a:ln>
        </p:spPr>
      </p:sp>
      <p:sp>
        <p:nvSpPr>
          <p:cNvPr id="15" name="Shape 13"/>
          <p:cNvSpPr/>
          <p:nvPr/>
        </p:nvSpPr>
        <p:spPr>
          <a:xfrm>
            <a:off x="9603395" y="1691640"/>
            <a:ext cx="1948221" cy="868680"/>
          </a:xfrm>
          <a:prstGeom prst="roundRect">
            <a:avLst>
              <a:gd name="adj" fmla="val 10526"/>
            </a:avLst>
          </a:prstGeom>
          <a:solidFill>
            <a:srgbClr val="EEF4FB"/>
          </a:solidFill>
          <a:ln w="12700">
            <a:solidFill>
              <a:srgbClr val="EEF4FB"/>
            </a:solidFill>
            <a:prstDash val="solid"/>
          </a:ln>
        </p:spPr>
      </p:sp>
      <p:sp>
        <p:nvSpPr>
          <p:cNvPr id="16" name="Text 14"/>
          <p:cNvSpPr txBox="1"/>
          <p:nvPr/>
        </p:nvSpPr>
        <p:spPr>
          <a:xfrm>
            <a:off x="9740555" y="1691640"/>
            <a:ext cx="1673901" cy="868680"/>
          </a:xfrm>
          <a:prstGeom prst="rect">
            <a:avLst/>
          </a:prstGeom>
          <a:noFill/>
          <a:ln/>
        </p:spPr>
        <p:txBody>
          <a:bodyPr wrap="square" lIns="0" tIns="0" rIns="0" bIns="0" rtlCol="0" anchor="ctr"/>
          <a:lstStyle/>
          <a:p>
            <a:pPr marL="0" indent="0">
              <a:buNone/>
            </a:pPr>
            <a:r>
              <a:rPr lang="en-US" sz="1300" b="1" dirty="0">
                <a:solidFill>
                  <a:srgbClr val="14171A"/>
                </a:solidFill>
                <a:latin typeface="Atkinson Hyperlegible Next" pitchFamily="34" charset="0"/>
                <a:ea typeface="Atkinson Hyperlegible Next" pitchFamily="34" charset="-122"/>
                <a:cs typeface="Atkinson Hyperlegible Next" pitchFamily="34" charset="-120"/>
              </a:rPr>
              <a:t>5  Panel ROPS</a:t>
            </a:r>
            <a:endParaRPr lang="en-US" sz="130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pracownik rozpatruje każdy wpis</a:t>
            </a:r>
            <a:endParaRPr lang="en-US" sz="1300" dirty="0"/>
          </a:p>
        </p:txBody>
      </p:sp>
      <p:sp>
        <p:nvSpPr>
          <p:cNvPr id="17" name="Text 15"/>
          <p:cNvSpPr txBox="1"/>
          <p:nvPr/>
        </p:nvSpPr>
        <p:spPr>
          <a:xfrm>
            <a:off x="640080" y="2633472"/>
            <a:ext cx="10911535" cy="22860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Oba modele wybraliśmy na podstawie testów </a:t>
            </a:r>
            <a:r>
              <a:rPr lang="en-US" sz="1100" b="1" i="1" dirty="0">
                <a:solidFill>
                  <a:srgbClr val="1A4B8C"/>
                </a:solidFill>
                <a:latin typeface="Atkinson Hyperlegible Next" pitchFamily="34" charset="0"/>
                <a:ea typeface="Atkinson Hyperlegible Next" pitchFamily="34" charset="-122"/>
                <a:cs typeface="Atkinson Hyperlegible Next" pitchFamily="34" charset="-120"/>
              </a:rPr>
              <a:t>przed hackathonem</a:t>
            </a:r>
            <a:r>
              <a:rPr lang="en-US" sz="1100" i="1" dirty="0">
                <a:solidFill>
                  <a:srgbClr val="454D57"/>
                </a:solidFill>
                <a:latin typeface="Atkinson Hyperlegible Next" pitchFamily="34" charset="0"/>
                <a:ea typeface="Atkinson Hyperlegible Next" pitchFamily="34" charset="-122"/>
                <a:cs typeface="Atkinson Hyperlegible Next" pitchFamily="34" charset="-120"/>
              </a:rPr>
              <a:t>: Bielika porównaliśmy z 4 innymi modelami językowymi, PolDense z 5 innymi modelami wyszukiwania.</a:t>
            </a:r>
            <a:endParaRPr lang="en-US" sz="1100" dirty="0"/>
          </a:p>
        </p:txBody>
      </p:sp>
      <p:sp>
        <p:nvSpPr>
          <p:cNvPr id="18" name="Shape 16"/>
          <p:cNvSpPr/>
          <p:nvPr/>
        </p:nvSpPr>
        <p:spPr>
          <a:xfrm>
            <a:off x="640080" y="3017520"/>
            <a:ext cx="2601933" cy="3017520"/>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19" name="Image 0" descr="C:\Users\bobro\OneDrive\Developer\HackYeah2026\.local\presentation\source\img\crisis.png"/>
          <p:cNvPicPr>
            <a:picLocks noChangeAspect="1"/>
          </p:cNvPicPr>
          <p:nvPr/>
        </p:nvPicPr>
        <p:blipFill>
          <a:blip r:embed="rId3"/>
          <a:stretch>
            <a:fillRect/>
          </a:stretch>
        </p:blipFill>
        <p:spPr>
          <a:xfrm>
            <a:off x="640080" y="3017520"/>
            <a:ext cx="2601933" cy="3017520"/>
          </a:xfrm>
          <a:prstGeom prst="rect">
            <a:avLst/>
          </a:prstGeom>
        </p:spPr>
      </p:pic>
      <p:sp>
        <p:nvSpPr>
          <p:cNvPr id="20" name="Shape 17"/>
          <p:cNvSpPr/>
          <p:nvPr/>
        </p:nvSpPr>
        <p:spPr>
          <a:xfrm>
            <a:off x="640080" y="3017520"/>
            <a:ext cx="2601933" cy="3017520"/>
          </a:xfrm>
          <a:prstGeom prst="rect">
            <a:avLst/>
          </a:prstGeom>
          <a:solidFill>
            <a:srgbClr val="FFFFFF">
              <a:alpha val="0"/>
            </a:srgbClr>
          </a:solidFill>
          <a:ln w="9525">
            <a:solidFill>
              <a:srgbClr val="C3CAD3"/>
            </a:solidFill>
            <a:prstDash val="solid"/>
          </a:ln>
        </p:spPr>
      </p:sp>
      <p:sp>
        <p:nvSpPr>
          <p:cNvPr id="21" name="Text 18"/>
          <p:cNvSpPr txBox="1"/>
          <p:nvPr/>
        </p:nvSpPr>
        <p:spPr>
          <a:xfrm>
            <a:off x="640080" y="6126480"/>
            <a:ext cx="3059133"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Co widzi osoba w kryzysie zamiast drogi</a:t>
            </a:r>
            <a:endParaRPr lang="en-US" sz="1100" dirty="0"/>
          </a:p>
        </p:txBody>
      </p:sp>
      <p:sp>
        <p:nvSpPr>
          <p:cNvPr id="22" name="Shape 19"/>
          <p:cNvSpPr/>
          <p:nvPr/>
        </p:nvSpPr>
        <p:spPr>
          <a:xfrm>
            <a:off x="3744933" y="3035808"/>
            <a:ext cx="329184" cy="329184"/>
          </a:xfrm>
          <a:prstGeom prst="ellipse">
            <a:avLst/>
          </a:prstGeom>
          <a:solidFill>
            <a:srgbClr val="1A4B8C"/>
          </a:solidFill>
          <a:ln w="12700">
            <a:solidFill>
              <a:srgbClr val="1A4B8C"/>
            </a:solidFill>
            <a:prstDash val="solid"/>
          </a:ln>
        </p:spPr>
      </p:sp>
      <p:sp>
        <p:nvSpPr>
          <p:cNvPr id="23" name="Text 20"/>
          <p:cNvSpPr txBox="1"/>
          <p:nvPr/>
        </p:nvSpPr>
        <p:spPr>
          <a:xfrm>
            <a:off x="3744933" y="3035808"/>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Segoe UI Symbol" pitchFamily="34" charset="0"/>
                <a:ea typeface="Segoe UI Symbol" pitchFamily="34" charset="-122"/>
                <a:cs typeface="Segoe UI Symbol" pitchFamily="34" charset="-120"/>
              </a:rPr>
              <a:t>✓</a:t>
            </a:r>
            <a:endParaRPr lang="en-US" sz="1300" dirty="0"/>
          </a:p>
        </p:txBody>
      </p:sp>
      <p:sp>
        <p:nvSpPr>
          <p:cNvPr id="24" name="Text 21"/>
          <p:cNvSpPr txBox="1"/>
          <p:nvPr/>
        </p:nvSpPr>
        <p:spPr>
          <a:xfrm>
            <a:off x="4247853" y="3017520"/>
            <a:ext cx="7303762" cy="1005840"/>
          </a:xfrm>
          <a:prstGeom prst="rect">
            <a:avLst/>
          </a:prstGeom>
          <a:noFill/>
          <a:ln/>
        </p:spPr>
        <p:txBody>
          <a:bodyPr wrap="square" lIns="0" tIns="0" rIns="0" bIns="0" rtlCol="0" anchor="t"/>
          <a:lstStyle/>
          <a:p>
            <a:pPr marL="0" indent="0">
              <a:buNone/>
            </a:pPr>
            <a:r>
              <a:rPr lang="en-US" sz="1500" b="1" dirty="0">
                <a:solidFill>
                  <a:srgbClr val="14171A"/>
                </a:solidFill>
                <a:latin typeface="Atkinson Hyperlegible Next" pitchFamily="34" charset="0"/>
                <a:ea typeface="Atkinson Hyperlegible Next" pitchFamily="34" charset="-122"/>
                <a:cs typeface="Atkinson Hyperlegible Next" pitchFamily="34" charset="-120"/>
              </a:rPr>
              <a:t>Osoba w kryzysie dostaje pomoc człowieka</a:t>
            </a:r>
            <a:endParaRPr lang="en-US" sz="1500" dirty="0"/>
          </a:p>
          <a:p>
            <a:pPr marL="0" indent="0">
              <a:spcBef>
                <a:spcPts val="3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Przy oznakach kryzysu narzędzie wskazuje sprawdzone telefony zaufania i lokalny ośrodek pomocy społecznej, nigdy innowacje, i niczego nie zapisuje. Prośbę, która ma kogoś wykluczyć lub poniżyć, odrzucamy z uzasadnieniem i możliwością odwołania.</a:t>
            </a:r>
            <a:endParaRPr lang="en-US" sz="1500" dirty="0"/>
          </a:p>
        </p:txBody>
      </p:sp>
      <p:sp>
        <p:nvSpPr>
          <p:cNvPr id="25" name="Shape 22"/>
          <p:cNvSpPr/>
          <p:nvPr/>
        </p:nvSpPr>
        <p:spPr>
          <a:xfrm>
            <a:off x="3744933" y="4133088"/>
            <a:ext cx="329184" cy="329184"/>
          </a:xfrm>
          <a:prstGeom prst="ellipse">
            <a:avLst/>
          </a:prstGeom>
          <a:solidFill>
            <a:srgbClr val="1A4B8C"/>
          </a:solidFill>
          <a:ln w="12700">
            <a:solidFill>
              <a:srgbClr val="1A4B8C"/>
            </a:solidFill>
            <a:prstDash val="solid"/>
          </a:ln>
        </p:spPr>
      </p:sp>
      <p:sp>
        <p:nvSpPr>
          <p:cNvPr id="26" name="Text 23"/>
          <p:cNvSpPr txBox="1"/>
          <p:nvPr/>
        </p:nvSpPr>
        <p:spPr>
          <a:xfrm>
            <a:off x="3744933" y="4133088"/>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Segoe UI Symbol" pitchFamily="34" charset="0"/>
                <a:ea typeface="Segoe UI Symbol" pitchFamily="34" charset="-122"/>
                <a:cs typeface="Segoe UI Symbol" pitchFamily="34" charset="-120"/>
              </a:rPr>
              <a:t>✓</a:t>
            </a:r>
            <a:endParaRPr lang="en-US" sz="1300" dirty="0"/>
          </a:p>
        </p:txBody>
      </p:sp>
      <p:sp>
        <p:nvSpPr>
          <p:cNvPr id="27" name="Text 24"/>
          <p:cNvSpPr txBox="1"/>
          <p:nvPr/>
        </p:nvSpPr>
        <p:spPr>
          <a:xfrm>
            <a:off x="4247853" y="4114800"/>
            <a:ext cx="7303762" cy="1005840"/>
          </a:xfrm>
          <a:prstGeom prst="rect">
            <a:avLst/>
          </a:prstGeom>
          <a:noFill/>
          <a:ln/>
        </p:spPr>
        <p:txBody>
          <a:bodyPr wrap="square" lIns="0" tIns="0" rIns="0" bIns="0" rtlCol="0" anchor="t"/>
          <a:lstStyle/>
          <a:p>
            <a:pPr marL="0" indent="0">
              <a:buNone/>
            </a:pPr>
            <a:r>
              <a:rPr lang="en-US" sz="1500" b="1" dirty="0">
                <a:solidFill>
                  <a:srgbClr val="14171A"/>
                </a:solidFill>
                <a:latin typeface="Atkinson Hyperlegible Next" pitchFamily="34" charset="0"/>
                <a:ea typeface="Atkinson Hyperlegible Next" pitchFamily="34" charset="-122"/>
                <a:cs typeface="Atkinson Hyperlegible Next" pitchFamily="34" charset="-120"/>
              </a:rPr>
              <a:t>Nic zmyślonego</a:t>
            </a:r>
            <a:endParaRPr lang="en-US" sz="1500" dirty="0"/>
          </a:p>
          <a:p>
            <a:pPr marL="0" indent="0">
              <a:spcBef>
                <a:spcPts val="3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Rozwiązania, organizacje i osoby kontaktowe pochodzą tylko z katalogów; kwoty, terminy i podstawy prawne tylko z opracowanych ścieżek. Każde odwołanie i cytat jest sprawdzane, a tekst wygenerowany przez AI jest oznaczony.</a:t>
            </a:r>
            <a:endParaRPr lang="en-US" sz="1500" dirty="0"/>
          </a:p>
        </p:txBody>
      </p:sp>
      <p:sp>
        <p:nvSpPr>
          <p:cNvPr id="28" name="Shape 25"/>
          <p:cNvSpPr/>
          <p:nvPr/>
        </p:nvSpPr>
        <p:spPr>
          <a:xfrm>
            <a:off x="3744933" y="5230368"/>
            <a:ext cx="329184" cy="329184"/>
          </a:xfrm>
          <a:prstGeom prst="ellipse">
            <a:avLst/>
          </a:prstGeom>
          <a:solidFill>
            <a:srgbClr val="1A4B8C"/>
          </a:solidFill>
          <a:ln w="12700">
            <a:solidFill>
              <a:srgbClr val="1A4B8C"/>
            </a:solidFill>
            <a:prstDash val="solid"/>
          </a:ln>
        </p:spPr>
      </p:sp>
      <p:sp>
        <p:nvSpPr>
          <p:cNvPr id="29" name="Text 26"/>
          <p:cNvSpPr txBox="1"/>
          <p:nvPr/>
        </p:nvSpPr>
        <p:spPr>
          <a:xfrm>
            <a:off x="3744933" y="5230368"/>
            <a:ext cx="329184" cy="329184"/>
          </a:xfrm>
          <a:prstGeom prst="rect">
            <a:avLst/>
          </a:prstGeom>
          <a:noFill/>
          <a:ln/>
        </p:spPr>
        <p:txBody>
          <a:bodyPr wrap="square" lIns="0" tIns="0" rIns="0" bIns="0" rtlCol="0" anchor="ctr"/>
          <a:lstStyle/>
          <a:p>
            <a:pPr marL="0" indent="0" algn="ctr">
              <a:buNone/>
            </a:pPr>
            <a:r>
              <a:rPr lang="en-US" sz="1300" b="1" dirty="0">
                <a:solidFill>
                  <a:srgbClr val="FFFFFF"/>
                </a:solidFill>
                <a:latin typeface="Segoe UI Symbol" pitchFamily="34" charset="0"/>
                <a:ea typeface="Segoe UI Symbol" pitchFamily="34" charset="-122"/>
                <a:cs typeface="Segoe UI Symbol" pitchFamily="34" charset="-120"/>
              </a:rPr>
              <a:t>✓</a:t>
            </a:r>
            <a:endParaRPr lang="en-US" sz="1300" dirty="0"/>
          </a:p>
        </p:txBody>
      </p:sp>
      <p:sp>
        <p:nvSpPr>
          <p:cNvPr id="30" name="Text 27"/>
          <p:cNvSpPr txBox="1"/>
          <p:nvPr/>
        </p:nvSpPr>
        <p:spPr>
          <a:xfrm>
            <a:off x="4247853" y="5212080"/>
            <a:ext cx="7303762" cy="1005840"/>
          </a:xfrm>
          <a:prstGeom prst="rect">
            <a:avLst/>
          </a:prstGeom>
          <a:noFill/>
          <a:ln/>
        </p:spPr>
        <p:txBody>
          <a:bodyPr wrap="square" lIns="0" tIns="0" rIns="0" bIns="0" rtlCol="0" anchor="t"/>
          <a:lstStyle/>
          <a:p>
            <a:pPr marL="0" indent="0">
              <a:buNone/>
            </a:pPr>
            <a:r>
              <a:rPr lang="en-US" sz="1500" b="1" dirty="0">
                <a:solidFill>
                  <a:srgbClr val="14171A"/>
                </a:solidFill>
                <a:latin typeface="Atkinson Hyperlegible Next" pitchFamily="34" charset="0"/>
                <a:ea typeface="Atkinson Hyperlegible Next" pitchFamily="34" charset="-122"/>
                <a:cs typeface="Atkinson Hyperlegible Next" pitchFamily="34" charset="-120"/>
              </a:rPr>
              <a:t>Decyduje człowiek</a:t>
            </a:r>
            <a:endParaRPr lang="en-US" sz="1500" dirty="0"/>
          </a:p>
          <a:p>
            <a:pPr marL="0" indent="0">
              <a:spcBef>
                <a:spcPts val="300"/>
              </a:spcBef>
              <a:buNone/>
            </a:pPr>
            <a:r>
              <a:rPr lang="en-US" sz="1200" dirty="0">
                <a:solidFill>
                  <a:srgbClr val="454D57"/>
                </a:solidFill>
                <a:latin typeface="Atkinson Hyperlegible Next" pitchFamily="34" charset="0"/>
                <a:ea typeface="Atkinson Hyperlegible Next" pitchFamily="34" charset="-122"/>
                <a:cs typeface="Atkinson Hyperlegible Next" pitchFamily="34" charset="-120"/>
              </a:rPr>
              <a:t>Narzędzie niczego nikomu nie wysyła: prośby o kontakt, zgłoszenia, fiszki i opinie czekają na decyzję pracownika ROPS w panelu, odnotowaną z jego nazwiskiem. Numery PESEL, numery telefonów i adresy usuwamy przed zapisem i przed każdym zapytaniem do modelu. Narzędzie nie podejmuje decyzji o konkretnych osobach.</a:t>
            </a:r>
            <a:endParaRPr lang="en-US" sz="1500" dirty="0"/>
          </a:p>
        </p:txBody>
      </p:sp>
      <p:sp>
        <p:nvSpPr>
          <p:cNvPr id="31" name="Text 28"/>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7 / 9</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20040"/>
            <a:ext cx="10911535" cy="1143000"/>
          </a:xfrm>
          <a:prstGeom prst="rect">
            <a:avLst/>
          </a:prstGeom>
          <a:noFill/>
          <a:ln/>
        </p:spPr>
        <p:txBody>
          <a:bodyPr wrap="square" lIns="0" tIns="0" rIns="0" bIns="0" rtlCol="0" anchor="b"/>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Działa dziś. Usługa ROPS może ruszyć od poniedziałku</a:t>
            </a:r>
            <a:endParaRPr lang="en-US" sz="3200" dirty="0"/>
          </a:p>
          <a:p>
            <a:pPr marL="0" indent="0">
              <a:spcBef>
                <a:spcPts val="600"/>
              </a:spcBef>
              <a:buNone/>
            </a:pPr>
            <a:r>
              <a:rPr lang="en-US" sz="1600" b="1" dirty="0">
                <a:solidFill>
                  <a:srgbClr val="1A4B8C"/>
                </a:solidFill>
                <a:latin typeface="Atkinson Hyperlegible Next" pitchFamily="34" charset="0"/>
                <a:ea typeface="Atkinson Hyperlegible Next" pitchFamily="34" charset="-122"/>
                <a:cs typeface="Atkinson Hyperlegible Next" pitchFamily="34" charset="-120"/>
              </a:rPr>
              <a:t>Zbudowane</a:t>
            </a:r>
            <a:r>
              <a:rPr lang="en-US" sz="1600" dirty="0">
                <a:solidFill>
                  <a:srgbClr val="454D57"/>
                </a:solidFill>
                <a:latin typeface="Atkinson Hyperlegible Next" pitchFamily="34" charset="0"/>
                <a:ea typeface="Atkinson Hyperlegible Next" pitchFamily="34" charset="-122"/>
                <a:cs typeface="Atkinson Hyperlegible Next" pitchFamily="34" charset="-120"/>
              </a:rPr>
              <a:t>: droga, moduły wyzwania i panel ROPS.  </a:t>
            </a:r>
            <a:r>
              <a:rPr lang="en-US" sz="1600" b="1" dirty="0">
                <a:solidFill>
                  <a:srgbClr val="1A4B8C"/>
                </a:solidFill>
                <a:latin typeface="Atkinson Hyperlegible Next" pitchFamily="34" charset="0"/>
                <a:ea typeface="Atkinson Hyperlegible Next" pitchFamily="34" charset="-122"/>
                <a:cs typeface="Atkinson Hyperlegible Next" pitchFamily="34" charset="-120"/>
              </a:rPr>
              <a:t>Plan rozwoju, do zbudowania</a:t>
            </a:r>
            <a:r>
              <a:rPr lang="en-US" sz="1600" dirty="0">
                <a:solidFill>
                  <a:srgbClr val="454D57"/>
                </a:solidFill>
                <a:latin typeface="Atkinson Hyperlegible Next" pitchFamily="34" charset="0"/>
                <a:ea typeface="Atkinson Hyperlegible Next" pitchFamily="34" charset="-122"/>
                <a:cs typeface="Atkinson Hyperlegible Next" pitchFamily="34" charset="-120"/>
              </a:rPr>
              <a:t>: role i cykle usługi</a:t>
            </a:r>
            <a:endParaRPr lang="en-US" sz="3200" dirty="0"/>
          </a:p>
        </p:txBody>
      </p:sp>
      <p:sp>
        <p:nvSpPr>
          <p:cNvPr id="3" name="Text 1"/>
          <p:cNvSpPr txBox="1"/>
          <p:nvPr/>
        </p:nvSpPr>
        <p:spPr>
          <a:xfrm>
            <a:off x="640080" y="1600200"/>
            <a:ext cx="10911535" cy="256032"/>
          </a:xfrm>
          <a:prstGeom prst="rect">
            <a:avLst/>
          </a:prstGeom>
          <a:noFill/>
          <a:ln/>
        </p:spPr>
        <p:txBody>
          <a:bodyPr wrap="square" lIns="0" tIns="0" rIns="0" bIns="0" rtlCol="0" anchor="ctr"/>
          <a:lstStyle/>
          <a:p>
            <a:pPr marL="0" indent="0">
              <a:buNone/>
            </a:pPr>
            <a:r>
              <a:rPr lang="en-US" sz="1000" b="1" kern="0" spc="100" dirty="0">
                <a:solidFill>
                  <a:srgbClr val="1A4B8C"/>
                </a:solidFill>
                <a:latin typeface="Atkinson Hyperlegible Next" pitchFamily="34" charset="0"/>
                <a:ea typeface="Atkinson Hyperlegible Next" pitchFamily="34" charset="-122"/>
                <a:cs typeface="Atkinson Hyperlegible Next" pitchFamily="34" charset="-120"/>
              </a:rPr>
              <a:t>ZBUDOWANE  ·  MODUŁY WYZWANIA</a:t>
            </a:r>
            <a:endParaRPr lang="en-US" sz="1000" dirty="0"/>
          </a:p>
        </p:txBody>
      </p:sp>
      <p:sp>
        <p:nvSpPr>
          <p:cNvPr id="4" name="Shape 2"/>
          <p:cNvSpPr/>
          <p:nvPr/>
        </p:nvSpPr>
        <p:spPr>
          <a:xfrm>
            <a:off x="640080" y="1901952"/>
            <a:ext cx="1464738" cy="1298448"/>
          </a:xfrm>
          <a:prstGeom prst="roundRect">
            <a:avLst>
              <a:gd name="adj" fmla="val 5634"/>
            </a:avLst>
          </a:prstGeom>
          <a:solidFill>
            <a:srgbClr val="EEF4FB"/>
          </a:solidFill>
          <a:ln w="12700">
            <a:solidFill>
              <a:srgbClr val="EEF4FB"/>
            </a:solidFill>
            <a:prstDash val="solid"/>
          </a:ln>
        </p:spPr>
      </p:sp>
      <p:sp>
        <p:nvSpPr>
          <p:cNvPr id="5" name="Text 3"/>
          <p:cNvSpPr txBox="1"/>
          <p:nvPr/>
        </p:nvSpPr>
        <p:spPr>
          <a:xfrm>
            <a:off x="749808" y="1993392"/>
            <a:ext cx="457200" cy="219456"/>
          </a:xfrm>
          <a:prstGeom prst="rect">
            <a:avLst/>
          </a:prstGeom>
          <a:noFill/>
          <a:ln/>
        </p:spPr>
        <p:txBody>
          <a:bodyPr wrap="square" lIns="0" tIns="0" rIns="0" bIns="0" rtlCol="0" anchor="ctr"/>
          <a:lstStyle/>
          <a:p>
            <a:pPr marL="0" indent="0">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I</a:t>
            </a:r>
            <a:endParaRPr lang="en-US" sz="1200" dirty="0"/>
          </a:p>
        </p:txBody>
      </p:sp>
      <p:sp>
        <p:nvSpPr>
          <p:cNvPr id="6" name="Shape 4"/>
          <p:cNvSpPr/>
          <p:nvPr/>
        </p:nvSpPr>
        <p:spPr>
          <a:xfrm>
            <a:off x="1263570" y="1993392"/>
            <a:ext cx="749808" cy="219456"/>
          </a:xfrm>
          <a:prstGeom prst="roundRect">
            <a:avLst>
              <a:gd name="adj" fmla="val 50000"/>
            </a:avLst>
          </a:prstGeom>
          <a:solidFill>
            <a:srgbClr val="1A4B8C"/>
          </a:solidFill>
          <a:ln w="12700">
            <a:solidFill>
              <a:srgbClr val="1A4B8C"/>
            </a:solidFill>
            <a:prstDash val="solid"/>
          </a:ln>
        </p:spPr>
      </p:sp>
      <p:sp>
        <p:nvSpPr>
          <p:cNvPr id="7" name="Text 5"/>
          <p:cNvSpPr txBox="1"/>
          <p:nvPr/>
        </p:nvSpPr>
        <p:spPr>
          <a:xfrm>
            <a:off x="1263570" y="1993392"/>
            <a:ext cx="749808" cy="219456"/>
          </a:xfrm>
          <a:prstGeom prst="rect">
            <a:avLst/>
          </a:prstGeom>
          <a:noFill/>
          <a:ln/>
        </p:spPr>
        <p:txBody>
          <a:bodyPr wrap="square" lIns="0" tIns="0" rIns="0" bIns="0" rtlCol="0" anchor="ctr"/>
          <a:lstStyle/>
          <a:p>
            <a:pPr marL="0" indent="0" algn="ctr">
              <a:buNone/>
            </a:pPr>
            <a:r>
              <a:rPr lang="en-US" sz="900" b="1" dirty="0">
                <a:solidFill>
                  <a:srgbClr val="FFFFFF"/>
                </a:solidFill>
                <a:latin typeface="Atkinson Hyperlegible Next" pitchFamily="34" charset="0"/>
                <a:ea typeface="Atkinson Hyperlegible Next" pitchFamily="34" charset="-122"/>
                <a:cs typeface="Atkinson Hyperlegible Next" pitchFamily="34" charset="-120"/>
              </a:rPr>
              <a:t>działa</a:t>
            </a:r>
            <a:endParaRPr lang="en-US" sz="900" dirty="0"/>
          </a:p>
        </p:txBody>
      </p:sp>
      <p:sp>
        <p:nvSpPr>
          <p:cNvPr id="8" name="Text 6"/>
          <p:cNvSpPr txBox="1"/>
          <p:nvPr/>
        </p:nvSpPr>
        <p:spPr>
          <a:xfrm>
            <a:off x="749808" y="2286000"/>
            <a:ext cx="1245282" cy="859536"/>
          </a:xfrm>
          <a:prstGeom prst="rect">
            <a:avLst/>
          </a:prstGeom>
          <a:noFill/>
          <a:ln/>
        </p:spPr>
        <p:txBody>
          <a:bodyPr wrap="square" lIns="0" tIns="0" rIns="0" bIns="0" rtlCol="0" anchor="t"/>
          <a:lstStyle/>
          <a:p>
            <a:pPr marL="0" indent="0">
              <a:buNone/>
            </a:pPr>
            <a:r>
              <a:rPr lang="en-US" sz="1150" b="1" dirty="0">
                <a:solidFill>
                  <a:srgbClr val="14171A"/>
                </a:solidFill>
                <a:latin typeface="Atkinson Hyperlegible Next" pitchFamily="34" charset="0"/>
                <a:ea typeface="Atkinson Hyperlegible Next" pitchFamily="34" charset="-122"/>
                <a:cs typeface="Atkinson Hyperlegible Next" pitchFamily="34" charset="-120"/>
              </a:rPr>
              <a:t>Matchmaking społeczny</a:t>
            </a:r>
            <a:endParaRPr lang="en-US" sz="1150" dirty="0"/>
          </a:p>
          <a:p>
            <a:pPr marL="0" indent="0">
              <a:spcBef>
                <a:spcPts val="200"/>
              </a:spcBef>
              <a:buNone/>
            </a:pPr>
            <a:r>
              <a:rPr lang="en-US" sz="950" dirty="0">
                <a:solidFill>
                  <a:srgbClr val="454D57"/>
                </a:solidFill>
                <a:latin typeface="Atkinson Hyperlegible Next" pitchFamily="34" charset="0"/>
                <a:ea typeface="Atkinson Hyperlegible Next" pitchFamily="34" charset="-122"/>
                <a:cs typeface="Atkinson Hyperlegible Next" pitchFamily="34" charset="-120"/>
              </a:rPr>
              <a:t>droga i podobne przypadki</a:t>
            </a:r>
            <a:endParaRPr lang="en-US" sz="1150" dirty="0"/>
          </a:p>
        </p:txBody>
      </p:sp>
      <p:sp>
        <p:nvSpPr>
          <p:cNvPr id="9" name="Shape 7"/>
          <p:cNvSpPr/>
          <p:nvPr/>
        </p:nvSpPr>
        <p:spPr>
          <a:xfrm>
            <a:off x="2214546" y="1901952"/>
            <a:ext cx="1464738" cy="1298448"/>
          </a:xfrm>
          <a:prstGeom prst="roundRect">
            <a:avLst>
              <a:gd name="adj" fmla="val 5634"/>
            </a:avLst>
          </a:prstGeom>
          <a:solidFill>
            <a:srgbClr val="EEF4FB"/>
          </a:solidFill>
          <a:ln w="12700">
            <a:solidFill>
              <a:srgbClr val="EEF4FB"/>
            </a:solidFill>
            <a:prstDash val="solid"/>
          </a:ln>
        </p:spPr>
      </p:sp>
      <p:sp>
        <p:nvSpPr>
          <p:cNvPr id="10" name="Text 8"/>
          <p:cNvSpPr txBox="1"/>
          <p:nvPr/>
        </p:nvSpPr>
        <p:spPr>
          <a:xfrm>
            <a:off x="2324274" y="1993392"/>
            <a:ext cx="457200" cy="219456"/>
          </a:xfrm>
          <a:prstGeom prst="rect">
            <a:avLst/>
          </a:prstGeom>
          <a:noFill/>
          <a:ln/>
        </p:spPr>
        <p:txBody>
          <a:bodyPr wrap="square" lIns="0" tIns="0" rIns="0" bIns="0" rtlCol="0" anchor="ctr"/>
          <a:lstStyle/>
          <a:p>
            <a:pPr marL="0" indent="0">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II</a:t>
            </a:r>
            <a:endParaRPr lang="en-US" sz="1200" dirty="0"/>
          </a:p>
        </p:txBody>
      </p:sp>
      <p:sp>
        <p:nvSpPr>
          <p:cNvPr id="11" name="Shape 9"/>
          <p:cNvSpPr/>
          <p:nvPr/>
        </p:nvSpPr>
        <p:spPr>
          <a:xfrm>
            <a:off x="2838036" y="1993392"/>
            <a:ext cx="749808" cy="219456"/>
          </a:xfrm>
          <a:prstGeom prst="roundRect">
            <a:avLst>
              <a:gd name="adj" fmla="val 50000"/>
            </a:avLst>
          </a:prstGeom>
          <a:solidFill>
            <a:srgbClr val="1A4B8C"/>
          </a:solidFill>
          <a:ln w="12700">
            <a:solidFill>
              <a:srgbClr val="1A4B8C"/>
            </a:solidFill>
            <a:prstDash val="solid"/>
          </a:ln>
        </p:spPr>
      </p:sp>
      <p:sp>
        <p:nvSpPr>
          <p:cNvPr id="12" name="Text 10"/>
          <p:cNvSpPr txBox="1"/>
          <p:nvPr/>
        </p:nvSpPr>
        <p:spPr>
          <a:xfrm>
            <a:off x="2838036" y="1993392"/>
            <a:ext cx="749808" cy="219456"/>
          </a:xfrm>
          <a:prstGeom prst="rect">
            <a:avLst/>
          </a:prstGeom>
          <a:noFill/>
          <a:ln/>
        </p:spPr>
        <p:txBody>
          <a:bodyPr wrap="square" lIns="0" tIns="0" rIns="0" bIns="0" rtlCol="0" anchor="ctr"/>
          <a:lstStyle/>
          <a:p>
            <a:pPr marL="0" indent="0" algn="ctr">
              <a:buNone/>
            </a:pPr>
            <a:r>
              <a:rPr lang="en-US" sz="900" b="1" dirty="0">
                <a:solidFill>
                  <a:srgbClr val="FFFFFF"/>
                </a:solidFill>
                <a:latin typeface="Atkinson Hyperlegible Next" pitchFamily="34" charset="0"/>
                <a:ea typeface="Atkinson Hyperlegible Next" pitchFamily="34" charset="-122"/>
                <a:cs typeface="Atkinson Hyperlegible Next" pitchFamily="34" charset="-120"/>
              </a:rPr>
              <a:t>działa</a:t>
            </a:r>
            <a:endParaRPr lang="en-US" sz="900" dirty="0"/>
          </a:p>
        </p:txBody>
      </p:sp>
      <p:sp>
        <p:nvSpPr>
          <p:cNvPr id="13" name="Text 11"/>
          <p:cNvSpPr txBox="1"/>
          <p:nvPr/>
        </p:nvSpPr>
        <p:spPr>
          <a:xfrm>
            <a:off x="2324274" y="2286000"/>
            <a:ext cx="1245282" cy="859536"/>
          </a:xfrm>
          <a:prstGeom prst="rect">
            <a:avLst/>
          </a:prstGeom>
          <a:noFill/>
          <a:ln/>
        </p:spPr>
        <p:txBody>
          <a:bodyPr wrap="square" lIns="0" tIns="0" rIns="0" bIns="0" rtlCol="0" anchor="t"/>
          <a:lstStyle/>
          <a:p>
            <a:pPr marL="0" indent="0">
              <a:buNone/>
            </a:pPr>
            <a:r>
              <a:rPr lang="en-US" sz="1150" b="1" dirty="0">
                <a:solidFill>
                  <a:srgbClr val="14171A"/>
                </a:solidFill>
                <a:latin typeface="Atkinson Hyperlegible Next" pitchFamily="34" charset="0"/>
                <a:ea typeface="Atkinson Hyperlegible Next" pitchFamily="34" charset="-122"/>
                <a:cs typeface="Atkinson Hyperlegible Next" pitchFamily="34" charset="-120"/>
              </a:rPr>
              <a:t>Zasobnik wiedzy</a:t>
            </a:r>
            <a:endParaRPr lang="en-US" sz="1150" dirty="0"/>
          </a:p>
          <a:p>
            <a:pPr marL="0" indent="0">
              <a:spcBef>
                <a:spcPts val="200"/>
              </a:spcBef>
              <a:buNone/>
            </a:pPr>
            <a:r>
              <a:rPr lang="en-US" sz="950" dirty="0">
                <a:solidFill>
                  <a:srgbClr val="454D57"/>
                </a:solidFill>
                <a:latin typeface="Atkinson Hyperlegible Next" pitchFamily="34" charset="0"/>
                <a:ea typeface="Atkinson Hyperlegible Next" pitchFamily="34" charset="-122"/>
                <a:cs typeface="Atkinson Hyperlegible Next" pitchFamily="34" charset="-120"/>
              </a:rPr>
              <a:t>pliki i filmy w każdej drodze, edycja w panelu, trendy potrzeb</a:t>
            </a:r>
            <a:endParaRPr lang="en-US" sz="1150" dirty="0"/>
          </a:p>
        </p:txBody>
      </p:sp>
      <p:sp>
        <p:nvSpPr>
          <p:cNvPr id="14" name="Shape 12"/>
          <p:cNvSpPr/>
          <p:nvPr/>
        </p:nvSpPr>
        <p:spPr>
          <a:xfrm>
            <a:off x="3789012" y="1901952"/>
            <a:ext cx="1464738" cy="1298448"/>
          </a:xfrm>
          <a:prstGeom prst="roundRect">
            <a:avLst>
              <a:gd name="adj" fmla="val 5634"/>
            </a:avLst>
          </a:prstGeom>
          <a:solidFill>
            <a:srgbClr val="FFFFFF"/>
          </a:solidFill>
          <a:ln w="12700">
            <a:solidFill>
              <a:srgbClr val="1A4B8C"/>
            </a:solidFill>
            <a:prstDash val="dash"/>
          </a:ln>
        </p:spPr>
      </p:sp>
      <p:sp>
        <p:nvSpPr>
          <p:cNvPr id="15" name="Text 13"/>
          <p:cNvSpPr txBox="1"/>
          <p:nvPr/>
        </p:nvSpPr>
        <p:spPr>
          <a:xfrm>
            <a:off x="3898740" y="1993392"/>
            <a:ext cx="457200" cy="219456"/>
          </a:xfrm>
          <a:prstGeom prst="rect">
            <a:avLst/>
          </a:prstGeom>
          <a:noFill/>
          <a:ln/>
        </p:spPr>
        <p:txBody>
          <a:bodyPr wrap="square" lIns="0" tIns="0" rIns="0" bIns="0" rtlCol="0" anchor="ctr"/>
          <a:lstStyle/>
          <a:p>
            <a:pPr marL="0" indent="0">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III</a:t>
            </a:r>
            <a:endParaRPr lang="en-US" sz="1200" dirty="0"/>
          </a:p>
        </p:txBody>
      </p:sp>
      <p:sp>
        <p:nvSpPr>
          <p:cNvPr id="16" name="Shape 14"/>
          <p:cNvSpPr/>
          <p:nvPr/>
        </p:nvSpPr>
        <p:spPr>
          <a:xfrm>
            <a:off x="4412503" y="1993392"/>
            <a:ext cx="749808" cy="219456"/>
          </a:xfrm>
          <a:prstGeom prst="roundRect">
            <a:avLst>
              <a:gd name="adj" fmla="val 50000"/>
            </a:avLst>
          </a:prstGeom>
          <a:solidFill>
            <a:srgbClr val="DCE6F2"/>
          </a:solidFill>
          <a:ln w="12700">
            <a:solidFill>
              <a:srgbClr val="DCE6F2"/>
            </a:solidFill>
            <a:prstDash val="solid"/>
          </a:ln>
        </p:spPr>
      </p:sp>
      <p:sp>
        <p:nvSpPr>
          <p:cNvPr id="17" name="Text 15"/>
          <p:cNvSpPr txBox="1"/>
          <p:nvPr/>
        </p:nvSpPr>
        <p:spPr>
          <a:xfrm>
            <a:off x="4412503" y="1993392"/>
            <a:ext cx="749808" cy="219456"/>
          </a:xfrm>
          <a:prstGeom prst="rect">
            <a:avLst/>
          </a:prstGeom>
          <a:noFill/>
          <a:ln/>
        </p:spPr>
        <p:txBody>
          <a:bodyPr wrap="square" lIns="0" tIns="0" rIns="0" bIns="0" rtlCol="0" anchor="ctr"/>
          <a:lstStyle/>
          <a:p>
            <a:pPr marL="0" indent="0" algn="ctr">
              <a:buNone/>
            </a:pPr>
            <a:r>
              <a:rPr lang="en-US" sz="900" b="1" dirty="0">
                <a:solidFill>
                  <a:srgbClr val="1A4B8C"/>
                </a:solidFill>
                <a:latin typeface="Atkinson Hyperlegible Next" pitchFamily="34" charset="0"/>
                <a:ea typeface="Atkinson Hyperlegible Next" pitchFamily="34" charset="-122"/>
                <a:cs typeface="Atkinson Hyperlegible Next" pitchFamily="34" charset="-120"/>
              </a:rPr>
              <a:t>częściowo</a:t>
            </a:r>
            <a:endParaRPr lang="en-US" sz="900" dirty="0"/>
          </a:p>
        </p:txBody>
      </p:sp>
      <p:sp>
        <p:nvSpPr>
          <p:cNvPr id="18" name="Text 16"/>
          <p:cNvSpPr txBox="1"/>
          <p:nvPr/>
        </p:nvSpPr>
        <p:spPr>
          <a:xfrm>
            <a:off x="3898740" y="2286000"/>
            <a:ext cx="1245282" cy="859536"/>
          </a:xfrm>
          <a:prstGeom prst="rect">
            <a:avLst/>
          </a:prstGeom>
          <a:noFill/>
          <a:ln/>
        </p:spPr>
        <p:txBody>
          <a:bodyPr wrap="square" lIns="0" tIns="0" rIns="0" bIns="0" rtlCol="0" anchor="t"/>
          <a:lstStyle/>
          <a:p>
            <a:pPr marL="0" indent="0">
              <a:buNone/>
            </a:pPr>
            <a:r>
              <a:rPr lang="en-US" sz="1150" b="1" dirty="0">
                <a:solidFill>
                  <a:srgbClr val="14171A"/>
                </a:solidFill>
                <a:latin typeface="Atkinson Hyperlegible Next" pitchFamily="34" charset="0"/>
                <a:ea typeface="Atkinson Hyperlegible Next" pitchFamily="34" charset="-122"/>
                <a:cs typeface="Atkinson Hyperlegible Next" pitchFamily="34" charset="-120"/>
              </a:rPr>
              <a:t>Kreator pomysłów</a:t>
            </a:r>
            <a:endParaRPr lang="en-US" sz="1150" dirty="0"/>
          </a:p>
          <a:p>
            <a:pPr marL="0" indent="0">
              <a:spcBef>
                <a:spcPts val="200"/>
              </a:spcBef>
              <a:buNone/>
            </a:pPr>
            <a:r>
              <a:rPr lang="en-US" sz="950" dirty="0">
                <a:solidFill>
                  <a:srgbClr val="454D57"/>
                </a:solidFill>
                <a:latin typeface="Atkinson Hyperlegible Next" pitchFamily="34" charset="0"/>
                <a:ea typeface="Atkinson Hyperlegible Next" pitchFamily="34" charset="-122"/>
                <a:cs typeface="Atkinson Hyperlegible Next" pitchFamily="34" charset="-120"/>
              </a:rPr>
              <a:t>fiszka pomysłu, podobne rozwiązania</a:t>
            </a:r>
            <a:endParaRPr lang="en-US" sz="1150" dirty="0"/>
          </a:p>
        </p:txBody>
      </p:sp>
      <p:sp>
        <p:nvSpPr>
          <p:cNvPr id="19" name="Shape 17"/>
          <p:cNvSpPr/>
          <p:nvPr/>
        </p:nvSpPr>
        <p:spPr>
          <a:xfrm>
            <a:off x="5363479" y="1901952"/>
            <a:ext cx="1464738" cy="1298448"/>
          </a:xfrm>
          <a:prstGeom prst="roundRect">
            <a:avLst>
              <a:gd name="adj" fmla="val 5634"/>
            </a:avLst>
          </a:prstGeom>
          <a:solidFill>
            <a:srgbClr val="EEF4FB"/>
          </a:solidFill>
          <a:ln w="12700">
            <a:solidFill>
              <a:srgbClr val="EEF4FB"/>
            </a:solidFill>
            <a:prstDash val="solid"/>
          </a:ln>
        </p:spPr>
      </p:sp>
      <p:sp>
        <p:nvSpPr>
          <p:cNvPr id="20" name="Text 18"/>
          <p:cNvSpPr txBox="1"/>
          <p:nvPr/>
        </p:nvSpPr>
        <p:spPr>
          <a:xfrm>
            <a:off x="5473207" y="1993392"/>
            <a:ext cx="457200" cy="219456"/>
          </a:xfrm>
          <a:prstGeom prst="rect">
            <a:avLst/>
          </a:prstGeom>
          <a:noFill/>
          <a:ln/>
        </p:spPr>
        <p:txBody>
          <a:bodyPr wrap="square" lIns="0" tIns="0" rIns="0" bIns="0" rtlCol="0" anchor="ctr"/>
          <a:lstStyle/>
          <a:p>
            <a:pPr marL="0" indent="0">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IV</a:t>
            </a:r>
            <a:endParaRPr lang="en-US" sz="1200" dirty="0"/>
          </a:p>
        </p:txBody>
      </p:sp>
      <p:sp>
        <p:nvSpPr>
          <p:cNvPr id="21" name="Shape 19"/>
          <p:cNvSpPr/>
          <p:nvPr/>
        </p:nvSpPr>
        <p:spPr>
          <a:xfrm>
            <a:off x="5986969" y="1993392"/>
            <a:ext cx="749808" cy="219456"/>
          </a:xfrm>
          <a:prstGeom prst="roundRect">
            <a:avLst>
              <a:gd name="adj" fmla="val 50000"/>
            </a:avLst>
          </a:prstGeom>
          <a:solidFill>
            <a:srgbClr val="1A4B8C"/>
          </a:solidFill>
          <a:ln w="12700">
            <a:solidFill>
              <a:srgbClr val="1A4B8C"/>
            </a:solidFill>
            <a:prstDash val="solid"/>
          </a:ln>
        </p:spPr>
      </p:sp>
      <p:sp>
        <p:nvSpPr>
          <p:cNvPr id="22" name="Text 20"/>
          <p:cNvSpPr txBox="1"/>
          <p:nvPr/>
        </p:nvSpPr>
        <p:spPr>
          <a:xfrm>
            <a:off x="5986969" y="1993392"/>
            <a:ext cx="749808" cy="219456"/>
          </a:xfrm>
          <a:prstGeom prst="rect">
            <a:avLst/>
          </a:prstGeom>
          <a:noFill/>
          <a:ln/>
        </p:spPr>
        <p:txBody>
          <a:bodyPr wrap="square" lIns="0" tIns="0" rIns="0" bIns="0" rtlCol="0" anchor="ctr"/>
          <a:lstStyle/>
          <a:p>
            <a:pPr marL="0" indent="0" algn="ctr">
              <a:buNone/>
            </a:pPr>
            <a:r>
              <a:rPr lang="en-US" sz="900" b="1" dirty="0">
                <a:solidFill>
                  <a:srgbClr val="FFFFFF"/>
                </a:solidFill>
                <a:latin typeface="Atkinson Hyperlegible Next" pitchFamily="34" charset="0"/>
                <a:ea typeface="Atkinson Hyperlegible Next" pitchFamily="34" charset="-122"/>
                <a:cs typeface="Atkinson Hyperlegible Next" pitchFamily="34" charset="-120"/>
              </a:rPr>
              <a:t>działa</a:t>
            </a:r>
            <a:endParaRPr lang="en-US" sz="900" dirty="0"/>
          </a:p>
        </p:txBody>
      </p:sp>
      <p:sp>
        <p:nvSpPr>
          <p:cNvPr id="23" name="Text 21"/>
          <p:cNvSpPr txBox="1"/>
          <p:nvPr/>
        </p:nvSpPr>
        <p:spPr>
          <a:xfrm>
            <a:off x="5473207" y="2286000"/>
            <a:ext cx="1245282" cy="859536"/>
          </a:xfrm>
          <a:prstGeom prst="rect">
            <a:avLst/>
          </a:prstGeom>
          <a:noFill/>
          <a:ln/>
        </p:spPr>
        <p:txBody>
          <a:bodyPr wrap="square" lIns="0" tIns="0" rIns="0" bIns="0" rtlCol="0" anchor="t"/>
          <a:lstStyle/>
          <a:p>
            <a:pPr marL="0" indent="0">
              <a:buNone/>
            </a:pPr>
            <a:r>
              <a:rPr lang="en-US" sz="1150" b="1" dirty="0">
                <a:solidFill>
                  <a:srgbClr val="14171A"/>
                </a:solidFill>
                <a:latin typeface="Atkinson Hyperlegible Next" pitchFamily="34" charset="0"/>
                <a:ea typeface="Atkinson Hyperlegible Next" pitchFamily="34" charset="-122"/>
                <a:cs typeface="Atkinson Hyperlegible Next" pitchFamily="34" charset="-120"/>
              </a:rPr>
              <a:t>Tester innowacji</a:t>
            </a:r>
            <a:endParaRPr lang="en-US" sz="1150" dirty="0"/>
          </a:p>
          <a:p>
            <a:pPr marL="0" indent="0">
              <a:spcBef>
                <a:spcPts val="200"/>
              </a:spcBef>
              <a:buNone/>
            </a:pPr>
            <a:r>
              <a:rPr lang="en-US" sz="950" dirty="0">
                <a:solidFill>
                  <a:srgbClr val="454D57"/>
                </a:solidFill>
                <a:latin typeface="Atkinson Hyperlegible Next" pitchFamily="34" charset="0"/>
                <a:ea typeface="Atkinson Hyperlegible Next" pitchFamily="34" charset="-122"/>
                <a:cs typeface="Atkinson Hyperlegible Next" pitchFamily="34" charset="-120"/>
              </a:rPr>
              <a:t>oceny, opinie, propozycje ulepszeń, zapisy do testów</a:t>
            </a:r>
            <a:endParaRPr lang="en-US" sz="1150" dirty="0"/>
          </a:p>
        </p:txBody>
      </p:sp>
      <p:sp>
        <p:nvSpPr>
          <p:cNvPr id="24" name="Shape 22"/>
          <p:cNvSpPr/>
          <p:nvPr/>
        </p:nvSpPr>
        <p:spPr>
          <a:xfrm>
            <a:off x="6937945" y="1901952"/>
            <a:ext cx="1464738" cy="1298448"/>
          </a:xfrm>
          <a:prstGeom prst="roundRect">
            <a:avLst>
              <a:gd name="adj" fmla="val 5634"/>
            </a:avLst>
          </a:prstGeom>
          <a:solidFill>
            <a:srgbClr val="EEF4FB"/>
          </a:solidFill>
          <a:ln w="12700">
            <a:solidFill>
              <a:srgbClr val="EEF4FB"/>
            </a:solidFill>
            <a:prstDash val="solid"/>
          </a:ln>
        </p:spPr>
      </p:sp>
      <p:sp>
        <p:nvSpPr>
          <p:cNvPr id="25" name="Text 23"/>
          <p:cNvSpPr txBox="1"/>
          <p:nvPr/>
        </p:nvSpPr>
        <p:spPr>
          <a:xfrm>
            <a:off x="7047673" y="1993392"/>
            <a:ext cx="457200" cy="219456"/>
          </a:xfrm>
          <a:prstGeom prst="rect">
            <a:avLst/>
          </a:prstGeom>
          <a:noFill/>
          <a:ln/>
        </p:spPr>
        <p:txBody>
          <a:bodyPr wrap="square" lIns="0" tIns="0" rIns="0" bIns="0" rtlCol="0" anchor="ctr"/>
          <a:lstStyle/>
          <a:p>
            <a:pPr marL="0" indent="0">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V</a:t>
            </a:r>
            <a:endParaRPr lang="en-US" sz="1200" dirty="0"/>
          </a:p>
        </p:txBody>
      </p:sp>
      <p:sp>
        <p:nvSpPr>
          <p:cNvPr id="26" name="Shape 24"/>
          <p:cNvSpPr/>
          <p:nvPr/>
        </p:nvSpPr>
        <p:spPr>
          <a:xfrm>
            <a:off x="7561435" y="1993392"/>
            <a:ext cx="749808" cy="219456"/>
          </a:xfrm>
          <a:prstGeom prst="roundRect">
            <a:avLst>
              <a:gd name="adj" fmla="val 50000"/>
            </a:avLst>
          </a:prstGeom>
          <a:solidFill>
            <a:srgbClr val="1A4B8C"/>
          </a:solidFill>
          <a:ln w="12700">
            <a:solidFill>
              <a:srgbClr val="1A4B8C"/>
            </a:solidFill>
            <a:prstDash val="solid"/>
          </a:ln>
        </p:spPr>
      </p:sp>
      <p:sp>
        <p:nvSpPr>
          <p:cNvPr id="27" name="Text 25"/>
          <p:cNvSpPr txBox="1"/>
          <p:nvPr/>
        </p:nvSpPr>
        <p:spPr>
          <a:xfrm>
            <a:off x="7561435" y="1993392"/>
            <a:ext cx="749808" cy="219456"/>
          </a:xfrm>
          <a:prstGeom prst="rect">
            <a:avLst/>
          </a:prstGeom>
          <a:noFill/>
          <a:ln/>
        </p:spPr>
        <p:txBody>
          <a:bodyPr wrap="square" lIns="0" tIns="0" rIns="0" bIns="0" rtlCol="0" anchor="ctr"/>
          <a:lstStyle/>
          <a:p>
            <a:pPr marL="0" indent="0" algn="ctr">
              <a:buNone/>
            </a:pPr>
            <a:r>
              <a:rPr lang="en-US" sz="900" b="1" dirty="0">
                <a:solidFill>
                  <a:srgbClr val="FFFFFF"/>
                </a:solidFill>
                <a:latin typeface="Atkinson Hyperlegible Next" pitchFamily="34" charset="0"/>
                <a:ea typeface="Atkinson Hyperlegible Next" pitchFamily="34" charset="-122"/>
                <a:cs typeface="Atkinson Hyperlegible Next" pitchFamily="34" charset="-120"/>
              </a:rPr>
              <a:t>działa</a:t>
            </a:r>
            <a:endParaRPr lang="en-US" sz="900" dirty="0"/>
          </a:p>
        </p:txBody>
      </p:sp>
      <p:sp>
        <p:nvSpPr>
          <p:cNvPr id="28" name="Text 26"/>
          <p:cNvSpPr txBox="1"/>
          <p:nvPr/>
        </p:nvSpPr>
        <p:spPr>
          <a:xfrm>
            <a:off x="7047673" y="2286000"/>
            <a:ext cx="1245282" cy="859536"/>
          </a:xfrm>
          <a:prstGeom prst="rect">
            <a:avLst/>
          </a:prstGeom>
          <a:noFill/>
          <a:ln/>
        </p:spPr>
        <p:txBody>
          <a:bodyPr wrap="square" lIns="0" tIns="0" rIns="0" bIns="0" rtlCol="0" anchor="t"/>
          <a:lstStyle/>
          <a:p>
            <a:pPr marL="0" indent="0">
              <a:buNone/>
            </a:pPr>
            <a:r>
              <a:rPr lang="en-US" sz="1150" b="1" dirty="0">
                <a:solidFill>
                  <a:srgbClr val="14171A"/>
                </a:solidFill>
                <a:latin typeface="Atkinson Hyperlegible Next" pitchFamily="34" charset="0"/>
                <a:ea typeface="Atkinson Hyperlegible Next" pitchFamily="34" charset="-122"/>
                <a:cs typeface="Atkinson Hyperlegible Next" pitchFamily="34" charset="-120"/>
              </a:rPr>
              <a:t>Platforma aktywnej komunikacji</a:t>
            </a:r>
            <a:endParaRPr lang="en-US" sz="1150" dirty="0"/>
          </a:p>
          <a:p>
            <a:pPr marL="0" indent="0">
              <a:spcBef>
                <a:spcPts val="200"/>
              </a:spcBef>
              <a:buNone/>
            </a:pPr>
            <a:r>
              <a:rPr lang="en-US" sz="950" dirty="0">
                <a:solidFill>
                  <a:srgbClr val="454D57"/>
                </a:solidFill>
                <a:latin typeface="Atkinson Hyperlegible Next" pitchFamily="34" charset="0"/>
                <a:ea typeface="Atkinson Hyperlegible Next" pitchFamily="34" charset="-122"/>
                <a:cs typeface="Atkinson Hyperlegible Next" pitchFamily="34" charset="-120"/>
              </a:rPr>
              <a:t>rozmowy bez konta, mentorzy, partnerstwa</a:t>
            </a:r>
            <a:endParaRPr lang="en-US" sz="1150" dirty="0"/>
          </a:p>
        </p:txBody>
      </p:sp>
      <p:sp>
        <p:nvSpPr>
          <p:cNvPr id="29" name="Shape 27"/>
          <p:cNvSpPr/>
          <p:nvPr/>
        </p:nvSpPr>
        <p:spPr>
          <a:xfrm>
            <a:off x="8512411" y="1901952"/>
            <a:ext cx="1464738" cy="1298448"/>
          </a:xfrm>
          <a:prstGeom prst="roundRect">
            <a:avLst>
              <a:gd name="adj" fmla="val 5634"/>
            </a:avLst>
          </a:prstGeom>
          <a:solidFill>
            <a:srgbClr val="EEF4FB"/>
          </a:solidFill>
          <a:ln w="12700">
            <a:solidFill>
              <a:srgbClr val="EEF4FB"/>
            </a:solidFill>
            <a:prstDash val="solid"/>
          </a:ln>
        </p:spPr>
      </p:sp>
      <p:sp>
        <p:nvSpPr>
          <p:cNvPr id="30" name="Text 28"/>
          <p:cNvSpPr txBox="1"/>
          <p:nvPr/>
        </p:nvSpPr>
        <p:spPr>
          <a:xfrm>
            <a:off x="8622139" y="1993392"/>
            <a:ext cx="457200" cy="219456"/>
          </a:xfrm>
          <a:prstGeom prst="rect">
            <a:avLst/>
          </a:prstGeom>
          <a:noFill/>
          <a:ln/>
        </p:spPr>
        <p:txBody>
          <a:bodyPr wrap="square" lIns="0" tIns="0" rIns="0" bIns="0" rtlCol="0" anchor="ctr"/>
          <a:lstStyle/>
          <a:p>
            <a:pPr marL="0" indent="0">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VI</a:t>
            </a:r>
            <a:endParaRPr lang="en-US" sz="1200" dirty="0"/>
          </a:p>
        </p:txBody>
      </p:sp>
      <p:sp>
        <p:nvSpPr>
          <p:cNvPr id="31" name="Shape 29"/>
          <p:cNvSpPr/>
          <p:nvPr/>
        </p:nvSpPr>
        <p:spPr>
          <a:xfrm>
            <a:off x="9135901" y="1993392"/>
            <a:ext cx="749808" cy="219456"/>
          </a:xfrm>
          <a:prstGeom prst="roundRect">
            <a:avLst>
              <a:gd name="adj" fmla="val 50000"/>
            </a:avLst>
          </a:prstGeom>
          <a:solidFill>
            <a:srgbClr val="1A4B8C"/>
          </a:solidFill>
          <a:ln w="12700">
            <a:solidFill>
              <a:srgbClr val="1A4B8C"/>
            </a:solidFill>
            <a:prstDash val="solid"/>
          </a:ln>
        </p:spPr>
      </p:sp>
      <p:sp>
        <p:nvSpPr>
          <p:cNvPr id="32" name="Text 30"/>
          <p:cNvSpPr txBox="1"/>
          <p:nvPr/>
        </p:nvSpPr>
        <p:spPr>
          <a:xfrm>
            <a:off x="9135901" y="1993392"/>
            <a:ext cx="749808" cy="219456"/>
          </a:xfrm>
          <a:prstGeom prst="rect">
            <a:avLst/>
          </a:prstGeom>
          <a:noFill/>
          <a:ln/>
        </p:spPr>
        <p:txBody>
          <a:bodyPr wrap="square" lIns="0" tIns="0" rIns="0" bIns="0" rtlCol="0" anchor="ctr"/>
          <a:lstStyle/>
          <a:p>
            <a:pPr marL="0" indent="0" algn="ctr">
              <a:buNone/>
            </a:pPr>
            <a:r>
              <a:rPr lang="en-US" sz="900" b="1" dirty="0">
                <a:solidFill>
                  <a:srgbClr val="FFFFFF"/>
                </a:solidFill>
                <a:latin typeface="Atkinson Hyperlegible Next" pitchFamily="34" charset="0"/>
                <a:ea typeface="Atkinson Hyperlegible Next" pitchFamily="34" charset="-122"/>
                <a:cs typeface="Atkinson Hyperlegible Next" pitchFamily="34" charset="-120"/>
              </a:rPr>
              <a:t>działa</a:t>
            </a:r>
            <a:endParaRPr lang="en-US" sz="900" dirty="0"/>
          </a:p>
        </p:txBody>
      </p:sp>
      <p:sp>
        <p:nvSpPr>
          <p:cNvPr id="33" name="Text 31"/>
          <p:cNvSpPr txBox="1"/>
          <p:nvPr/>
        </p:nvSpPr>
        <p:spPr>
          <a:xfrm>
            <a:off x="8622139" y="2286000"/>
            <a:ext cx="1245282" cy="859536"/>
          </a:xfrm>
          <a:prstGeom prst="rect">
            <a:avLst/>
          </a:prstGeom>
          <a:noFill/>
          <a:ln/>
        </p:spPr>
        <p:txBody>
          <a:bodyPr wrap="square" lIns="0" tIns="0" rIns="0" bIns="0" rtlCol="0" anchor="t"/>
          <a:lstStyle/>
          <a:p>
            <a:pPr marL="0" indent="0">
              <a:buNone/>
            </a:pPr>
            <a:r>
              <a:rPr lang="en-US" sz="1150" b="1" dirty="0">
                <a:solidFill>
                  <a:srgbClr val="14171A"/>
                </a:solidFill>
                <a:latin typeface="Atkinson Hyperlegible Next" pitchFamily="34" charset="0"/>
                <a:ea typeface="Atkinson Hyperlegible Next" pitchFamily="34" charset="-122"/>
                <a:cs typeface="Atkinson Hyperlegible Next" pitchFamily="34" charset="-120"/>
              </a:rPr>
              <a:t>Panel administratora</a:t>
            </a:r>
            <a:endParaRPr lang="en-US" sz="1150" dirty="0"/>
          </a:p>
          <a:p>
            <a:pPr marL="0" indent="0">
              <a:spcBef>
                <a:spcPts val="200"/>
              </a:spcBef>
              <a:buNone/>
            </a:pPr>
            <a:r>
              <a:rPr lang="en-US" sz="950" dirty="0">
                <a:solidFill>
                  <a:srgbClr val="454D57"/>
                </a:solidFill>
                <a:latin typeface="Atkinson Hyperlegible Next" pitchFamily="34" charset="0"/>
                <a:ea typeface="Atkinson Hyperlegible Next" pitchFamily="34" charset="-122"/>
                <a:cs typeface="Atkinson Hyperlegible Next" pitchFamily="34" charset="-120"/>
              </a:rPr>
              <a:t>zgłoszenia, decyzje, odpowiedzi, CSV</a:t>
            </a:r>
            <a:endParaRPr lang="en-US" sz="1150" dirty="0"/>
          </a:p>
        </p:txBody>
      </p:sp>
      <p:sp>
        <p:nvSpPr>
          <p:cNvPr id="34" name="Shape 32"/>
          <p:cNvSpPr/>
          <p:nvPr/>
        </p:nvSpPr>
        <p:spPr>
          <a:xfrm>
            <a:off x="10086877" y="1901952"/>
            <a:ext cx="1464738" cy="1298448"/>
          </a:xfrm>
          <a:prstGeom prst="roundRect">
            <a:avLst>
              <a:gd name="adj" fmla="val 5634"/>
            </a:avLst>
          </a:prstGeom>
          <a:solidFill>
            <a:srgbClr val="FFFFFF"/>
          </a:solidFill>
          <a:ln w="12700">
            <a:solidFill>
              <a:srgbClr val="1A4B8C"/>
            </a:solidFill>
            <a:prstDash val="dash"/>
          </a:ln>
        </p:spPr>
      </p:sp>
      <p:sp>
        <p:nvSpPr>
          <p:cNvPr id="35" name="Text 33"/>
          <p:cNvSpPr txBox="1"/>
          <p:nvPr/>
        </p:nvSpPr>
        <p:spPr>
          <a:xfrm>
            <a:off x="10196605" y="1993392"/>
            <a:ext cx="457200" cy="219456"/>
          </a:xfrm>
          <a:prstGeom prst="rect">
            <a:avLst/>
          </a:prstGeom>
          <a:noFill/>
          <a:ln/>
        </p:spPr>
        <p:txBody>
          <a:bodyPr wrap="square" lIns="0" tIns="0" rIns="0" bIns="0" rtlCol="0" anchor="ctr"/>
          <a:lstStyle/>
          <a:p>
            <a:pPr marL="0" indent="0">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VII</a:t>
            </a:r>
            <a:endParaRPr lang="en-US" sz="1200" dirty="0"/>
          </a:p>
        </p:txBody>
      </p:sp>
      <p:sp>
        <p:nvSpPr>
          <p:cNvPr id="36" name="Shape 34"/>
          <p:cNvSpPr/>
          <p:nvPr/>
        </p:nvSpPr>
        <p:spPr>
          <a:xfrm>
            <a:off x="10710367" y="1993392"/>
            <a:ext cx="749808" cy="219456"/>
          </a:xfrm>
          <a:prstGeom prst="roundRect">
            <a:avLst>
              <a:gd name="adj" fmla="val 50000"/>
            </a:avLst>
          </a:prstGeom>
          <a:solidFill>
            <a:srgbClr val="DCE6F2"/>
          </a:solidFill>
          <a:ln w="12700">
            <a:solidFill>
              <a:srgbClr val="DCE6F2"/>
            </a:solidFill>
            <a:prstDash val="solid"/>
          </a:ln>
        </p:spPr>
      </p:sp>
      <p:sp>
        <p:nvSpPr>
          <p:cNvPr id="37" name="Text 35"/>
          <p:cNvSpPr txBox="1"/>
          <p:nvPr/>
        </p:nvSpPr>
        <p:spPr>
          <a:xfrm>
            <a:off x="10710367" y="1993392"/>
            <a:ext cx="749808" cy="219456"/>
          </a:xfrm>
          <a:prstGeom prst="rect">
            <a:avLst/>
          </a:prstGeom>
          <a:noFill/>
          <a:ln/>
        </p:spPr>
        <p:txBody>
          <a:bodyPr wrap="square" lIns="0" tIns="0" rIns="0" bIns="0" rtlCol="0" anchor="ctr"/>
          <a:lstStyle/>
          <a:p>
            <a:pPr marL="0" indent="0" algn="ctr">
              <a:buNone/>
            </a:pPr>
            <a:r>
              <a:rPr lang="en-US" sz="900" b="1" dirty="0">
                <a:solidFill>
                  <a:srgbClr val="1A4B8C"/>
                </a:solidFill>
                <a:latin typeface="Atkinson Hyperlegible Next" pitchFamily="34" charset="0"/>
                <a:ea typeface="Atkinson Hyperlegible Next" pitchFamily="34" charset="-122"/>
                <a:cs typeface="Atkinson Hyperlegible Next" pitchFamily="34" charset="-120"/>
              </a:rPr>
              <a:t>częściowo</a:t>
            </a:r>
            <a:endParaRPr lang="en-US" sz="900" dirty="0"/>
          </a:p>
        </p:txBody>
      </p:sp>
      <p:sp>
        <p:nvSpPr>
          <p:cNvPr id="38" name="Text 36"/>
          <p:cNvSpPr txBox="1"/>
          <p:nvPr/>
        </p:nvSpPr>
        <p:spPr>
          <a:xfrm>
            <a:off x="10196605" y="2286000"/>
            <a:ext cx="1245282" cy="859536"/>
          </a:xfrm>
          <a:prstGeom prst="rect">
            <a:avLst/>
          </a:prstGeom>
          <a:noFill/>
          <a:ln/>
        </p:spPr>
        <p:txBody>
          <a:bodyPr wrap="square" lIns="0" tIns="0" rIns="0" bIns="0" rtlCol="0" anchor="t"/>
          <a:lstStyle/>
          <a:p>
            <a:pPr marL="0" indent="0">
              <a:buNone/>
            </a:pPr>
            <a:r>
              <a:rPr lang="en-US" sz="1150" b="1" dirty="0">
                <a:solidFill>
                  <a:srgbClr val="14171A"/>
                </a:solidFill>
                <a:latin typeface="Atkinson Hyperlegible Next" pitchFamily="34" charset="0"/>
                <a:ea typeface="Atkinson Hyperlegible Next" pitchFamily="34" charset="-122"/>
                <a:cs typeface="Atkinson Hyperlegible Next" pitchFamily="34" charset="-120"/>
              </a:rPr>
              <a:t>Middleman Innowacji</a:t>
            </a:r>
            <a:endParaRPr lang="en-US" sz="1150" dirty="0"/>
          </a:p>
          <a:p>
            <a:pPr marL="0" indent="0">
              <a:spcBef>
                <a:spcPts val="200"/>
              </a:spcBef>
              <a:buNone/>
            </a:pPr>
            <a:r>
              <a:rPr lang="en-US" sz="950" dirty="0">
                <a:solidFill>
                  <a:srgbClr val="454D57"/>
                </a:solidFill>
                <a:latin typeface="Atkinson Hyperlegible Next" pitchFamily="34" charset="0"/>
                <a:ea typeface="Atkinson Hyperlegible Next" pitchFamily="34" charset="-122"/>
                <a:cs typeface="Atkinson Hyperlegible Next" pitchFamily="34" charset="-120"/>
              </a:rPr>
              <a:t>ścieżki dopasowane do roli i gminy</a:t>
            </a:r>
            <a:endParaRPr lang="en-US" sz="1150" dirty="0"/>
          </a:p>
        </p:txBody>
      </p:sp>
      <p:sp>
        <p:nvSpPr>
          <p:cNvPr id="39" name="Text 37"/>
          <p:cNvSpPr txBox="1"/>
          <p:nvPr/>
        </p:nvSpPr>
        <p:spPr>
          <a:xfrm>
            <a:off x="640080" y="3355848"/>
            <a:ext cx="10911535" cy="256032"/>
          </a:xfrm>
          <a:prstGeom prst="rect">
            <a:avLst/>
          </a:prstGeom>
          <a:noFill/>
          <a:ln/>
        </p:spPr>
        <p:txBody>
          <a:bodyPr wrap="square" lIns="0" tIns="0" rIns="0" bIns="0" rtlCol="0" anchor="ctr"/>
          <a:lstStyle/>
          <a:p>
            <a:pPr marL="0" indent="0">
              <a:buNone/>
            </a:pPr>
            <a:r>
              <a:rPr lang="en-US" sz="1000" b="1" kern="0" spc="100" dirty="0">
                <a:solidFill>
                  <a:srgbClr val="1A4B8C"/>
                </a:solidFill>
                <a:latin typeface="Atkinson Hyperlegible Next" pitchFamily="34" charset="0"/>
                <a:ea typeface="Atkinson Hyperlegible Next" pitchFamily="34" charset="-122"/>
                <a:cs typeface="Atkinson Hyperlegible Next" pitchFamily="34" charset="-120"/>
              </a:rPr>
              <a:t>PLAN ROZWOJU  ·  DO ZBUDOWANIA</a:t>
            </a:r>
            <a:endParaRPr lang="en-US" sz="1000" dirty="0"/>
          </a:p>
        </p:txBody>
      </p:sp>
      <p:sp>
        <p:nvSpPr>
          <p:cNvPr id="40" name="Text 38"/>
          <p:cNvSpPr txBox="1"/>
          <p:nvPr/>
        </p:nvSpPr>
        <p:spPr>
          <a:xfrm>
            <a:off x="640080" y="3666744"/>
            <a:ext cx="4846320" cy="274320"/>
          </a:xfrm>
          <a:prstGeom prst="rect">
            <a:avLst/>
          </a:prstGeom>
          <a:noFill/>
          <a:ln/>
        </p:spPr>
        <p:txBody>
          <a:bodyPr wrap="square" lIns="0" tIns="0" rIns="0" bIns="0" rtlCol="0" anchor="ctr"/>
          <a:lstStyle/>
          <a:p>
            <a:pPr marL="0" indent="0">
              <a:buNone/>
            </a:pPr>
            <a:r>
              <a:rPr lang="en-US" sz="1400" b="1" dirty="0">
                <a:solidFill>
                  <a:srgbClr val="1A4B8C"/>
                </a:solidFill>
                <a:latin typeface="Atkinson Hyperlegible Next" pitchFamily="34" charset="0"/>
                <a:ea typeface="Atkinson Hyperlegible Next" pitchFamily="34" charset="-122"/>
                <a:cs typeface="Atkinson Hyperlegible Next" pitchFamily="34" charset="-120"/>
              </a:rPr>
              <a:t>Trzy role w Dziale Innowacji Społecznych ROPS</a:t>
            </a:r>
            <a:endParaRPr lang="en-US" sz="1400" dirty="0"/>
          </a:p>
        </p:txBody>
      </p:sp>
      <p:sp>
        <p:nvSpPr>
          <p:cNvPr id="41" name="Text 39"/>
          <p:cNvSpPr txBox="1"/>
          <p:nvPr/>
        </p:nvSpPr>
        <p:spPr>
          <a:xfrm>
            <a:off x="640080" y="3995928"/>
            <a:ext cx="4846320" cy="402336"/>
          </a:xfrm>
          <a:prstGeom prst="rect">
            <a:avLst/>
          </a:prstGeom>
          <a:noFill/>
          <a:ln/>
        </p:spPr>
        <p:txBody>
          <a:bodyPr wrap="square" lIns="0" tIns="0" rIns="0" bIns="0" rtlCol="0" anchor="t"/>
          <a:lstStyle/>
          <a:p>
            <a:pPr marL="0" indent="0">
              <a:buNone/>
            </a:pPr>
            <a:r>
              <a:rPr lang="en-US" sz="1250" b="1" dirty="0">
                <a:solidFill>
                  <a:srgbClr val="14171A"/>
                </a:solidFill>
                <a:latin typeface="Atkinson Hyperlegible Next" pitchFamily="34" charset="0"/>
                <a:ea typeface="Atkinson Hyperlegible Next" pitchFamily="34" charset="-122"/>
                <a:cs typeface="Atkinson Hyperlegible Next" pitchFamily="34" charset="-120"/>
              </a:rPr>
              <a:t>Opiekun kategorii</a:t>
            </a:r>
            <a:endParaRPr lang="en-US" sz="125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osoba wskazana w każdej drodze; przyjmuje prośby o kontakt</a:t>
            </a:r>
            <a:endParaRPr lang="en-US" sz="1250" dirty="0"/>
          </a:p>
        </p:txBody>
      </p:sp>
      <p:sp>
        <p:nvSpPr>
          <p:cNvPr id="42" name="Text 40"/>
          <p:cNvSpPr txBox="1"/>
          <p:nvPr/>
        </p:nvSpPr>
        <p:spPr>
          <a:xfrm>
            <a:off x="640080" y="4398264"/>
            <a:ext cx="4846320" cy="402336"/>
          </a:xfrm>
          <a:prstGeom prst="rect">
            <a:avLst/>
          </a:prstGeom>
          <a:noFill/>
          <a:ln/>
        </p:spPr>
        <p:txBody>
          <a:bodyPr wrap="square" lIns="0" tIns="0" rIns="0" bIns="0" rtlCol="0" anchor="t"/>
          <a:lstStyle/>
          <a:p>
            <a:pPr marL="0" indent="0">
              <a:buNone/>
            </a:pPr>
            <a:r>
              <a:rPr lang="en-US" sz="1250" b="1" dirty="0">
                <a:solidFill>
                  <a:srgbClr val="14171A"/>
                </a:solidFill>
                <a:latin typeface="Atkinson Hyperlegible Next" pitchFamily="34" charset="0"/>
                <a:ea typeface="Atkinson Hyperlegible Next" pitchFamily="34" charset="-122"/>
                <a:cs typeface="Atkinson Hyperlegible Next" pitchFamily="34" charset="-120"/>
              </a:rPr>
              <a:t>Redaktor katalogu</a:t>
            </a:r>
            <a:endParaRPr lang="en-US" sz="125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aktualizuje opisy, co roku pyta autorów o zmiany, odnotowuje wdrożenia</a:t>
            </a:r>
            <a:endParaRPr lang="en-US" sz="1250" dirty="0"/>
          </a:p>
        </p:txBody>
      </p:sp>
      <p:sp>
        <p:nvSpPr>
          <p:cNvPr id="43" name="Text 41"/>
          <p:cNvSpPr txBox="1"/>
          <p:nvPr/>
        </p:nvSpPr>
        <p:spPr>
          <a:xfrm>
            <a:off x="640080" y="4800600"/>
            <a:ext cx="4846320" cy="402336"/>
          </a:xfrm>
          <a:prstGeom prst="rect">
            <a:avLst/>
          </a:prstGeom>
          <a:noFill/>
          <a:ln/>
        </p:spPr>
        <p:txBody>
          <a:bodyPr wrap="square" lIns="0" tIns="0" rIns="0" bIns="0" rtlCol="0" anchor="t"/>
          <a:lstStyle/>
          <a:p>
            <a:pPr marL="0" indent="0">
              <a:buNone/>
            </a:pPr>
            <a:r>
              <a:rPr lang="en-US" sz="1250" b="1" dirty="0">
                <a:solidFill>
                  <a:srgbClr val="14171A"/>
                </a:solidFill>
                <a:latin typeface="Atkinson Hyperlegible Next" pitchFamily="34" charset="0"/>
                <a:ea typeface="Atkinson Hyperlegible Next" pitchFamily="34" charset="-122"/>
                <a:cs typeface="Atkinson Hyperlegible Next" pitchFamily="34" charset="-120"/>
              </a:rPr>
              <a:t>Koordynator banku potrzeb</a:t>
            </a:r>
            <a:endParaRPr lang="en-US" sz="1250" dirty="0"/>
          </a:p>
          <a:p>
            <a:pPr marL="0" indent="0">
              <a:buNone/>
            </a:pPr>
            <a:r>
              <a:rPr lang="en-US" sz="1100" dirty="0">
                <a:solidFill>
                  <a:srgbClr val="454D57"/>
                </a:solidFill>
                <a:latin typeface="Atkinson Hyperlegible Next" pitchFamily="34" charset="0"/>
                <a:ea typeface="Atkinson Hyperlegible Next" pitchFamily="34" charset="-122"/>
                <a:cs typeface="Atkinson Hyperlegible Next" pitchFamily="34" charset="-120"/>
              </a:rPr>
              <a:t>co tydzień przegląda potrzeby, łączy je w tematy naborów</a:t>
            </a:r>
            <a:endParaRPr lang="en-US" sz="1250" dirty="0"/>
          </a:p>
        </p:txBody>
      </p:sp>
      <p:sp>
        <p:nvSpPr>
          <p:cNvPr id="44" name="Text 42"/>
          <p:cNvSpPr txBox="1"/>
          <p:nvPr/>
        </p:nvSpPr>
        <p:spPr>
          <a:xfrm>
            <a:off x="5897880" y="3666744"/>
            <a:ext cx="5653735" cy="274320"/>
          </a:xfrm>
          <a:prstGeom prst="rect">
            <a:avLst/>
          </a:prstGeom>
          <a:noFill/>
          <a:ln/>
        </p:spPr>
        <p:txBody>
          <a:bodyPr wrap="square" lIns="0" tIns="0" rIns="0" bIns="0" rtlCol="0" anchor="ctr"/>
          <a:lstStyle/>
          <a:p>
            <a:pPr marL="0" indent="0">
              <a:buNone/>
            </a:pPr>
            <a:r>
              <a:rPr lang="en-US" sz="1400" b="1" dirty="0">
                <a:solidFill>
                  <a:srgbClr val="1A4B8C"/>
                </a:solidFill>
                <a:latin typeface="Atkinson Hyperlegible Next" pitchFamily="34" charset="0"/>
                <a:ea typeface="Atkinson Hyperlegible Next" pitchFamily="34" charset="-122"/>
                <a:cs typeface="Atkinson Hyperlegible Next" pitchFamily="34" charset="-120"/>
              </a:rPr>
              <a:t>Trzy cykle, które domknie usługa</a:t>
            </a:r>
            <a:endParaRPr lang="en-US" sz="1400" dirty="0"/>
          </a:p>
        </p:txBody>
      </p:sp>
      <p:sp>
        <p:nvSpPr>
          <p:cNvPr id="45" name="Shape 43"/>
          <p:cNvSpPr/>
          <p:nvPr/>
        </p:nvSpPr>
        <p:spPr>
          <a:xfrm>
            <a:off x="5897880" y="4014216"/>
            <a:ext cx="292608" cy="292608"/>
          </a:xfrm>
          <a:prstGeom prst="ellipse">
            <a:avLst/>
          </a:prstGeom>
          <a:solidFill>
            <a:srgbClr val="FFFFFF"/>
          </a:solidFill>
          <a:ln w="19050">
            <a:solidFill>
              <a:srgbClr val="1A4B8C"/>
            </a:solidFill>
            <a:prstDash val="solid"/>
          </a:ln>
        </p:spPr>
      </p:sp>
      <p:sp>
        <p:nvSpPr>
          <p:cNvPr id="46" name="Text 44"/>
          <p:cNvSpPr txBox="1"/>
          <p:nvPr/>
        </p:nvSpPr>
        <p:spPr>
          <a:xfrm>
            <a:off x="5897880" y="4014216"/>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1</a:t>
            </a:r>
            <a:endParaRPr lang="en-US" sz="1200" dirty="0"/>
          </a:p>
        </p:txBody>
      </p:sp>
      <p:sp>
        <p:nvSpPr>
          <p:cNvPr id="47" name="Text 45"/>
          <p:cNvSpPr txBox="1"/>
          <p:nvPr/>
        </p:nvSpPr>
        <p:spPr>
          <a:xfrm>
            <a:off x="6309360" y="3995928"/>
            <a:ext cx="5242255" cy="329184"/>
          </a:xfrm>
          <a:prstGeom prst="rect">
            <a:avLst/>
          </a:prstGeom>
          <a:noFill/>
          <a:ln/>
        </p:spPr>
        <p:txBody>
          <a:bodyPr wrap="square" lIns="0" tIns="0" rIns="0" bIns="0" rtlCol="0" anchor="ctr"/>
          <a:lstStyle/>
          <a:p>
            <a:pPr marL="0" indent="0">
              <a:buNone/>
            </a:pPr>
            <a:r>
              <a:rPr lang="en-US" sz="1250" b="1" dirty="0">
                <a:solidFill>
                  <a:srgbClr val="14171A"/>
                </a:solidFill>
                <a:latin typeface="Atkinson Hyperlegible Next" pitchFamily="34" charset="0"/>
                <a:ea typeface="Atkinson Hyperlegible Next" pitchFamily="34" charset="-122"/>
                <a:cs typeface="Atkinson Hyperlegible Next" pitchFamily="34" charset="-120"/>
              </a:rPr>
              <a:t>Potrzeba</a:t>
            </a:r>
            <a:r>
              <a:rPr lang="en-US" sz="125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250" dirty="0">
                <a:solidFill>
                  <a:srgbClr val="14171A"/>
                </a:solidFill>
                <a:latin typeface="Atkinson Hyperlegible Next" pitchFamily="34" charset="0"/>
                <a:ea typeface="Atkinson Hyperlegible Next" pitchFamily="34" charset="-122"/>
                <a:cs typeface="Atkinson Hyperlegible Next" pitchFamily="34" charset="-120"/>
              </a:rPr>
              <a:t>droga</a:t>
            </a:r>
            <a:r>
              <a:rPr lang="en-US" sz="125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250" dirty="0">
                <a:solidFill>
                  <a:srgbClr val="14171A"/>
                </a:solidFill>
                <a:latin typeface="Atkinson Hyperlegible Next" pitchFamily="34" charset="0"/>
                <a:ea typeface="Atkinson Hyperlegible Next" pitchFamily="34" charset="-122"/>
                <a:cs typeface="Atkinson Hyperlegible Next" pitchFamily="34" charset="-120"/>
              </a:rPr>
              <a:t>kontakt</a:t>
            </a:r>
            <a:r>
              <a:rPr lang="en-US" sz="125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250" b="1" dirty="0">
                <a:solidFill>
                  <a:srgbClr val="14171A"/>
                </a:solidFill>
                <a:latin typeface="Atkinson Hyperlegible Next" pitchFamily="34" charset="0"/>
                <a:ea typeface="Atkinson Hyperlegible Next" pitchFamily="34" charset="-122"/>
                <a:cs typeface="Atkinson Hyperlegible Next" pitchFamily="34" charset="-120"/>
              </a:rPr>
              <a:t>nowe wdrożenie</a:t>
            </a:r>
            <a:endParaRPr lang="en-US" sz="1250" dirty="0"/>
          </a:p>
        </p:txBody>
      </p:sp>
      <p:sp>
        <p:nvSpPr>
          <p:cNvPr id="48" name="Shape 46"/>
          <p:cNvSpPr/>
          <p:nvPr/>
        </p:nvSpPr>
        <p:spPr>
          <a:xfrm>
            <a:off x="5897880" y="4416552"/>
            <a:ext cx="292608" cy="292608"/>
          </a:xfrm>
          <a:prstGeom prst="ellipse">
            <a:avLst/>
          </a:prstGeom>
          <a:solidFill>
            <a:srgbClr val="FFFFFF"/>
          </a:solidFill>
          <a:ln w="19050">
            <a:solidFill>
              <a:srgbClr val="1A4B8C"/>
            </a:solidFill>
            <a:prstDash val="solid"/>
          </a:ln>
        </p:spPr>
      </p:sp>
      <p:sp>
        <p:nvSpPr>
          <p:cNvPr id="49" name="Text 47"/>
          <p:cNvSpPr txBox="1"/>
          <p:nvPr/>
        </p:nvSpPr>
        <p:spPr>
          <a:xfrm>
            <a:off x="5897880" y="4416552"/>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2</a:t>
            </a:r>
            <a:endParaRPr lang="en-US" sz="1200" dirty="0"/>
          </a:p>
        </p:txBody>
      </p:sp>
      <p:sp>
        <p:nvSpPr>
          <p:cNvPr id="50" name="Text 48"/>
          <p:cNvSpPr txBox="1"/>
          <p:nvPr/>
        </p:nvSpPr>
        <p:spPr>
          <a:xfrm>
            <a:off x="6309360" y="4398264"/>
            <a:ext cx="5242255" cy="329184"/>
          </a:xfrm>
          <a:prstGeom prst="rect">
            <a:avLst/>
          </a:prstGeom>
          <a:noFill/>
          <a:ln/>
        </p:spPr>
        <p:txBody>
          <a:bodyPr wrap="square" lIns="0" tIns="0" rIns="0" bIns="0" rtlCol="0" anchor="ctr"/>
          <a:lstStyle/>
          <a:p>
            <a:pPr marL="0" indent="0">
              <a:buNone/>
            </a:pPr>
            <a:r>
              <a:rPr lang="en-US" sz="1250" b="1" dirty="0">
                <a:solidFill>
                  <a:srgbClr val="14171A"/>
                </a:solidFill>
                <a:latin typeface="Atkinson Hyperlegible Next" pitchFamily="34" charset="0"/>
                <a:ea typeface="Atkinson Hyperlegible Next" pitchFamily="34" charset="-122"/>
                <a:cs typeface="Atkinson Hyperlegible Next" pitchFamily="34" charset="-120"/>
              </a:rPr>
              <a:t>Potrzeba</a:t>
            </a:r>
            <a:r>
              <a:rPr lang="en-US" sz="125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250" dirty="0">
                <a:solidFill>
                  <a:srgbClr val="14171A"/>
                </a:solidFill>
                <a:latin typeface="Atkinson Hyperlegible Next" pitchFamily="34" charset="0"/>
                <a:ea typeface="Atkinson Hyperlegible Next" pitchFamily="34" charset="-122"/>
                <a:cs typeface="Atkinson Hyperlegible Next" pitchFamily="34" charset="-120"/>
              </a:rPr>
              <a:t>bank potrzeb</a:t>
            </a:r>
            <a:r>
              <a:rPr lang="en-US" sz="125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250" dirty="0">
                <a:solidFill>
                  <a:srgbClr val="14171A"/>
                </a:solidFill>
                <a:latin typeface="Atkinson Hyperlegible Next" pitchFamily="34" charset="0"/>
                <a:ea typeface="Atkinson Hyperlegible Next" pitchFamily="34" charset="-122"/>
                <a:cs typeface="Atkinson Hyperlegible Next" pitchFamily="34" charset="-120"/>
              </a:rPr>
              <a:t>temat naboru</a:t>
            </a:r>
            <a:r>
              <a:rPr lang="en-US" sz="125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250" b="1" dirty="0">
                <a:solidFill>
                  <a:srgbClr val="14171A"/>
                </a:solidFill>
                <a:latin typeface="Atkinson Hyperlegible Next" pitchFamily="34" charset="0"/>
                <a:ea typeface="Atkinson Hyperlegible Next" pitchFamily="34" charset="-122"/>
                <a:cs typeface="Atkinson Hyperlegible Next" pitchFamily="34" charset="-120"/>
              </a:rPr>
              <a:t>nowa innowacja</a:t>
            </a:r>
            <a:endParaRPr lang="en-US" sz="1250" dirty="0"/>
          </a:p>
        </p:txBody>
      </p:sp>
      <p:sp>
        <p:nvSpPr>
          <p:cNvPr id="51" name="Shape 49"/>
          <p:cNvSpPr/>
          <p:nvPr/>
        </p:nvSpPr>
        <p:spPr>
          <a:xfrm>
            <a:off x="5897880" y="4818888"/>
            <a:ext cx="292608" cy="292608"/>
          </a:xfrm>
          <a:prstGeom prst="ellipse">
            <a:avLst/>
          </a:prstGeom>
          <a:solidFill>
            <a:srgbClr val="FFFFFF"/>
          </a:solidFill>
          <a:ln w="19050">
            <a:solidFill>
              <a:srgbClr val="1A4B8C"/>
            </a:solidFill>
            <a:prstDash val="solid"/>
          </a:ln>
        </p:spPr>
      </p:sp>
      <p:sp>
        <p:nvSpPr>
          <p:cNvPr id="52" name="Text 50"/>
          <p:cNvSpPr txBox="1"/>
          <p:nvPr/>
        </p:nvSpPr>
        <p:spPr>
          <a:xfrm>
            <a:off x="5897880" y="4818888"/>
            <a:ext cx="292608" cy="292608"/>
          </a:xfrm>
          <a:prstGeom prst="rect">
            <a:avLst/>
          </a:prstGeom>
          <a:noFill/>
          <a:ln/>
        </p:spPr>
        <p:txBody>
          <a:bodyPr wrap="square" lIns="0" tIns="0" rIns="0" bIns="0" rtlCol="0" anchor="ctr"/>
          <a:lstStyle/>
          <a:p>
            <a:pPr marL="0" indent="0" algn="ctr">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3</a:t>
            </a:r>
            <a:endParaRPr lang="en-US" sz="1200" dirty="0"/>
          </a:p>
        </p:txBody>
      </p:sp>
      <p:sp>
        <p:nvSpPr>
          <p:cNvPr id="53" name="Text 51"/>
          <p:cNvSpPr txBox="1"/>
          <p:nvPr/>
        </p:nvSpPr>
        <p:spPr>
          <a:xfrm>
            <a:off x="6309360" y="4800600"/>
            <a:ext cx="5242255" cy="329184"/>
          </a:xfrm>
          <a:prstGeom prst="rect">
            <a:avLst/>
          </a:prstGeom>
          <a:noFill/>
          <a:ln/>
        </p:spPr>
        <p:txBody>
          <a:bodyPr wrap="square" lIns="0" tIns="0" rIns="0" bIns="0" rtlCol="0" anchor="ctr"/>
          <a:lstStyle/>
          <a:p>
            <a:pPr marL="0" indent="0">
              <a:buNone/>
            </a:pPr>
            <a:r>
              <a:rPr lang="en-US" sz="1250" b="1" dirty="0">
                <a:solidFill>
                  <a:srgbClr val="14171A"/>
                </a:solidFill>
                <a:latin typeface="Atkinson Hyperlegible Next" pitchFamily="34" charset="0"/>
                <a:ea typeface="Atkinson Hyperlegible Next" pitchFamily="34" charset="-122"/>
                <a:cs typeface="Atkinson Hyperlegible Next" pitchFamily="34" charset="-120"/>
              </a:rPr>
              <a:t>Innowacja</a:t>
            </a:r>
            <a:r>
              <a:rPr lang="en-US" sz="125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250" dirty="0">
                <a:solidFill>
                  <a:srgbClr val="14171A"/>
                </a:solidFill>
                <a:latin typeface="Atkinson Hyperlegible Next" pitchFamily="34" charset="0"/>
                <a:ea typeface="Atkinson Hyperlegible Next" pitchFamily="34" charset="-122"/>
                <a:cs typeface="Atkinson Hyperlegible Next" pitchFamily="34" charset="-120"/>
              </a:rPr>
              <a:t>mapa potrzeb</a:t>
            </a:r>
            <a:r>
              <a:rPr lang="en-US" sz="1250" b="1" dirty="0">
                <a:solidFill>
                  <a:srgbClr val="1A4B8C"/>
                </a:solidFill>
                <a:latin typeface="Atkinson Hyperlegible Next" pitchFamily="34" charset="0"/>
                <a:ea typeface="Atkinson Hyperlegible Next" pitchFamily="34" charset="-122"/>
                <a:cs typeface="Atkinson Hyperlegible Next" pitchFamily="34" charset="-120"/>
              </a:rPr>
              <a:t>  →  </a:t>
            </a:r>
            <a:r>
              <a:rPr lang="en-US" sz="1250" b="1" dirty="0">
                <a:solidFill>
                  <a:srgbClr val="14171A"/>
                </a:solidFill>
                <a:latin typeface="Atkinson Hyperlegible Next" pitchFamily="34" charset="0"/>
                <a:ea typeface="Atkinson Hyperlegible Next" pitchFamily="34" charset="-122"/>
                <a:cs typeface="Atkinson Hyperlegible Next" pitchFamily="34" charset="-120"/>
              </a:rPr>
              <a:t>granty tam, gdzie jej brakuje</a:t>
            </a:r>
            <a:endParaRPr lang="en-US" sz="1250" dirty="0"/>
          </a:p>
        </p:txBody>
      </p:sp>
      <p:sp>
        <p:nvSpPr>
          <p:cNvPr id="54" name="Shape 52"/>
          <p:cNvSpPr/>
          <p:nvPr/>
        </p:nvSpPr>
        <p:spPr>
          <a:xfrm>
            <a:off x="640080" y="5294376"/>
            <a:ext cx="4846320" cy="1106424"/>
          </a:xfrm>
          <a:prstGeom prst="roundRect">
            <a:avLst>
              <a:gd name="adj" fmla="val 8264"/>
            </a:avLst>
          </a:prstGeom>
          <a:solidFill>
            <a:srgbClr val="F3F5F8"/>
          </a:solidFill>
          <a:ln w="12700">
            <a:solidFill>
              <a:srgbClr val="F3F5F8"/>
            </a:solidFill>
            <a:prstDash val="solid"/>
          </a:ln>
        </p:spPr>
      </p:sp>
      <p:sp>
        <p:nvSpPr>
          <p:cNvPr id="55" name="Text 53"/>
          <p:cNvSpPr txBox="1"/>
          <p:nvPr/>
        </p:nvSpPr>
        <p:spPr>
          <a:xfrm>
            <a:off x="822960" y="5294376"/>
            <a:ext cx="4480560" cy="1106424"/>
          </a:xfrm>
          <a:prstGeom prst="rect">
            <a:avLst/>
          </a:prstGeom>
          <a:noFill/>
          <a:ln/>
        </p:spPr>
        <p:txBody>
          <a:bodyPr wrap="square" lIns="0" tIns="0" rIns="0" bIns="0" rtlCol="0" anchor="ctr"/>
          <a:lstStyle/>
          <a:p>
            <a:pPr marL="0" indent="0">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Już w panelu ROPS:  </a:t>
            </a:r>
            <a:r>
              <a:rPr lang="en-US" sz="1200" dirty="0">
                <a:solidFill>
                  <a:srgbClr val="14171A"/>
                </a:solidFill>
                <a:latin typeface="Atkinson Hyperlegible Next" pitchFamily="34" charset="0"/>
                <a:ea typeface="Atkinson Hyperlegible Next" pitchFamily="34" charset="-122"/>
                <a:cs typeface="Atkinson Hyperlegible Next" pitchFamily="34" charset="-120"/>
              </a:rPr>
              <a:t>każdy wpis czeka na decyzję pracownika, odnotowaną z jego nazwiskiem; autor pomysłu widzi status i odpowiedź na stronie swojej fiszki; liczba dróg, próśb o kontakt i potrzeb oraz trendy potrzeb.</a:t>
            </a:r>
            <a:endParaRPr lang="en-US" sz="1200" dirty="0"/>
          </a:p>
        </p:txBody>
      </p:sp>
      <p:sp>
        <p:nvSpPr>
          <p:cNvPr id="56" name="Shape 54"/>
          <p:cNvSpPr/>
          <p:nvPr/>
        </p:nvSpPr>
        <p:spPr>
          <a:xfrm>
            <a:off x="5897880" y="5294376"/>
            <a:ext cx="5653735" cy="1106424"/>
          </a:xfrm>
          <a:prstGeom prst="roundRect">
            <a:avLst>
              <a:gd name="adj" fmla="val 8264"/>
            </a:avLst>
          </a:prstGeom>
          <a:solidFill>
            <a:srgbClr val="EEF4FB"/>
          </a:solidFill>
          <a:ln w="12700">
            <a:solidFill>
              <a:srgbClr val="EEF4FB"/>
            </a:solidFill>
            <a:prstDash val="solid"/>
          </a:ln>
        </p:spPr>
      </p:sp>
      <p:sp>
        <p:nvSpPr>
          <p:cNvPr id="57" name="Text 55"/>
          <p:cNvSpPr txBox="1"/>
          <p:nvPr/>
        </p:nvSpPr>
        <p:spPr>
          <a:xfrm>
            <a:off x="6080760" y="5385816"/>
            <a:ext cx="5287975" cy="274320"/>
          </a:xfrm>
          <a:prstGeom prst="rect">
            <a:avLst/>
          </a:prstGeom>
          <a:noFill/>
          <a:ln/>
        </p:spPr>
        <p:txBody>
          <a:bodyPr wrap="square" lIns="0" tIns="0" rIns="0" bIns="0" rtlCol="0" anchor="ctr"/>
          <a:lstStyle/>
          <a:p>
            <a:pPr marL="0" indent="0">
              <a:buNone/>
            </a:pPr>
            <a:r>
              <a:rPr lang="en-US" sz="1300" b="1" dirty="0">
                <a:solidFill>
                  <a:srgbClr val="1A4B8C"/>
                </a:solidFill>
                <a:latin typeface="Atkinson Hyperlegible Next" pitchFamily="34" charset="0"/>
                <a:ea typeface="Atkinson Hyperlegible Next" pitchFamily="34" charset="-122"/>
                <a:cs typeface="Atkinson Hyperlegible Next" pitchFamily="34" charset="-120"/>
              </a:rPr>
              <a:t>Około 55 USD miesięcznie plus 8 USD za 1000 dróg</a:t>
            </a:r>
            <a:endParaRPr lang="en-US" sz="1300" dirty="0"/>
          </a:p>
        </p:txBody>
      </p:sp>
      <p:sp>
        <p:nvSpPr>
          <p:cNvPr id="58" name="Text 56"/>
          <p:cNvSpPr txBox="1"/>
          <p:nvPr/>
        </p:nvSpPr>
        <p:spPr>
          <a:xfrm>
            <a:off x="6080760" y="5660136"/>
            <a:ext cx="4282135" cy="164592"/>
          </a:xfrm>
          <a:prstGeom prst="rect">
            <a:avLst/>
          </a:prstGeom>
          <a:noFill/>
          <a:ln/>
        </p:spPr>
        <p:txBody>
          <a:bodyPr wrap="square" lIns="0" tIns="0" rIns="0" bIns="0" rtlCol="0" anchor="ctr"/>
          <a:lstStyle/>
          <a:p>
            <a:pPr marL="0" indent="0">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Serwer  </a:t>
            </a:r>
            <a:r>
              <a:rPr lang="en-US" sz="1050" dirty="0">
                <a:solidFill>
                  <a:srgbClr val="454D57"/>
                </a:solidFill>
                <a:latin typeface="Atkinson Hyperlegible Next" pitchFamily="34" charset="0"/>
                <a:ea typeface="Atkinson Hyperlegible Next" pitchFamily="34" charset="-122"/>
                <a:cs typeface="Atkinson Hyperlegible Next" pitchFamily="34" charset="-120"/>
              </a:rPr>
              <a:t>aplikacja + polski model wyszukiwania, 4 GB</a:t>
            </a:r>
            <a:endParaRPr lang="en-US" sz="1050" dirty="0"/>
          </a:p>
        </p:txBody>
      </p:sp>
      <p:sp>
        <p:nvSpPr>
          <p:cNvPr id="59" name="Text 57"/>
          <p:cNvSpPr txBox="1"/>
          <p:nvPr/>
        </p:nvSpPr>
        <p:spPr>
          <a:xfrm>
            <a:off x="10317175" y="5660136"/>
            <a:ext cx="1051560" cy="164592"/>
          </a:xfrm>
          <a:prstGeom prst="rect">
            <a:avLst/>
          </a:prstGeom>
          <a:noFill/>
          <a:ln/>
        </p:spPr>
        <p:txBody>
          <a:bodyPr wrap="square" lIns="0" tIns="0" rIns="0" bIns="0" rtlCol="0" anchor="ctr"/>
          <a:lstStyle/>
          <a:p>
            <a:pPr marL="0" indent="0" algn="r">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24 USD / mies.</a:t>
            </a:r>
            <a:endParaRPr lang="en-US" sz="1050" dirty="0"/>
          </a:p>
        </p:txBody>
      </p:sp>
      <p:sp>
        <p:nvSpPr>
          <p:cNvPr id="60" name="Text 58"/>
          <p:cNvSpPr txBox="1"/>
          <p:nvPr/>
        </p:nvSpPr>
        <p:spPr>
          <a:xfrm>
            <a:off x="6080760" y="5824728"/>
            <a:ext cx="4282135" cy="164592"/>
          </a:xfrm>
          <a:prstGeom prst="rect">
            <a:avLst/>
          </a:prstGeom>
          <a:noFill/>
          <a:ln/>
        </p:spPr>
        <p:txBody>
          <a:bodyPr wrap="square" lIns="0" tIns="0" rIns="0" bIns="0" rtlCol="0" anchor="ctr"/>
          <a:lstStyle/>
          <a:p>
            <a:pPr marL="0" indent="0">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Baza danych  </a:t>
            </a:r>
            <a:r>
              <a:rPr lang="en-US" sz="1050" dirty="0">
                <a:solidFill>
                  <a:srgbClr val="454D57"/>
                </a:solidFill>
                <a:latin typeface="Atkinson Hyperlegible Next" pitchFamily="34" charset="0"/>
                <a:ea typeface="Atkinson Hyperlegible Next" pitchFamily="34" charset="-122"/>
                <a:cs typeface="Atkinson Hyperlegible Next" pitchFamily="34" charset="-120"/>
              </a:rPr>
              <a:t>PostgreSQL + pgvector, RDS 2 GB</a:t>
            </a:r>
            <a:endParaRPr lang="en-US" sz="1050" dirty="0"/>
          </a:p>
        </p:txBody>
      </p:sp>
      <p:sp>
        <p:nvSpPr>
          <p:cNvPr id="61" name="Text 59"/>
          <p:cNvSpPr txBox="1"/>
          <p:nvPr/>
        </p:nvSpPr>
        <p:spPr>
          <a:xfrm>
            <a:off x="10317175" y="5824728"/>
            <a:ext cx="1051560" cy="164592"/>
          </a:xfrm>
          <a:prstGeom prst="rect">
            <a:avLst/>
          </a:prstGeom>
          <a:noFill/>
          <a:ln/>
        </p:spPr>
        <p:txBody>
          <a:bodyPr wrap="square" lIns="0" tIns="0" rIns="0" bIns="0" rtlCol="0" anchor="ctr"/>
          <a:lstStyle/>
          <a:p>
            <a:pPr marL="0" indent="0" algn="r">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30 USD / mies.</a:t>
            </a:r>
            <a:endParaRPr lang="en-US" sz="1050" dirty="0"/>
          </a:p>
        </p:txBody>
      </p:sp>
      <p:sp>
        <p:nvSpPr>
          <p:cNvPr id="62" name="Text 60"/>
          <p:cNvSpPr txBox="1"/>
          <p:nvPr/>
        </p:nvSpPr>
        <p:spPr>
          <a:xfrm>
            <a:off x="6080760" y="5989320"/>
            <a:ext cx="4282135" cy="164592"/>
          </a:xfrm>
          <a:prstGeom prst="rect">
            <a:avLst/>
          </a:prstGeom>
          <a:noFill/>
          <a:ln/>
        </p:spPr>
        <p:txBody>
          <a:bodyPr wrap="square" lIns="0" tIns="0" rIns="0" bIns="0" rtlCol="0" anchor="ctr"/>
          <a:lstStyle/>
          <a:p>
            <a:pPr marL="0" indent="0">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Zapytanie do modelu  </a:t>
            </a:r>
            <a:r>
              <a:rPr lang="en-US" sz="1050" dirty="0">
                <a:solidFill>
                  <a:srgbClr val="454D57"/>
                </a:solidFill>
                <a:latin typeface="Atkinson Hyperlegible Next" pitchFamily="34" charset="0"/>
                <a:ea typeface="Atkinson Hyperlegible Next" pitchFamily="34" charset="-122"/>
                <a:cs typeface="Atkinson Hyperlegible Next" pitchFamily="34" charset="-120"/>
              </a:rPr>
              <a:t>Bielik 11B na Hugging Face, ~5 tys. tokenów</a:t>
            </a:r>
            <a:endParaRPr lang="en-US" sz="1050" dirty="0"/>
          </a:p>
        </p:txBody>
      </p:sp>
      <p:sp>
        <p:nvSpPr>
          <p:cNvPr id="63" name="Text 61"/>
          <p:cNvSpPr txBox="1"/>
          <p:nvPr/>
        </p:nvSpPr>
        <p:spPr>
          <a:xfrm>
            <a:off x="10317175" y="5989320"/>
            <a:ext cx="1051560" cy="164592"/>
          </a:xfrm>
          <a:prstGeom prst="rect">
            <a:avLst/>
          </a:prstGeom>
          <a:noFill/>
          <a:ln/>
        </p:spPr>
        <p:txBody>
          <a:bodyPr wrap="square" lIns="0" tIns="0" rIns="0" bIns="0" rtlCol="0" anchor="ctr"/>
          <a:lstStyle/>
          <a:p>
            <a:pPr marL="0" indent="0" algn="r">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0,002 USD</a:t>
            </a:r>
            <a:endParaRPr lang="en-US" sz="1050" dirty="0"/>
          </a:p>
        </p:txBody>
      </p:sp>
      <p:sp>
        <p:nvSpPr>
          <p:cNvPr id="64" name="Text 62"/>
          <p:cNvSpPr txBox="1"/>
          <p:nvPr/>
        </p:nvSpPr>
        <p:spPr>
          <a:xfrm>
            <a:off x="6080760" y="6153912"/>
            <a:ext cx="4282135" cy="164592"/>
          </a:xfrm>
          <a:prstGeom prst="rect">
            <a:avLst/>
          </a:prstGeom>
          <a:noFill/>
          <a:ln/>
        </p:spPr>
        <p:txBody>
          <a:bodyPr wrap="square" lIns="0" tIns="0" rIns="0" bIns="0" rtlCol="0" anchor="ctr"/>
          <a:lstStyle/>
          <a:p>
            <a:pPr marL="0" indent="0">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Droga  </a:t>
            </a:r>
            <a:r>
              <a:rPr lang="en-US" sz="1050" dirty="0">
                <a:solidFill>
                  <a:srgbClr val="454D57"/>
                </a:solidFill>
                <a:latin typeface="Atkinson Hyperlegible Next" pitchFamily="34" charset="0"/>
                <a:ea typeface="Atkinson Hyperlegible Next" pitchFamily="34" charset="-122"/>
                <a:cs typeface="Atkinson Hyperlegible Next" pitchFamily="34" charset="-120"/>
              </a:rPr>
              <a:t>4 zapytania, ~21 tys. tokenów</a:t>
            </a:r>
            <a:endParaRPr lang="en-US" sz="1050" dirty="0"/>
          </a:p>
        </p:txBody>
      </p:sp>
      <p:sp>
        <p:nvSpPr>
          <p:cNvPr id="65" name="Text 63"/>
          <p:cNvSpPr txBox="1"/>
          <p:nvPr/>
        </p:nvSpPr>
        <p:spPr>
          <a:xfrm>
            <a:off x="10317175" y="6153912"/>
            <a:ext cx="1051560" cy="164592"/>
          </a:xfrm>
          <a:prstGeom prst="rect">
            <a:avLst/>
          </a:prstGeom>
          <a:noFill/>
          <a:ln/>
        </p:spPr>
        <p:txBody>
          <a:bodyPr wrap="square" lIns="0" tIns="0" rIns="0" bIns="0" rtlCol="0" anchor="ctr"/>
          <a:lstStyle/>
          <a:p>
            <a:pPr marL="0" indent="0" algn="r">
              <a:buNone/>
            </a:pPr>
            <a:r>
              <a:rPr lang="en-US" sz="1050" b="1" dirty="0">
                <a:solidFill>
                  <a:srgbClr val="14171A"/>
                </a:solidFill>
                <a:latin typeface="Atkinson Hyperlegible Next" pitchFamily="34" charset="0"/>
                <a:ea typeface="Atkinson Hyperlegible Next" pitchFamily="34" charset="-122"/>
                <a:cs typeface="Atkinson Hyperlegible Next" pitchFamily="34" charset="-120"/>
              </a:rPr>
              <a:t>0,008 USD</a:t>
            </a:r>
            <a:endParaRPr lang="en-US" sz="1050" dirty="0"/>
          </a:p>
        </p:txBody>
      </p:sp>
      <p:sp>
        <p:nvSpPr>
          <p:cNvPr id="66" name="Text 64"/>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8 / 9</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txBox="1"/>
          <p:nvPr/>
        </p:nvSpPr>
        <p:spPr>
          <a:xfrm>
            <a:off x="640080" y="320040"/>
            <a:ext cx="10911535" cy="1143000"/>
          </a:xfrm>
          <a:prstGeom prst="rect">
            <a:avLst/>
          </a:prstGeom>
          <a:noFill/>
          <a:ln/>
        </p:spPr>
        <p:txBody>
          <a:bodyPr wrap="square" lIns="0" tIns="0" rIns="0" bIns="0" rtlCol="0" anchor="b"/>
          <a:lstStyle/>
          <a:p>
            <a:pPr marL="0" indent="0">
              <a:buNone/>
            </a:pPr>
            <a:r>
              <a:rPr lang="en-US" sz="3200" b="1" dirty="0">
                <a:solidFill>
                  <a:srgbClr val="14171A"/>
                </a:solidFill>
                <a:latin typeface="Atkinson Hyperlegible Next" pitchFamily="34" charset="0"/>
                <a:ea typeface="Atkinson Hyperlegible Next" pitchFamily="34" charset="-122"/>
                <a:cs typeface="Atkinson Hyperlegible Next" pitchFamily="34" charset="-120"/>
              </a:rPr>
              <a:t>Dostępne dla wszystkich, oparte na otwartych danych</a:t>
            </a:r>
            <a:endParaRPr lang="en-US" sz="3200" dirty="0"/>
          </a:p>
          <a:p>
            <a:pPr marL="0" indent="0">
              <a:spcBef>
                <a:spcPts val="600"/>
              </a:spcBef>
              <a:buNone/>
            </a:pPr>
            <a:r>
              <a:rPr lang="en-US" sz="1600" dirty="0">
                <a:solidFill>
                  <a:srgbClr val="454D57"/>
                </a:solidFill>
                <a:latin typeface="Atkinson Hyperlegible Next" pitchFamily="34" charset="0"/>
                <a:ea typeface="Atkinson Hyperlegible Next" pitchFamily="34" charset="-122"/>
                <a:cs typeface="Atkinson Hyperlegible Next" pitchFamily="34" charset="-120"/>
              </a:rPr>
              <a:t>Dostępność ponad wymogi prawa; każdy fakt ma link do otwartego źródła</a:t>
            </a:r>
            <a:endParaRPr lang="en-US" sz="3200" dirty="0"/>
          </a:p>
        </p:txBody>
      </p:sp>
      <p:sp>
        <p:nvSpPr>
          <p:cNvPr id="3" name="Shape 1"/>
          <p:cNvSpPr/>
          <p:nvPr/>
        </p:nvSpPr>
        <p:spPr>
          <a:xfrm>
            <a:off x="640080" y="1691640"/>
            <a:ext cx="4754880" cy="2971800"/>
          </a:xfrm>
          <a:prstGeom prst="rect">
            <a:avLst/>
          </a:prstGeom>
          <a:solidFill>
            <a:srgbClr val="FFFFFF"/>
          </a:solidFill>
          <a:ln w="9525">
            <a:solidFill>
              <a:srgbClr val="C3CAD3"/>
            </a:solidFill>
            <a:prstDash val="solid"/>
          </a:ln>
          <a:effectLst>
            <a:outerShdw blurRad="101600" dist="25400" dir="5400000" algn="bl" rotWithShape="0">
              <a:srgbClr val="000000">
                <a:alpha val="12000"/>
              </a:srgbClr>
            </a:outerShdw>
          </a:effectLst>
        </p:spPr>
      </p:sp>
      <p:pic>
        <p:nvPicPr>
          <p:cNvPr id="4" name="Image 0" descr="C:\Users\bobro\OneDrive\Developer\HackYeah2026\.local\presentation\source\img\contrast.png"/>
          <p:cNvPicPr>
            <a:picLocks noChangeAspect="1"/>
          </p:cNvPicPr>
          <p:nvPr/>
        </p:nvPicPr>
        <p:blipFill>
          <a:blip r:embed="rId3"/>
          <a:stretch>
            <a:fillRect/>
          </a:stretch>
        </p:blipFill>
        <p:spPr>
          <a:xfrm>
            <a:off x="640080" y="1691640"/>
            <a:ext cx="4754880" cy="2971800"/>
          </a:xfrm>
          <a:prstGeom prst="rect">
            <a:avLst/>
          </a:prstGeom>
        </p:spPr>
      </p:pic>
      <p:sp>
        <p:nvSpPr>
          <p:cNvPr id="5" name="Shape 2"/>
          <p:cNvSpPr/>
          <p:nvPr/>
        </p:nvSpPr>
        <p:spPr>
          <a:xfrm>
            <a:off x="640080" y="1691640"/>
            <a:ext cx="4754880" cy="2971800"/>
          </a:xfrm>
          <a:prstGeom prst="rect">
            <a:avLst/>
          </a:prstGeom>
          <a:solidFill>
            <a:srgbClr val="FFFFFF">
              <a:alpha val="0"/>
            </a:srgbClr>
          </a:solidFill>
          <a:ln w="9525">
            <a:solidFill>
              <a:srgbClr val="C3CAD3"/>
            </a:solidFill>
            <a:prstDash val="solid"/>
          </a:ln>
        </p:spPr>
      </p:sp>
      <p:sp>
        <p:nvSpPr>
          <p:cNvPr id="6" name="Text 3"/>
          <p:cNvSpPr txBox="1"/>
          <p:nvPr/>
        </p:nvSpPr>
        <p:spPr>
          <a:xfrm>
            <a:off x="640080" y="4754880"/>
            <a:ext cx="5349240" cy="274320"/>
          </a:xfrm>
          <a:prstGeom prst="rect">
            <a:avLst/>
          </a:prstGeom>
          <a:noFill/>
          <a:ln/>
        </p:spPr>
        <p:txBody>
          <a:bodyPr wrap="square" lIns="0" tIns="0" rIns="0" bIns="0" rtlCol="0" anchor="t"/>
          <a:lstStyle/>
          <a:p>
            <a:pPr marL="0" indent="0" algn="l">
              <a:buNone/>
            </a:pPr>
            <a:r>
              <a:rPr lang="en-US" sz="1100" i="1" dirty="0">
                <a:solidFill>
                  <a:srgbClr val="454D57"/>
                </a:solidFill>
                <a:latin typeface="Atkinson Hyperlegible Next" pitchFamily="34" charset="0"/>
                <a:ea typeface="Atkinson Hyperlegible Next" pitchFamily="34" charset="-122"/>
                <a:cs typeface="Atkinson Hyperlegible Next" pitchFamily="34" charset="-120"/>
              </a:rPr>
              <a:t>Wersja kontrastowa, jeden z trzech trybów wyświetlania</a:t>
            </a:r>
            <a:endParaRPr lang="en-US" sz="1100" dirty="0"/>
          </a:p>
        </p:txBody>
      </p:sp>
      <p:sp>
        <p:nvSpPr>
          <p:cNvPr id="7" name="Text 4"/>
          <p:cNvSpPr txBox="1"/>
          <p:nvPr/>
        </p:nvSpPr>
        <p:spPr>
          <a:xfrm>
            <a:off x="640080" y="5120640"/>
            <a:ext cx="2583180" cy="109728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Krój pisma dla osób słabowidzących</a:t>
            </a:r>
            <a:endParaRPr lang="en-US" sz="1200" dirty="0"/>
          </a:p>
          <a:p>
            <a:pPr marL="177800" indent="-177800">
              <a:spcAft>
                <a:spcPts val="4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Kontrast tekstu 7:1</a:t>
            </a:r>
            <a:endParaRPr lang="en-US" sz="1200" dirty="0"/>
          </a:p>
          <a:p>
            <a:pPr marL="177800" indent="-177800">
              <a:spcAft>
                <a:spcPts val="4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WCAG 2.2 AA i trzy kryteria AAA</a:t>
            </a:r>
            <a:endParaRPr lang="en-US" sz="1200" dirty="0"/>
          </a:p>
        </p:txBody>
      </p:sp>
      <p:sp>
        <p:nvSpPr>
          <p:cNvPr id="8" name="Text 5"/>
          <p:cNvSpPr txBox="1"/>
          <p:nvPr/>
        </p:nvSpPr>
        <p:spPr>
          <a:xfrm>
            <a:off x="3406140" y="5120640"/>
            <a:ext cx="2583180" cy="1097280"/>
          </a:xfrm>
          <a:prstGeom prst="rect">
            <a:avLst/>
          </a:prstGeom>
          <a:noFill/>
          <a:ln/>
        </p:spPr>
        <p:txBody>
          <a:bodyPr wrap="square" lIns="0" tIns="0" rIns="0" bIns="0" rtlCol="0" anchor="t"/>
          <a:lstStyle/>
          <a:p>
            <a:pPr marL="177800" indent="-177800">
              <a:spcAft>
                <a:spcPts val="4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Większy tekst, trzy tryby, telefon</a:t>
            </a:r>
            <a:endParaRPr lang="en-US" sz="1200" dirty="0"/>
          </a:p>
          <a:p>
            <a:pPr marL="177800" indent="-177800">
              <a:spcAft>
                <a:spcPts val="4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Obsługa klawiaturą i czytnikiem ekranu</a:t>
            </a:r>
            <a:endParaRPr lang="en-US" sz="1200" dirty="0"/>
          </a:p>
          <a:p>
            <a:pPr marL="177800" indent="-177800">
              <a:spcAft>
                <a:spcPts val="400"/>
              </a:spcAft>
              <a:buSzPct val="100000"/>
              <a:buChar char="•"/>
            </a:pPr>
            <a:r>
              <a:rPr lang="en-US" sz="1200" dirty="0">
                <a:solidFill>
                  <a:srgbClr val="14171A"/>
                </a:solidFill>
                <a:latin typeface="Atkinson Hyperlegible Next" pitchFamily="34" charset="0"/>
                <a:ea typeface="Atkinson Hyperlegible Next" pitchFamily="34" charset="-122"/>
                <a:cs typeface="Atkinson Hyperlegible Next" pitchFamily="34" charset="-120"/>
              </a:rPr>
              <a:t>Automatyczne testy axe każdego ekranu</a:t>
            </a:r>
            <a:endParaRPr lang="en-US" sz="1200" dirty="0"/>
          </a:p>
        </p:txBody>
      </p:sp>
      <p:sp>
        <p:nvSpPr>
          <p:cNvPr id="9" name="Text 6"/>
          <p:cNvSpPr txBox="1"/>
          <p:nvPr/>
        </p:nvSpPr>
        <p:spPr>
          <a:xfrm>
            <a:off x="6492240" y="1691640"/>
            <a:ext cx="5059375" cy="320040"/>
          </a:xfrm>
          <a:prstGeom prst="rect">
            <a:avLst/>
          </a:prstGeom>
          <a:noFill/>
          <a:ln/>
        </p:spPr>
        <p:txBody>
          <a:bodyPr wrap="square" lIns="0" tIns="0" rIns="0" bIns="0" rtlCol="0" anchor="ctr"/>
          <a:lstStyle/>
          <a:p>
            <a:pPr marL="0" indent="0">
              <a:buNone/>
            </a:pPr>
            <a:r>
              <a:rPr lang="en-US" sz="1600" b="1" dirty="0">
                <a:solidFill>
                  <a:srgbClr val="1A4B8C"/>
                </a:solidFill>
                <a:latin typeface="Atkinson Hyperlegible Next" pitchFamily="34" charset="0"/>
                <a:ea typeface="Atkinson Hyperlegible Next" pitchFamily="34" charset="-122"/>
                <a:cs typeface="Atkinson Hyperlegible Next" pitchFamily="34" charset="-120"/>
              </a:rPr>
              <a:t>Dane, modele i podziękowania</a:t>
            </a:r>
            <a:endParaRPr lang="en-US" sz="1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6492240" y="2103120"/>
          <a:ext cx="5059375" cy="914400"/>
        </p:xfrm>
        <a:graphic>
          <a:graphicData uri="http://schemas.openxmlformats.org/drawingml/2006/table">
            <a:tbl>
              <a:tblPr/>
              <a:tblGrid>
                <a:gridCol w="1371600">
                  <a:extLst>
                    <a:ext uri="{9D8B030D-6E8A-4147-A177-3AD203B41FA5}">
                      <a16:colId xmlns:a16="http://schemas.microsoft.com/office/drawing/2014/main" val="20000"/>
                    </a:ext>
                  </a:extLst>
                </a:gridCol>
                <a:gridCol w="3687775">
                  <a:extLst>
                    <a:ext uri="{9D8B030D-6E8A-4147-A177-3AD203B41FA5}">
                      <a16:colId xmlns:a16="http://schemas.microsoft.com/office/drawing/2014/main" val="20001"/>
                    </a:ext>
                  </a:extLst>
                </a:gridCol>
              </a:tblGrid>
              <a:tr h="0">
                <a:tc>
                  <a:txBody>
                    <a:bodyPr/>
                    <a:lstStyle/>
                    <a:p>
                      <a:pPr marL="0" indent="0">
                        <a:buNone/>
                      </a:pPr>
                      <a:r>
                        <a:rPr lang="en-US" sz="1100" b="1" dirty="0">
                          <a:solidFill>
                            <a:srgbClr val="1A4B8C"/>
                          </a:solidFill>
                          <a:latin typeface="Atkinson Hyperlegible Next" pitchFamily="34" charset="0"/>
                          <a:ea typeface="Atkinson Hyperlegible Next" pitchFamily="34" charset="-122"/>
                          <a:cs typeface="Atkinson Hyperlegible Next" pitchFamily="34" charset="-120"/>
                        </a:rPr>
                        <a:t>Innowacje</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300 z ogólnopolskiej bazy innowacjespoleczne.pl (Fundacja Stocznia) i 115 z biblioteki ROPS; po scaleniu 34 duplikatów: 381 rekordów. CC BY 4.0 lub warunki MIIS, z uznaniem autorstwa przy każdym opisie</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extLst>
                  <a:ext uri="{0D108BD9-81ED-4DB2-BD59-A6C34878D82A}">
                    <a16:rowId xmlns:a16="http://schemas.microsoft.com/office/drawing/2014/main" val="10000"/>
                  </a:ext>
                </a:extLst>
              </a:tr>
              <a:tr h="0">
                <a:tc>
                  <a:txBody>
                    <a:bodyPr/>
                    <a:lstStyle/>
                    <a:p>
                      <a:pPr marL="0" indent="0">
                        <a:buNone/>
                      </a:pPr>
                      <a:r>
                        <a:rPr lang="en-US" sz="1100" b="1" dirty="0">
                          <a:solidFill>
                            <a:srgbClr val="1A4B8C"/>
                          </a:solidFill>
                          <a:latin typeface="Atkinson Hyperlegible Next" pitchFamily="34" charset="0"/>
                          <a:ea typeface="Atkinson Hyperlegible Next" pitchFamily="34" charset="-122"/>
                          <a:cs typeface="Atkinson Hyperlegible Next" pitchFamily="34" charset="-120"/>
                        </a:rPr>
                        <a:t>Miejsca</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GUS: rejestr TERC, wskaźniki Banku Danych Lokalnych 2024, granice PRG</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extLst>
                  <a:ext uri="{0D108BD9-81ED-4DB2-BD59-A6C34878D82A}">
                    <a16:rowId xmlns:a16="http://schemas.microsoft.com/office/drawing/2014/main" val="10001"/>
                  </a:ext>
                </a:extLst>
              </a:tr>
              <a:tr h="0">
                <a:tc>
                  <a:txBody>
                    <a:bodyPr/>
                    <a:lstStyle/>
                    <a:p>
                      <a:pPr marL="0" indent="0">
                        <a:buNone/>
                      </a:pPr>
                      <a:r>
                        <a:rPr lang="en-US" sz="1100" b="1" dirty="0">
                          <a:solidFill>
                            <a:srgbClr val="1A4B8C"/>
                          </a:solidFill>
                          <a:latin typeface="Atkinson Hyperlegible Next" pitchFamily="34" charset="0"/>
                          <a:ea typeface="Atkinson Hyperlegible Next" pitchFamily="34" charset="-122"/>
                          <a:cs typeface="Atkinson Hyperlegible Next" pitchFamily="34" charset="-120"/>
                        </a:rPr>
                        <a:t>Modele</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Bielik 11B v3.0 (SpeakLeash) przez router Hugging Face; Claude (Anthropic) jako model zapasowy; wyszukiwanie: PolDense-400M (OPI PIB)</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extLst>
                  <a:ext uri="{0D108BD9-81ED-4DB2-BD59-A6C34878D82A}">
                    <a16:rowId xmlns:a16="http://schemas.microsoft.com/office/drawing/2014/main" val="10002"/>
                  </a:ext>
                </a:extLst>
              </a:tr>
              <a:tr h="0">
                <a:tc>
                  <a:txBody>
                    <a:bodyPr/>
                    <a:lstStyle/>
                    <a:p>
                      <a:pPr marL="0" indent="0">
                        <a:buNone/>
                      </a:pPr>
                      <a:r>
                        <a:rPr lang="en-US" sz="1100" b="1" dirty="0">
                          <a:solidFill>
                            <a:srgbClr val="1A4B8C"/>
                          </a:solidFill>
                          <a:latin typeface="Atkinson Hyperlegible Next" pitchFamily="34" charset="0"/>
                          <a:ea typeface="Atkinson Hyperlegible Next" pitchFamily="34" charset="-122"/>
                          <a:cs typeface="Atkinson Hyperlegible Next" pitchFamily="34" charset="-120"/>
                        </a:rPr>
                        <a:t>Oprogramowanie</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Next.js, TypeScript, Tailwind CSS, MapLibre GL JS, wzorce formularzy z GOV.UK Design System; przetwarzanie danych w Pythonie</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extLst>
                  <a:ext uri="{0D108BD9-81ED-4DB2-BD59-A6C34878D82A}">
                    <a16:rowId xmlns:a16="http://schemas.microsoft.com/office/drawing/2014/main" val="10003"/>
                  </a:ext>
                </a:extLst>
              </a:tr>
              <a:tr h="0">
                <a:tc>
                  <a:txBody>
                    <a:bodyPr/>
                    <a:lstStyle/>
                    <a:p>
                      <a:pPr marL="0" indent="0">
                        <a:buNone/>
                      </a:pPr>
                      <a:r>
                        <a:rPr lang="en-US" sz="1100" b="1" dirty="0">
                          <a:solidFill>
                            <a:srgbClr val="1A4B8C"/>
                          </a:solidFill>
                          <a:latin typeface="Atkinson Hyperlegible Next" pitchFamily="34" charset="0"/>
                          <a:ea typeface="Atkinson Hyperlegible Next" pitchFamily="34" charset="-122"/>
                          <a:cs typeface="Atkinson Hyperlegible Next" pitchFamily="34" charset="-120"/>
                        </a:rPr>
                        <a:t>Agenci AI</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tc>
                  <a:txBody>
                    <a:bodyPr/>
                    <a:lstStyle/>
                    <a:p>
                      <a:pPr marL="0" indent="0">
                        <a:buNone/>
                      </a:pPr>
                      <a:r>
                        <a:rPr lang="en-US" sz="1100" dirty="0">
                          <a:solidFill>
                            <a:srgbClr val="14171A"/>
                          </a:solidFill>
                          <a:latin typeface="Atkinson Hyperlegible Next" pitchFamily="34" charset="0"/>
                          <a:ea typeface="Atkinson Hyperlegible Next" pitchFamily="34" charset="-122"/>
                          <a:cs typeface="Atkinson Hyperlegible Next" pitchFamily="34" charset="-120"/>
                        </a:rPr>
                        <a:t>Claude Code (Anthropic) pisał kod, teksty i testy pod kierunkiem zespołu; każda decyzja zespołu jest zapisana w jawnym rejestrze decyzji projektu; zespół sprawdził wszystkie teksty po polsku</a:t>
                      </a:r>
                      <a:endParaRPr lang="en-US" sz="1100" dirty="0">
                        <a:latin typeface="Atkinson Hyperlegible Next" charset="0"/>
                        <a:ea typeface="Atkinson Hyperlegible Next" charset="0"/>
                        <a:cs typeface="Atkinson Hyperlegible Next" charset="0"/>
                      </a:endParaRPr>
                    </a:p>
                  </a:txBody>
                  <a:tcPr marL="76200" marR="76200" marT="50800" marB="50800">
                    <a:lnL w="6350" cap="flat" cmpd="sng" algn="ctr">
                      <a:solidFill>
                        <a:srgbClr val="C3CAD3"/>
                      </a:solidFill>
                      <a:prstDash val="solid"/>
                      <a:round/>
                      <a:headEnd type="none" w="med" len="med"/>
                      <a:tailEnd type="none" w="med" len="med"/>
                    </a:lnL>
                    <a:lnR w="6350" cap="flat" cmpd="sng" algn="ctr">
                      <a:solidFill>
                        <a:srgbClr val="C3CAD3"/>
                      </a:solidFill>
                      <a:prstDash val="solid"/>
                      <a:round/>
                      <a:headEnd type="none" w="med" len="med"/>
                      <a:tailEnd type="none" w="med" len="med"/>
                    </a:lnR>
                    <a:lnT w="6350" cap="flat" cmpd="sng" algn="ctr">
                      <a:solidFill>
                        <a:srgbClr val="C3CAD3"/>
                      </a:solidFill>
                      <a:prstDash val="solid"/>
                      <a:round/>
                      <a:headEnd type="none" w="med" len="med"/>
                      <a:tailEnd type="none" w="med" len="med"/>
                    </a:lnT>
                    <a:lnB w="6350" cap="flat" cmpd="sng" algn="ctr">
                      <a:solidFill>
                        <a:srgbClr val="C3CAD3"/>
                      </a:solidFill>
                      <a:prstDash val="solid"/>
                      <a:round/>
                      <a:headEnd type="none" w="med" len="med"/>
                      <a:tailEnd type="none" w="med" len="med"/>
                    </a:lnB>
                  </a:tcPr>
                </a:tc>
                <a:extLst>
                  <a:ext uri="{0D108BD9-81ED-4DB2-BD59-A6C34878D82A}">
                    <a16:rowId xmlns:a16="http://schemas.microsoft.com/office/drawing/2014/main" val="10004"/>
                  </a:ext>
                </a:extLst>
              </a:tr>
            </a:tbl>
          </a:graphicData>
        </a:graphic>
      </p:graphicFrame>
      <p:sp>
        <p:nvSpPr>
          <p:cNvPr id="11" name="Text 7"/>
          <p:cNvSpPr txBox="1"/>
          <p:nvPr/>
        </p:nvSpPr>
        <p:spPr>
          <a:xfrm>
            <a:off x="6492240" y="5440680"/>
            <a:ext cx="5059375" cy="365760"/>
          </a:xfrm>
          <a:prstGeom prst="rect">
            <a:avLst/>
          </a:prstGeom>
          <a:noFill/>
          <a:ln/>
        </p:spPr>
        <p:txBody>
          <a:bodyPr wrap="square" lIns="0" tIns="0" rIns="0" bIns="0" rtlCol="0" anchor="ctr"/>
          <a:lstStyle/>
          <a:p>
            <a:pPr marL="0" indent="0">
              <a:buNone/>
            </a:pPr>
            <a:r>
              <a:rPr lang="en-US" sz="1200" b="1" dirty="0">
                <a:solidFill>
                  <a:srgbClr val="1A4B8C"/>
                </a:solidFill>
                <a:latin typeface="Atkinson Hyperlegible Next" pitchFamily="34" charset="0"/>
                <a:ea typeface="Atkinson Hyperlegible Next" pitchFamily="34" charset="-122"/>
                <a:cs typeface="Atkinson Hyperlegible Next" pitchFamily="34" charset="-120"/>
              </a:rPr>
              <a:t>Kod  </a:t>
            </a:r>
            <a:r>
              <a:rPr lang="en-US" sz="1200" u="sng" dirty="0">
                <a:solidFill>
                  <a:srgbClr val="14171A"/>
                </a:solidFill>
                <a:latin typeface="Atkinson Hyperlegible Next" pitchFamily="34" charset="0"/>
                <a:ea typeface="Atkinson Hyperlegible Next" pitchFamily="34" charset="-122"/>
                <a:cs typeface="Atkinson Hyperlegible Next" pitchFamily="34" charset="-120"/>
                <a:hlinkClick r:id="rId4">
                  <a:extLst>
                    <a:ext uri="{A12FA001-AC4F-418D-AE19-62706E023703}">
                      <ahyp:hlinkClr xmlns:ahyp="http://schemas.microsoft.com/office/drawing/2018/hyperlinkcolor" val="tx"/>
                    </a:ext>
                  </a:extLst>
                </a:hlinkClick>
              </a:rPr>
              <a:t>github.com/bobrovsky420/hackyeah2026</a:t>
            </a:r>
            <a:r>
              <a:rPr lang="en-US" sz="1200" dirty="0">
                <a:solidFill>
                  <a:srgbClr val="454D57"/>
                </a:solidFill>
                <a:latin typeface="Atkinson Hyperlegible Next" pitchFamily="34" charset="0"/>
                <a:ea typeface="Atkinson Hyperlegible Next" pitchFamily="34" charset="-122"/>
                <a:cs typeface="Atkinson Hyperlegible Next" pitchFamily="34" charset="-120"/>
              </a:rPr>
              <a:t>   licencja Apache 2.0</a:t>
            </a:r>
            <a:endParaRPr lang="en-US" sz="1200" dirty="0"/>
          </a:p>
        </p:txBody>
      </p:sp>
      <p:sp>
        <p:nvSpPr>
          <p:cNvPr id="12" name="Text 8"/>
          <p:cNvSpPr txBox="1"/>
          <p:nvPr/>
        </p:nvSpPr>
        <p:spPr>
          <a:xfrm>
            <a:off x="9722815" y="6473952"/>
            <a:ext cx="1828800" cy="274320"/>
          </a:xfrm>
          <a:prstGeom prst="rect">
            <a:avLst/>
          </a:prstGeom>
          <a:noFill/>
          <a:ln/>
        </p:spPr>
        <p:txBody>
          <a:bodyPr wrap="square" lIns="0" tIns="0" rIns="0" bIns="0" rtlCol="0" anchor="ctr"/>
          <a:lstStyle/>
          <a:p>
            <a:pPr marL="0" indent="0" algn="r">
              <a:buNone/>
            </a:pPr>
            <a:r>
              <a:rPr lang="en-US" sz="1000" dirty="0">
                <a:solidFill>
                  <a:srgbClr val="454D57"/>
                </a:solidFill>
                <a:latin typeface="Atkinson Hyperlegible Next" pitchFamily="34" charset="0"/>
                <a:ea typeface="Atkinson Hyperlegible Next" pitchFamily="34" charset="-122"/>
                <a:cs typeface="Atkinson Hyperlegible Next" pitchFamily="34" charset="-120"/>
              </a:rPr>
              <a:t>9 / 9</a:t>
            </a:r>
            <a:endParaRPr lang="en-US" sz="10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2915</Words>
  <Application>Microsoft Office PowerPoint</Application>
  <PresentationFormat>Widescreen</PresentationFormat>
  <Paragraphs>242</Paragraphs>
  <Slides>9</Slides>
  <Notes>9</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9</vt:i4>
      </vt:variant>
    </vt:vector>
  </HeadingPairs>
  <TitlesOfParts>
    <vt:vector size="13" baseType="lpstr">
      <vt:lpstr>Arial</vt:lpstr>
      <vt:lpstr>Atkinson Hyperlegible Next</vt:lpstr>
      <vt:lpstr>Segoe UI Symbol</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HubMI: od potrzeby do rozwiązania</dc:title>
  <dc:subject>PptxGenJS Presentation</dc:subject>
  <dc:creator>Zespół HubMI, HackYeah 2026</dc:creator>
  <cp:lastModifiedBy>Alexander Bobrovsky</cp:lastModifiedBy>
  <cp:revision>2</cp:revision>
  <dcterms:created xsi:type="dcterms:W3CDTF">2026-10-03T20:12:33Z</dcterms:created>
  <dcterms:modified xsi:type="dcterms:W3CDTF">2026-10-03T20:12:48Z</dcterms:modified>
</cp:coreProperties>
</file>