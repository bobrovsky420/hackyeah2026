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embeddedFontLst>
    <p:embeddedFont>
      <p:font typeface="Atkinson Hyperlegible Next" pitchFamily="2" charset="0"/>
      <p:regular r:id="rId12"/>
      <p:bold r:id="rId13"/>
      <p:italic r:id="rId14"/>
      <p:boldItalic r:id="rId15"/>
    </p:embeddedFont>
    <p:embeddedFont>
      <p:font typeface="Segoe UI Symbol" panose="020B0502040204020203" pitchFamily="34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2268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HubMI.pl to nazwa, którą ROPS w Krakowie nadał cyfrowemu rdzeniowi planowanego Małopolskiego Hubu Innowacji Społecznych. Zadanie partnera jego własnymi słowami: nie kolejny katalog, tylko narzędzie, które łączy problem z rozwiązaniem, wiedzą i ludźmi i pomaga, gdy rozwiązania jeszcze nie ma. Zbudowaliśmy działający pilot: stronę dla osoby z potrzebą i panel dla ROPS. Kolejne slajdy pokazują moduł po module, jak pilot odpowiada na wyzwanie. Telefon pokazuje prawdziwą drogę z pilota.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Moduł pierwszy, obowiązkowy: matchmaking społeczny. To prawdziwa droga z pilota dla naszego problemu testowego P01: samotni seniorzy w wiejskiej gminie Laskowa. Ma cztery bloki. Rozwiązania: sprawdzone innowacje, każda z uzasadnieniem cytowanym z opisu źródłowego i z tym, czego wymaga. Wiedza: podręczniki i modele ROPS. Ludzie: autorzy, opiekun kategorii w ROPS i osoby, które zgłosiły gotowość do pomocy. Ścieżka wdrożenia: programy, które mogą to sfinansować, z kwotami, terminami i krokami. To nie lista wyników wyszukiwania, tylko odpowiedź na pytanie, co zrobić dalej.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Drugi element modułu pierwszego: podobne przypadki. Pod rozwiązaniami droga pokazuje potrzeby z banku potrzeb i fiszki pomysłów bliskie tej potrzebie, ale tylko te, na których publikację zgodził się autor i które zatwierdził ROPS. Uczciwe pytanie: czy to tylko wyszukiwarka albo czatbot nad katalogiem? Nie. Wyszukiwarka daje linki, czatbot z RAG daje akapit i oba odpowiadają na każde pytanie. HubMI składa drogę według reguł z opracowanych danych: kwoty i terminy pochodzą z trzydziestu ścieżek, których model nie widzi; model tylko wybiera i wyjaśnia, a kod sprawdza każdy identyfikator i każdy cytat. I potrafi powiedzieć „nie”: tegoroczna susza wysuszyła studnie w gminie Dobra, nic w katalogach nie pasuje, a narzędzie mówi to wprost i proponuje zapisanie potrzeby w banku potrzeb, z którego powstaje fiszka dla inkubatora. Trafność sprawdzamy na problemach testowych: w siedmiu z siedmiu, dla których istnieje sprawdzone rozwiązanie, oczekiwana innowacja jest wśród trzech proponowanych.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Moduł czwarty, tester innowacji. Przy każdej innowacji jest przycisk „Oceń albo zgłoś się do testów”. Można dać ocenę od jednego do pięciu i powiedzieć, skąd zna się rozwiązanie, napisać opinię, zaproponować ulepszenie i zgłosić się do testów, jako użytkownik albo jako organizacja, która poprowadzi próbę w swojej gminie. Opinia może być anonimowa. Każdy tekst przechodzi przez bramkę bezpieczeństwa, a do autorów innowacji trafia przez ROPS, po decyzji człowieka. Na stronie innowacji widać średnią ocen, liczbę zgłoszeń do testów i propozycji ulepszeń, nigdy treści ani kontaktu.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Moduł piąty, platforma aktywnej komunikacji. Rozmowa z ROPS nie wymaga konta ani e-maila: po wysłaniu pytania autor dostaje prywatny link, a przeglądarka pamięta go w „Moich rozmowach”. Pytanie można zadać przy każdej innowacji, fiszce pomysłu i ogłoszeniu, więc rozmowa od razu wie, czego dotyczy. Odpowiada pracownik ROPS, podpisany nazwiskiem. Gdy potrzebny jest ekspert, ROPS zaprasza mentora: mentor dostaje własny link do tej jednej rozmowy i nie ma dostępu do panelu. Partnerstwa międzysektorowe to tablica ogłoszeń „Szukam partnera” i „Oferuję współpracę” z filtrem sektora; ogłoszenie pojawia się po zatwierdzeniu przez ROPS, a odpowiedzi idą przez ROPS, bez publikowania kontaktów.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Moduł szósty, panel administratora. Pracownik ROPS loguje się nazwiskiem i kodem. Pulpit pokazuje, co czeka w każdej kolejce i co jest nowe od ostatniej wizyty: tak administrator dowiaduje się o nowym pomyśle. Fiszka dostaje status i odpowiedź, którą autor czyta od razu na stronie swojej fiszki, z datą; to ścieżka odpowiedzi, o którą pyta partner. Wiedzę zmienia się w kilka sekund: oznaczenie „Sprawdzone przez ROPS”, poprawiony opis, nowy film albo nowa pozycja wiedzy działają od razu, także na drogach utworzonych wcześniej. Każda decyzja jest zapisana z nazwiskiem osoby, która ją podjęła, a dane można wyeksportować do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Zapowiedź partnera nosi tytuł „Od empatii do technologii”. Dlatego każdy tekst najpierw przechodzi przez bramkę bezpieczeństwa: potrzeba społeczności dostaje drogę; osoba w kryzysie dostaje telefony zaufania i adres lokalnego ośrodka pomocy społecznej, a nie listę innowacji; prośbę, która ma kogoś wykluczyć, odrzucamy uprzejmie, z możliwością odwołania. Potem wyszukiwanie polskim modelem PolDense, a Bielik, polski otwarty model, wybiera i wyjaśnia. Nie wybraliśmy ich po nazwie: przed hackathonem porównaliśmy Bielika z czterema innymi modelami językowymi na polskich przypadkach, a PolDense z pięcioma innymi modelami embeddingów na wszystkich 381 rekordach; wyniki są w repozytorium. Model nie może wymyślić rozwiązania ani kwoty: każdy identyfikator i cytat jest sprawdzany, a kwoty pochodzą z opracowanej tabeli. Wszystko, co dotyczy prawdziwej osoby, czeka na decyzję pracownika ROPS w panelu, a narzędzie niczego nikomu nie wysyła.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Zadanie prosi o koncepcję, nie tylko o oprogramowanie. To, co widzieliście, działa dziś: droga dla osoby z potrzebą, a obok fiszka pomysłu, tester innowacji, rozmowy z ROPS z mentorami i tablica partnerstw. Z siedmiu modułów wyzwania cztery działają w całości, trzy częściowo. Każdy wpis trafia do panelu ROPS: człowiek podejmuje decyzję, zapisaną z jego nazwiskiem, a autor pomysłu widzi odpowiedź na stronie swojej fiszki. Planem rozwoju są ludzie wokół narzędzia: trzy role, które mogą pełnić trzy osoby albo jedna – opiekun kategorii, czyli ludzka twarz każdej drogi, redaktor katalogu i koordynator banku potrzeb. Usługa domknie trzy pętle: potrzeba staje się wdrożeniem; potrzeba bez rozwiązania staje się tematem inkubatora, a potem nową innowacją; sprawdzona innowacja trafia tam, gdzie jest potrzebna. Utrzymanie jest tanie: jeden serwer 4 GB dla aplikacji i polskiego modelu embeddingów to 24 dolary miesięcznie na AWS Lightsail; w produkcji PostgreSQL z pgvector na RDS, około 30 dolarów miesięcznie (pilot trzyma wpisy w jednym pliku). Wywołanie Bielika przez Hugging Face to około pięciu tysięcy tokenów po 40 centów za milion, czyli jedna piąta centa; cała droga to cztery wywołania, poniżej jednego centa.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Dla wszystkich: ROPS prowadził inkubator dostępności, więc postawiliśmy sobie poprzeczkę wyżej, niż wymaga prawo: krój pisma dla osób słabowidzących, kontrast 7:1, trzy motywy, pełna obsługa klawiaturą i automatyczny test każdego ekranu. Osoba niewidoma może opisać i zapisać potrzebę z czytnikiem ekranu: każde pole ma etykietę, każdy krok oczekiwania jest ogłaszany, a wymagana zgoda mówi o sobie przed pierwszą próbą. Wszystko, co pokazuje narzędzie, pochodzi z otwartych danych, z linkiem do źródła i licencją; katalogi pozostają źródłami prawdy. Przy budowie pomagali agenci AI do programowania; pomysł i decyzje są nasze, a każda decyzja jest zapisana w rejestrze decyzji projektu, otwartym do wglądu. Dziękujemy.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bobrovsky420/hackyeah20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B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HACKYEAH 2026  ·  ZADANIE HUBMI.PL  ·  ROPS KRAKÓW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HubMI: od potrzeby</a:t>
            </a:r>
            <a:endParaRPr lang="en-US" sz="5400" dirty="0"/>
          </a:p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do rozwiązania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Droga, nie katalog.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3840480"/>
            <a:ext cx="54864" cy="1371600"/>
          </a:xfrm>
          <a:prstGeom prst="rect">
            <a:avLst/>
          </a:prstGeom>
          <a:solidFill>
            <a:srgbClr val="9DC3F7"/>
          </a:solidFill>
          <a:ln w="12700">
            <a:solidFill>
              <a:srgbClr val="9DC3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794760"/>
            <a:ext cx="6720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DCE6F2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„Nie chcemy kolejnego portalu, katalogu ani wyszukiwarki. Chcemy narzędzia, które potrafi połączyć problem z istniejącym rozwiązaniem, wskazać właściwą wiedzę i ludzi, a gdy rozwiązania jeszcze nie ma, pomóc znaleźć drogę do jego stworzenia.”</a:t>
            </a:r>
            <a:endParaRPr lang="en-US" sz="150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en-US" sz="1100" b="1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ROPS w Krakowie, zadanie HubMI.pl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4406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kern="0" spc="200" dirty="0">
                <a:solidFill>
                  <a:srgbClr val="9DC3F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ZESPÓŁ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Alexander Bobrovský  ·  Anton Myshelov  ·  Dmytro Chernikov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Dmytro Ushakov  ·  Krzysztof Zając</a:t>
            </a:r>
            <a:endParaRPr lang="en-US" sz="1400" dirty="0"/>
          </a:p>
        </p:txBody>
      </p:sp>
      <p:pic>
        <p:nvPicPr>
          <p:cNvPr id="8" name="Image 0" descr="C:\Users\bobro\OneDrive\Developer\HackYeah2026\.local\presentation\source\img\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034" y="369444"/>
            <a:ext cx="3167898" cy="61191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9184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91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563624" y="329184"/>
            <a:ext cx="99879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MODUŁ I  ·  MATCHMAKING SPOŁECZNY, MODUŁ OBOWIĄZKOWY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76656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Opisz potrzebę, dostań drogę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Wymaganie: system „proponuje gotowe rozwiązania/innowacje społeczne”.</a:t>
            </a: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Prawdziwa droga z pilota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POTRZEBA  ·  PROBLEM TESTOWY P01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3017520" cy="3429000"/>
          </a:xfrm>
          <a:prstGeom prst="roundRect">
            <a:avLst>
              <a:gd name="adj" fmla="val 363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194560"/>
            <a:ext cx="261518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i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„Coraz więcej samotnych seniorów w naszej gminie. Nie ma domu dziennego pobytu ani klubu seniora, a sąsiedzi zgłaszają, że starsze osoby nie wychodzą z domu i nie mają z kim porozmawiać. Gmina ma świetlicę wiejską wolną trzy dni w tygodniu.”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4846320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Miejsce  </a:t>
            </a: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gmina Laskowa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Kto  </a:t>
            </a: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pracownik instytucji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971800" y="5733288"/>
            <a:ext cx="685800" cy="384048"/>
          </a:xfrm>
          <a:prstGeom prst="rightArrow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560527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Każdy cytat sprawdzamy z opisem w katalogu. Tekst wygenerowany jest oznaczony.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77640" y="1691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77640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361688" y="1691640"/>
            <a:ext cx="328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Rozwiązania  </a:t>
            </a: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dlaczego pasują, czego wymagają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77640" y="2075688"/>
            <a:ext cx="3672688" cy="190492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6" name="Image 0" descr="C:\Users\bobro\OneDrive\Developer\HackYeah2026\.local\presentation\source\img\b-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2075688"/>
            <a:ext cx="3672688" cy="190492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3977640" y="2075688"/>
            <a:ext cx="3672688" cy="19049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878928" y="1691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78928" y="1691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262976" y="1691640"/>
            <a:ext cx="328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Wiedza  </a:t>
            </a: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podręczniki i modele na start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878928" y="2075688"/>
            <a:ext cx="3672688" cy="190492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2" name="Image 1" descr="C:\Users\bobro\OneDrive\Developer\HackYeah2026\.local\presentation\source\img\b-knowle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8928" y="2075688"/>
            <a:ext cx="3672688" cy="1904921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878928" y="2075688"/>
            <a:ext cx="3672688" cy="19049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977640" y="4163489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977640" y="416348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4361688" y="4163489"/>
            <a:ext cx="328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Ludzie  </a:t>
            </a: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autorzy, opiekun w ROPS, chętni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3977640" y="4547537"/>
            <a:ext cx="3672688" cy="190492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8" name="Image 2" descr="C:\Users\bobro\OneDrive\Developer\HackYeah2026\.local\presentation\source\img\b-peo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40" y="4547537"/>
            <a:ext cx="3672688" cy="190492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3977640" y="4547537"/>
            <a:ext cx="3672688" cy="19049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878928" y="4163489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7878928" y="416348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8262976" y="4163489"/>
            <a:ext cx="328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Ścieżka wdrożenia  </a:t>
            </a: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pieniądze i kroki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7878928" y="4547537"/>
            <a:ext cx="3672688" cy="190492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4" name="Image 3" descr="C:\Users\bobro\OneDrive\Developer\HackYeah2026\.local\presentation\source\img\b-pat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8928" y="4547537"/>
            <a:ext cx="3672688" cy="1904921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7878928" y="4547537"/>
            <a:ext cx="3672688" cy="19049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9184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91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563624" y="329184"/>
            <a:ext cx="99879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MODUŁ I  ·  MATCHMAKING SPOŁECZNY, MODUŁ OBOWIĄZKOWY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76656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Podobne przypadki i uczciwe „nie”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Wymaganie: system „wyszukuje podobne przypadki”.</a:t>
            </a: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Nie wyszukiwarka i nie czatbot nad dokumentami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98932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Wyszukiwarka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Czatbot z RAG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HubMI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4B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Co dostajesz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Listę linków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Płynny akapit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Drogę: rozwiązania, wiedzę, ludzi, finansowanie i kolejne kroki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Gdy nic nie pasuje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Nadal listę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Nadal odpowiedź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Mówi to wprost: poniżej 45 na 100 nie ma drogi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Kwoty i terminy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To, co piszą strony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Pisze je model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Z 30 ścieżek ze źródłami; model nie widzi kwot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Rola modelu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Układa strony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D57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Pisze odpowiedź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Wybiera i wyjaśnia; kod sprawdza każdy identyfikator i cytat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572000"/>
            <a:ext cx="5989320" cy="1783080"/>
          </a:xfrm>
          <a:prstGeom prst="roundRect">
            <a:avLst>
              <a:gd name="adj" fmla="val 512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4709160"/>
            <a:ext cx="5532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TRAFNOŚĆ DOPASOWANIA  ·  PROBLEMY TESTOWE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029200"/>
            <a:ext cx="2628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7 z 7</a:t>
            </a:r>
            <a:endParaRPr lang="en-US" sz="30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problemów, dla których istnieje sprawdzone rozwiązanie: oczekiwana innowacja jest wśród trzech proponowanych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771900" y="5029200"/>
            <a:ext cx="2628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9 z 10</a:t>
            </a:r>
            <a:endParaRPr lang="en-US" sz="300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1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problemów: narzędzie trafnie rozpoznaje, czy jest droga, droga częściowa, czy nic nie pasuje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7599776" y="1691640"/>
            <a:ext cx="3392943" cy="1615889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2" name="Image 0" descr="C:\Users\bobro\OneDrive\Developer\HackYeah2026\.local\presentation\source\img\similar-c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9776" y="1691640"/>
            <a:ext cx="3392943" cy="1615889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599776" y="1691640"/>
            <a:ext cx="3392943" cy="1615889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599776" y="3380681"/>
            <a:ext cx="3392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Podobne przypadki: potrzeby i pomysły innych, po zgodzie autora i decyzji ROPS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599776" y="4112201"/>
            <a:ext cx="3392943" cy="1712527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6" name="Image 1" descr="C:\Users\bobro\OneDrive\Developer\HackYeah2026\.local\presentation\source\img\no-match-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9776" y="4112201"/>
            <a:ext cx="3392943" cy="1712527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7599776" y="4112201"/>
            <a:ext cx="3392943" cy="1712527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599776" y="5897880"/>
            <a:ext cx="3392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Studnie w gminie Dobra: nic nie pasuje, więc droga mówi to wprost i proponuje bank potrzeb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9184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91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563624" y="329184"/>
            <a:ext cx="99879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MODUŁ IV  ·  TESTER INNOWACJI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76656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Każdą innowację można ocenić i przetestować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Przy każdej innowacji; opinie trafiają do jej autorów przez ROPS, po decyzji człowieka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WYMAGANIE PARTNERA  ·  JAK JE SPEŁNIAMY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7400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„zgłoszenie chęci udziału w testach”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Jako użytkownik albo jako organizacja, która poprowadzi próbę w swojej gminie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145536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1455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27248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„ocenę istniejących rozwiązań”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Od 1 do 5, z informacją, skąd autor zna rozwiązanie: używa go, wdraża albo zna z opisu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215384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215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197096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„przekazywanie informacji zwrotnej”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Opinia może być anonimowa; przechodzi przez bramkę bezpieczeństwa, a ROPS przekazuje ją autorom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285232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5285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66944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„proponowanie usprawnień”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Propozycje ulepszeń, oceny i zgłoszenia do testów liczone na stronie innowacji, bez treści i kontaktów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27391" y="1691640"/>
            <a:ext cx="5348993" cy="182596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0" name="Image 0" descr="C:\Users\bobro\OneDrive\Developer\HackYeah2026\.local\presentation\source\img\tester-signup-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7391" y="1691640"/>
            <a:ext cx="5348993" cy="182596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6027391" y="1691640"/>
            <a:ext cx="5348993" cy="182596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27391" y="3590753"/>
            <a:ext cx="53489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Zgłoszenie do testów w formularzu testera: jako osoba albo jako organizacja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27391" y="4139393"/>
            <a:ext cx="5348993" cy="1868215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4" name="Image 1" descr="C:\Users\bobro\OneDrive\Developer\HackYeah2026\.local\presentation\source\img\tester-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7391" y="4139393"/>
            <a:ext cx="5348993" cy="1868215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6027391" y="4139393"/>
            <a:ext cx="5348993" cy="186821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027391" y="6080760"/>
            <a:ext cx="53489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„Opinie i testy” na stronie innowacji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9184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91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563624" y="329184"/>
            <a:ext cx="99879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MODUŁ V  ·  PLATFORMA AKTYWNEJ KOMUNIKACJI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76656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Rozmowa z ROPS bez konta, z mentorem i partnerami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Prywatny link zamiast logowania: pyta mieszkaniec, organizacja albo gmina, odpowiada człowiek z ROPS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WYMAGANIE PARTNERA  ·  JAK JE SPEŁNIAMY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7400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„bezpośredni dialog między ROPS Kraków a użytkownikami”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Rozmowa pod prywatnym linkiem, bez konta i bez e-maila; odpowiedź podpisana nazwiskiem pracownika ROPS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145536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1455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27248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„szybkie zadawanie pytań”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„Zapytaj eksperta” przy każdej innowacji, fiszce pomysłu i ogłoszeniu; rozmowa wie, czego dotyczy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215384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215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197096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„otrzymywanie wsparcia od mentorów”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ROPS zaprasza mentora do rozmowy; mentor pisze własnym linkiem, bez dostępu do panelu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285232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5285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66944"/>
            <a:ext cx="43434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„budowanie międzysektorowych partnerstw”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Tablica „Szukam partnera” i „Oferuję współpracę” z filtrem sektora; ROPS zatwierdza ogłoszenia i przekazuje odpowiedzi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852160" y="1691640"/>
            <a:ext cx="2530518" cy="2581686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0" name="Image 0" descr="C:\Users\bobro\OneDrive\Developer\HackYeah2026\.local\presentation\source\img\talk-thread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691640"/>
            <a:ext cx="2530518" cy="258168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852160" y="1691640"/>
            <a:ext cx="2530518" cy="258168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852160" y="4346478"/>
            <a:ext cx="2530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Rozmowa: autor, ROPS i mentor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656998" y="1691640"/>
            <a:ext cx="2894618" cy="2581686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4" name="Image 1" descr="C:\Users\bobro\OneDrive\Developer\HackYeah2026\.local\presentation\source\img\talk-board-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6998" y="1691640"/>
            <a:ext cx="2894618" cy="258168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8656998" y="1691640"/>
            <a:ext cx="2894618" cy="2581686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656998" y="4346478"/>
            <a:ext cx="2894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Tablica partnerstw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9184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329184"/>
            <a:ext cx="78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563624" y="329184"/>
            <a:ext cx="99879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MODUŁ VI  ·  PANEL ADMINISTRATORA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76656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Panel ROPS: człowiek decyduje o każdym wpisie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Wiedza zmieniona w panelu działa od razu; autor pomysłu czyta odpowiedź na stronie swojej fiszki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WYMAGANIE PARTNERA  ·  JAK JE SPEŁNIAMY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57400"/>
            <a:ext cx="4343400" cy="80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„w szybki sposób modyfikowanie”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Poprawiony opis, nowy film, nowa pozycja wiedzy dla grupy docelowej: widać od razu, także na wcześniejszych drogach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931566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93156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13278"/>
            <a:ext cx="4343400" cy="80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„weryfikację”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„Sprawdzone przez ROPS” na stronie innowacji i na drogach; każda decyzja w kolejkach zapisana z nazwiskiem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787445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7874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769157"/>
            <a:ext cx="4343400" cy="80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„udostępnianie wiedzy”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Potrzeby, fiszki, opinie i ogłoszenia stają się publiczne po zgodzie autora i decyzji ROPS; eksport CSV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643323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6433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25035"/>
            <a:ext cx="4343400" cy="80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„powiadamia administratora o nowym pomyśle”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Pulpit pokazuje, co czeka i co nowe od ostatniej wizyty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5499202"/>
            <a:ext cx="310896" cy="310896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5499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80914"/>
            <a:ext cx="4343400" cy="80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„ścieżka odpowiedzi do autora”</a:t>
            </a:r>
            <a:endParaRPr lang="en-US" sz="13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Status i odpowiedź ROPS z datą, od razu na stronie fiszki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573062" y="1691640"/>
            <a:ext cx="4257652" cy="2201911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3" name="Image 0" descr="C:\Users\bobro\OneDrive\Developer\HackYeah2026\.local\presentation\source\img\panel-dashboar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062" y="1691640"/>
            <a:ext cx="4257652" cy="2201911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573062" y="1691640"/>
            <a:ext cx="4257652" cy="220191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73062" y="3966703"/>
            <a:ext cx="4257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Pulpit: co czeka i co nowe od ostatniej wizyty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573062" y="4515343"/>
            <a:ext cx="4257652" cy="1492265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7" name="Image 1" descr="C:\Users\bobro\OneDrive\Developer\HackYeah2026\.local\presentation\source\img\idea-reply-stat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3062" y="4515343"/>
            <a:ext cx="4257652" cy="1492265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>
            <a:off x="6573062" y="4515343"/>
            <a:ext cx="4257652" cy="1492265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573062" y="6080760"/>
            <a:ext cx="4257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Status i odpowiedź ROPS na stronie fiszki pomysłu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Empatia przed technologią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Najpierw bramka bezpieczeństwa. Model wybiera i wyjaśnia; decydują ludzie.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  Bramka bezpieczeństwa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DCE6F2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najpierw reguły, potem model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70597" y="202539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80909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18069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  Wyszukiwanie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PolDense-400M: 40 najbliższych z 381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11425" y="202539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21737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8897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  Ocena i uzasadnienia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Bielik 11B v3.0, polski otwarty model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52254" y="202539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62566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9726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4  Kompozytor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wiedza, ludzie, ścieżki, kolejne kroki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393083" y="2025396"/>
            <a:ext cx="128016" cy="201168"/>
          </a:xfrm>
          <a:prstGeom prst="chevron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3395" y="1691640"/>
            <a:ext cx="1948221" cy="868680"/>
          </a:xfrm>
          <a:prstGeom prst="roundRect">
            <a:avLst>
              <a:gd name="adj" fmla="val 10526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40555" y="1691640"/>
            <a:ext cx="167390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5  Panel ROPS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człowiek rozpatruje każdy wpis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633472"/>
            <a:ext cx="10911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Oba modele wybraliśmy na podstawie pomiarów </a:t>
            </a:r>
            <a:r>
              <a:rPr lang="en-US" sz="1100" b="1" i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przed hackathonem</a:t>
            </a: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: Bielika porównaliśmy z 4 innymi modelami językowymi, PolDense z 5 innymi modelami embeddingów.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2601933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0" descr="C:\Users\bobro\OneDrive\Developer\HackYeah2026\.local\presentation\source\img\cri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17520"/>
            <a:ext cx="2601933" cy="301752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640080" y="3017520"/>
            <a:ext cx="2601933" cy="30175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" y="6126480"/>
            <a:ext cx="3059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Co widzi osoba w kryzysie zamiast drogi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744933" y="3035808"/>
            <a:ext cx="329184" cy="329184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744933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247853" y="3017520"/>
            <a:ext cx="7303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Osoba w kryzysie trafia do człowieka</a:t>
            </a:r>
            <a:endParaRPr lang="en-US" sz="15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Oznaki kryzysu prowadzą do sprawdzonych telefonów zaufania i lokalnego ośrodka pomocy społecznej, nigdy do innowacji, i nic nie jest zapisywane. Prośbę, która ma kogoś wykluczyć lub poniżyć, odrzucamy z uzasadnieniem i możliwością odwołania.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744933" y="4133088"/>
            <a:ext cx="329184" cy="329184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744933" y="4133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4247853" y="4114800"/>
            <a:ext cx="7303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Nic zmyślonego</a:t>
            </a:r>
            <a:endParaRPr lang="en-US" sz="15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Rozwiązania, organizacje i ludzie pochodzą tylko z katalogów; kwoty, terminy i podstawy prawne tylko z opracowanych ścieżek. Każdy identyfikator i cytat jest sprawdzany, a tekst wygenerowany jest oznaczony.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3744933" y="5230368"/>
            <a:ext cx="329184" cy="329184"/>
          </a:xfrm>
          <a:prstGeom prst="ellipse">
            <a:avLst/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44933" y="5230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4247853" y="5212080"/>
            <a:ext cx="7303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Człowiek decyduje</a:t>
            </a:r>
            <a:endParaRPr lang="en-US" sz="15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Narzędzie niczego nikomu nie wysyła: prośby o kontakt, zgłoszenia, fiszki i opinie czekają na decyzję pracownika ROPS w panelu, zapisaną z jego nazwiskiem. Numery PESEL, telefony i adresy usuwamy przed zapisem i przed każdym zapytaniem do modelu. Narzędzie nie decyduje o żadnej osobie.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 dziś. Usługa ROPS – od poniedziałku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Zbudowane</a:t>
            </a: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: droga, moduły wyzwania i panel ROPS.  </a:t>
            </a:r>
            <a:r>
              <a:rPr lang="en-US" sz="16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Plan rozwoju, jeszcze niezbudowany</a:t>
            </a: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: role i pętle usługi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0020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ZBUDOWANE  ·  MODUŁY WYZWANIA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901952"/>
            <a:ext cx="1464738" cy="1188720"/>
          </a:xfrm>
          <a:prstGeom prst="roundRect">
            <a:avLst>
              <a:gd name="adj" fmla="val 615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9933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263570" y="1993392"/>
            <a:ext cx="749808" cy="21945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63570" y="19933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86000"/>
            <a:ext cx="124528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Matchmaking społeczny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droga i podobne przypadki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14546" y="1901952"/>
            <a:ext cx="146473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1A4B8C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2324274" y="19933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38036" y="1993392"/>
            <a:ext cx="749808" cy="219456"/>
          </a:xfrm>
          <a:prstGeom prst="roundRect">
            <a:avLst>
              <a:gd name="adj" fmla="val 50000"/>
            </a:avLst>
          </a:prstGeom>
          <a:solidFill>
            <a:srgbClr val="DCE6F2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38036" y="19933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częściowo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2324274" y="2286000"/>
            <a:ext cx="124528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Zasobnik wiedzy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wiedza na drogach, edycja w panelu, trendy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789012" y="1901952"/>
            <a:ext cx="146473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1A4B8C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3898740" y="19933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III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12503" y="1993392"/>
            <a:ext cx="749808" cy="219456"/>
          </a:xfrm>
          <a:prstGeom prst="roundRect">
            <a:avLst>
              <a:gd name="adj" fmla="val 50000"/>
            </a:avLst>
          </a:prstGeom>
          <a:solidFill>
            <a:srgbClr val="DCE6F2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12503" y="19933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częściowo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898740" y="2286000"/>
            <a:ext cx="124528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Kreator pomysłów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fiszka pomysłu, podobne rozwiązania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363479" y="1901952"/>
            <a:ext cx="1464738" cy="1188720"/>
          </a:xfrm>
          <a:prstGeom prst="roundRect">
            <a:avLst>
              <a:gd name="adj" fmla="val 615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73207" y="19933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86969" y="1993392"/>
            <a:ext cx="749808" cy="21945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86969" y="19933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473207" y="2286000"/>
            <a:ext cx="124528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Tester innowacji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oceny, opinie, ulepszenia, zapisy do testów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937945" y="1901952"/>
            <a:ext cx="1464738" cy="1188720"/>
          </a:xfrm>
          <a:prstGeom prst="roundRect">
            <a:avLst>
              <a:gd name="adj" fmla="val 615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47673" y="19933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V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561435" y="1993392"/>
            <a:ext cx="749808" cy="21945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61435" y="19933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047673" y="2286000"/>
            <a:ext cx="124528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Platforma komunikacji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rozmowy bez konta, mentorzy, partnerstwa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512411" y="1901952"/>
            <a:ext cx="1464738" cy="1188720"/>
          </a:xfrm>
          <a:prstGeom prst="roundRect">
            <a:avLst>
              <a:gd name="adj" fmla="val 6154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22139" y="19933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VI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135901" y="1993392"/>
            <a:ext cx="749808" cy="219456"/>
          </a:xfrm>
          <a:prstGeom prst="roundRect">
            <a:avLst>
              <a:gd name="adj" fmla="val 50000"/>
            </a:avLst>
          </a:prstGeom>
          <a:solidFill>
            <a:srgbClr val="1A4B8C"/>
          </a:solidFill>
          <a:ln w="12700">
            <a:solidFill>
              <a:srgbClr val="1A4B8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35901" y="19933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działa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8622139" y="2286000"/>
            <a:ext cx="124528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Panel administratora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kolejki, decyzje, odpowiedzi, CSV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0086877" y="1901952"/>
            <a:ext cx="146473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1A4B8C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10196605" y="19933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VII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710367" y="1993392"/>
            <a:ext cx="749808" cy="219456"/>
          </a:xfrm>
          <a:prstGeom prst="roundRect">
            <a:avLst>
              <a:gd name="adj" fmla="val 50000"/>
            </a:avLst>
          </a:prstGeom>
          <a:solidFill>
            <a:srgbClr val="DCE6F2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710367" y="199339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częściowo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196605" y="2286000"/>
            <a:ext cx="124528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Middleman Innowacji</a:t>
            </a:r>
            <a:endParaRPr lang="en-US" sz="1150" dirty="0"/>
          </a:p>
          <a:p>
            <a:pPr marL="0" indent="0">
              <a:spcBef>
                <a:spcPts val="200"/>
              </a:spcBef>
              <a:buNone/>
            </a:pPr>
            <a:r>
              <a:rPr lang="en-US" sz="9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ścieżki według roli i gminy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324612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PLAN ROZWOJU  ·  JESZCZE NIEZBUDOWANE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35570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Trzy role w Dziale Innowacji Społecznych ROPS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388620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Opiekun kategorii</a:t>
            </a:r>
            <a:endParaRPr lang="en-US" sz="125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osoba wskazana na każdej drodze; przyjmuje prośby o kontakt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428853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Redaktor katalogu</a:t>
            </a:r>
            <a:endParaRPr lang="en-US" sz="125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aktualizuje opisy, co roku pyta autorów, zapisuje wdrożenia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640080" y="46908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Koordynator banku potrzeb</a:t>
            </a:r>
            <a:endParaRPr lang="en-US" sz="1250" dirty="0"/>
          </a:p>
          <a:p>
            <a:pPr marL="0" indent="0">
              <a:buNone/>
            </a:pPr>
            <a:r>
              <a:rPr lang="en-US" sz="11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co tydzień przegląda potrzeby, łączy je w tematy naborów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5897880" y="3557016"/>
            <a:ext cx="5653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Trzy pętle, które domknie usługa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5897880" y="39044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897880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1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309360" y="3886200"/>
            <a:ext cx="5242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Potrzeba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droga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kontakt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nowe wdrożenie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897880" y="430682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89788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309360" y="4288536"/>
            <a:ext cx="5242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Potrzeba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bank potrzeb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temat naboru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nowa innowacja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5897880" y="470916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A4B8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89788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309360" y="4690872"/>
            <a:ext cx="5242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Innowacja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mapa potrzeb</a:t>
            </a:r>
            <a:r>
              <a:rPr lang="en-US" sz="125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→  </a:t>
            </a:r>
            <a:r>
              <a:rPr lang="en-US" sz="12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granty tam, gdzie jej brakuje</a:t>
            </a:r>
            <a:endParaRPr lang="en-US" sz="1250" dirty="0"/>
          </a:p>
        </p:txBody>
      </p:sp>
      <p:sp>
        <p:nvSpPr>
          <p:cNvPr id="54" name="Shape 52"/>
          <p:cNvSpPr/>
          <p:nvPr/>
        </p:nvSpPr>
        <p:spPr>
          <a:xfrm>
            <a:off x="640080" y="5202936"/>
            <a:ext cx="4846320" cy="1124712"/>
          </a:xfrm>
          <a:prstGeom prst="roundRect">
            <a:avLst>
              <a:gd name="adj" fmla="val 813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22960" y="5202936"/>
            <a:ext cx="44805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Już w panelu ROPS:  </a:t>
            </a: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każdy wpis czeka na decyzję człowieka, zapisaną z jego nazwiskiem; autor pomysłu widzi status i odpowiedź na stronie swojej fiszki; liczniki dróg, próśb i potrzeb oraz trendy potrzeb.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5897880" y="5202936"/>
            <a:ext cx="5653735" cy="1124712"/>
          </a:xfrm>
          <a:prstGeom prst="roundRect">
            <a:avLst>
              <a:gd name="adj" fmla="val 8130"/>
            </a:avLst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080760" y="5294376"/>
            <a:ext cx="5287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Około 55 USD miesięcznie plus 8 USD za 1000 dróg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080760" y="5568696"/>
            <a:ext cx="428213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Serwer  </a:t>
            </a:r>
            <a:r>
              <a:rPr lang="en-US" sz="10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aplikacja + polski model embeddingów, 4 GB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10317175" y="55686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24 USD / mies.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6080760" y="5733288"/>
            <a:ext cx="428213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Baza danych  </a:t>
            </a:r>
            <a:r>
              <a:rPr lang="en-US" sz="10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PostgreSQL + pgvector, RDS 2 GB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10317175" y="57332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30 USD / mies.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6080760" y="5897880"/>
            <a:ext cx="428213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Wywołanie modelu  </a:t>
            </a:r>
            <a:r>
              <a:rPr lang="en-US" sz="10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Bielik 11B na Hugging Face, ~5 tys. tokenów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10317175" y="589788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0,002 USD</a:t>
            </a:r>
            <a:endParaRPr lang="en-US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6080760" y="6062472"/>
            <a:ext cx="428213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Droga  </a:t>
            </a:r>
            <a:r>
              <a:rPr lang="en-US" sz="105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4 wywołania, ~21 tys. tokenów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10317175" y="606247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0,008 USD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8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200" b="1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Dla wszystkich, na otwartych danych</a:t>
            </a:r>
            <a:endParaRPr lang="en-US" sz="32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6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Dostępność powyżej wymogów prawa; każdy fakt prowadzi do swojego otwartego źródła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7548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C3CAD3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" name="Image 0" descr="C:\Users\bobro\OneDrive\Developer\HackYeah2026\.local\presentation\source\img\contr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4754880" cy="2971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91640"/>
            <a:ext cx="4754880" cy="29718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C3CA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75488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Motyw kontrastowy, jeden z trzech motywów wyświetlania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2583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Krój pisma dla osób słabowidzących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Kontrast tekstu 7:1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WCAG 2.2 AA i trzy kryteria AAA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406140" y="5120640"/>
            <a:ext cx="2583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Rozmiar tekstu, trzy motywy, telefon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Klawiatura i czytnik ekranu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Automatyczny test axe każdego ekranu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16916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Dane, modele i podziękowania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2103120"/>
          <a:ext cx="5059375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7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Innowacje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300 z ogólnopolskiej bazy innowacjespoleczne.pl (Fundacja Stocznia) i 115 z biblioteki ROPS; 34 duplikaty połączone w 381 rekordów. CC BY 4.0 lub warunki MIIS, z atrybucją przy każdym opisie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Miejsca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GUS: rejestr TERC, wskaźniki Banku Danych Lokalnych 2024, granice PRG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Modele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Bielik 11B v3.0 (SpeakLeash) przez router Hugging Face; Claude (Anthropic) jako model zapasowy; wyszukiwanie: PolDense-400M (OPI PIB)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Oprogramowanie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Next.js, TypeScript, Tailwind CSS, MapLibre GL JS, wzorce formularzy GOV.UK Design System; potok danych w Pythonie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4B8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Agenci AI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4171A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Claude Code (Anthropic) pisał kod, teksty i testy pod kierunkiem zespołu; każda decyzja ludzi jest zapisana w rejestrze decyzji projektu, otwartym do wglądu; zespół przejrzał każdy polski tekst</a:t>
                      </a:r>
                      <a:endParaRPr lang="en-US" sz="11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CA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92240" y="5440680"/>
            <a:ext cx="5059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4B8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Kod  </a:t>
            </a:r>
            <a:r>
              <a:rPr lang="en-US" sz="1200" u="sng" dirty="0">
                <a:solidFill>
                  <a:srgbClr val="14171A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github.com/bobrovsky420/hackyeah2026</a:t>
            </a:r>
            <a:r>
              <a:rPr lang="en-US" sz="12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 licencja Apache 2.0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72281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54D57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9 / 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2813</Words>
  <Application>Microsoft Office PowerPoint</Application>
  <PresentationFormat>Widescreen</PresentationFormat>
  <Paragraphs>242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Atkinson Hyperlegible Next</vt:lpstr>
      <vt:lpstr>Segoe UI Symbol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HubMI: od potrzeby do rozwiązania</dc:title>
  <dc:subject>PptxGenJS Presentation</dc:subject>
  <dc:creator>Zespół HubMI, HackYeah 2026</dc:creator>
  <cp:lastModifiedBy>Alexander Bobrovsky</cp:lastModifiedBy>
  <cp:revision>2</cp:revision>
  <dcterms:created xsi:type="dcterms:W3CDTF">2026-10-03T18:42:50Z</dcterms:created>
  <dcterms:modified xsi:type="dcterms:W3CDTF">2026-10-03T18:43:04Z</dcterms:modified>
</cp:coreProperties>
</file>