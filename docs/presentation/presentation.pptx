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12192000"/>
  <p:embeddedFontLst>
    <p:embeddedFont>
      <p:font typeface="Atkinson Hyperlegible Next" pitchFamily="2" charset="0"/>
      <p:regular r:id="rId12"/>
      <p:bold r:id="rId13"/>
      <p:italic r:id="rId14"/>
      <p:boldItalic r:id="rId15"/>
    </p:embeddedFont>
    <p:embeddedFont>
      <p:font typeface="Segoe UI Symbol" panose="020B0502040204020203" pitchFamily="34" charset="0"/>
      <p:regular r:id="rId16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5.fntdata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163975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HubMI.pl to nazwa, którą ROPS w Krakowie nadał cyfrowemu sercu planowanego Małopolskiego Hubu Innowacji Społecznych. Partner sam opisał zadanie tak: nie kolejny katalog, tylko narzędzie, które łączy problem z rozwiązaniem, wiedzą i ludźmi, a gdy rozwiązania jeszcze nie ma, pomaga znaleźć drogę do jego stworzenia. Zbudowaliśmy aplikację HubMI.pl: stronę dla osób zgłaszających potrzeby i panel dla ROPS. Kolejne slajdy pokazują moduł po module, jak HubMI realizuje wyzwanie. Na telefonie widać prawdziwą mapę działania z aplikacji.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Moduł pierwszy, obowiązkowy: matchmaking społeczny. To prawdziwa mapa działania z aplikacji dla przypadku testowego P01: samotni seniorzy w wiejskiej gminie Laskowa. Składa się z czterech części. Rozwiązania: sprawdzone innowacje, każda z uzasadnieniem opartym na cytatach ze źródła i z informacją, czego wymaga. Wiedza: instrukcje wdrożenia i modele usług ROPS. Ludzie: eksperci, czyli autorzy innowacji i realizatorzy w pobliżu, opiekun kategorii w ROPS i wolontariusze, którzy zgłosili gotowość do pomocy. Ścieżka wdrożenia: programy, z których można to sfinansować, z kwotami, terminami i kolejnymi krokami. To nie lista wyników wyszukiwania, tylko odpowiedź na pytanie, co zrobić dalej.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Drugi element modułu pierwszego: podobne przypadki. Pod rozwiązaniami widać potrzeby z banku potrzeb i fiszki pomysłów podobne do tej, ale tylko te, na których publikację zgodził się autor i które zaakceptował ROPS. HubMI to więcej niż wyszukiwarka i czatbot: prowadzi od odpowiedzi do działania. Wyszukiwarka daje listę linków, a gdy nic nie pasuje, zwraca luźno powiązane wyniki. Czatbot z RAG odpowiada na podstawie źródeł, ale odpowiada zawsze, nawet gdy nic nie pasuje. HubMI daje dopasowane rozwiązania, wiedzę, kontakty i kroki wdrożenia. Model dobiera rozwiązania i uzasadnia dopasowanie, a system dodatkowo sprawdza każde odwołanie i każdy cytat. Kwoty i terminy pobieramy bezpośrednio z trzydziestu opracowanych ścieżek finansowania, a nie z tekstu modelu. Wyniki są przejrzyste także wtedy, gdy rozwiązania brak: przez tegoroczną suszę w studniach w gminie Dobra zabrakło wody, nic w katalogach nie pasuje, więc narzędzie informuje o braku dopasowania i nie rekomenduje rozwiązań. Proponuje za to wpis do banku potrzeb, a na jego podstawie powstaje fiszka dla inkubatora. Trafność sprawdzamy na przypadkach testowych: we wszystkich siedmiu przypadkach z dostępnym rozwiązaniem właściwa innowacja jest wśród trzech rekomendacji, a w dziewięciu z dziesięciu narzędzie poprawnie rozpoznaje, czy można zaproponować pełne, częściowe lub żadne dopasowanie.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Moduł czwarty, tester innowacji. Przy każdej innowacji jest przycisk „Oceń albo zgłoś się do testów”. Można wystawić ocenę w skali od jednego do pięciu, zaznaczyć, czy korzysta się z rozwiązania, wdraża je czy zna je tylko z opisu, napisać opinię, zaproponować ulepszenie i zgłosić się do testów, jako użytkownik lub organizacja, która pilotażowo wdroży rozwiązanie w swojej gminie. Opinię można wysłać anonimowo. Każdy tekst przechodzi przez filtr bezpieczeństwa, a po zatwierdzeniu przez pracownika ROPS trafia do autorów innowacji. Na stronie innowacji widać średnią ocen, liczbę zgłoszeń do testów i propozycji ulepszeń, ale nigdy treści ani danych kontaktowych.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Moduł piąty, platforma aktywnej komunikacji. Rozmowa z ROPS nie wymaga zakładania konta ani podawania e-maila: po wysłaniu pytania jego autor dostaje prywatny link, a przeglądarka zapisuje go w „Moich rozmowach”. Pytanie można zadać przy każdej innowacji, fiszce pomysłu i ogłoszeniu, więc od razu wiadomo, czego dotyczy. Odpowiada pracownik ROPS, który podpisuje się nazwiskiem. Gdy potrzebny jest ekspert, ROPS zaprasza mentora: mentor dostaje własny link do tej jednej rozmowy i nie ma dostępu do panelu. Partnerstwom międzysektorowym służy tablica ogłoszeń „Szukam partnera” i „Oferuję współpracę” z filtrem według sektora; ogłoszenie pojawia się po zatwierdzeniu przez ROPS, a odpowiedzi przekazuje ROPS, bez publikowania danych kontaktowych.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Moduł szósty, panel administratora. Pracownik ROPS loguje się, podając imię i nazwisko oraz kod dostępu. Pulpit pokazuje, co czeka na decyzję i co pojawiło się od ostatniej wizyty: w ten sposób administrator dowiaduje się o nowym pomyśle. Pracownik nadaje fiszce status i pisze odpowiedź, którą autor od razu widzi na stronie swojej fiszki, z datą; to właśnie ścieżka odpowiedzi, o którą pyta partner. Wiedzę można zmienić w kilka sekund: oznaczenie „Sprawdzone przez ROPS”, poprawiony opis, nowy film albo nowy materiał są widoczne od razu, także we wcześniej utworzonych mapach działania. Każda decyzja jest odnotowana z nazwiskiem osoby, która ją podjęła, a dane można wyeksportować do CSV.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Wystąpienie partnera zapowiadające zadanie nosiło tytuł „Od empatii do technologii”. Dlatego każdy tekst najpierw przechodzi przez filtr bezpieczeństwa: na potrzebę społeczności narzędzie odpowiada mapą działania; osoba w kryzysie dostaje numery telefonów zaufania i adres lokalnego ośrodka pomocy społecznej, a nie listę innowacji; prośbę, która ma kogoś wykluczyć, odrzucamy uprzejmie, z możliwością odwołania. Potem polski model PolDense wyszukuje kandydatów, a Bielik, otwarty polski model, wybiera i wyjaśnia. Nie kierowaliśmy się nazwą: przed hackathonem porównaliśmy Bielika z czterema innymi modelami językowymi na polskich przykładach, a PolDense z pięcioma innymi modelami wyszukiwania na wszystkich 381 opisach innowacji; wyniki są w repozytorium. Model nie może wymyślić rozwiązania ani kwoty: każde odwołanie i cytat jest sprawdzane, a kwoty pochodzą z opracowanej tabeli. Wszystko, co dotyczy konkretnej osoby, czeka na decyzję pracownika ROPS w panelu, a narzędzie niczego nikomu nie wysyła.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Zadanie wymaga koncepcji, a nie tylko oprogramowania. To, co widzieliście, jest już zaimplementowane: mapa działania dla osób zgłaszających potrzeby, a obok fiszka pomysłu z kanwą innowacji, tester innowacji, rozmowy z ROPS i mentorami oraz tablica partnerstw. Z siedmiu modułów wyzwania sześć jest zaimplementowanych w całości, a jeden – częściowo. Zasobnik wiedzy celowo nie jest kolejnym katalogiem, bo partner wyraźnie tego nie chce: wiedza jest częścią mapy działania, z linkami do wszystkich materiałów, dokumentów i filmów. Każdy wpis trafia do panelu ROPS: decyzję podejmuje pracownik, a system odnotowuje ją z jego nazwiskiem; autor pomysłu widzi odpowiedź na stronie swojej fiszki. Plan rozwoju dotyczy ludzi wokół narzędzia: proponujemy trzy role, które mogą pełnić trzy osoby albo jedna – opiekun kategorii, czyli osoba kontaktowa wskazana w każdej mapie działania, redaktor katalogu i koordynator banku potrzeb. Chcemy wspierać trzy procesy: potrzeba staje się wdrożeniem; potrzeba bez rozwiązania staje się tematem naboru do inkubatora, a potem nową innowacją; sprawdzona innowacja trafia tam, gdzie jest potrzebna. Utrzymanie jest tanie: jeden serwer 4 GB dla aplikacji i polskiego modelu wyszukiwania to 24 dolary miesięcznie na AWS Lightsail; w wersji docelowej PostgreSQL z pgvector na RDS, około 30 dolarów miesięcznie (obecna wersja zapisuje wpisy w jednym pliku). Jedno zapytanie do Bielika przez Hugging Face to około pięciu tysięcy tokenów po 40 centów za milion, czyli jedna piąta centa; cała mapa działania to cztery zapytania, łącznie poniżej jednego centa.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Dla wszystkich: ROPS prowadził inkubator dostępności, więc postawiliśmy sobie poprzeczkę wyżej, niż wymaga prawo: krój pisma dla osób słabowidzących, kontrast 7:1, trzy motywy, pełna obsługa klawiaturą i automatyczny test każdego ekranu. Osoba niewidoma może opisać i zapisać potrzebę za pomocą czytnika ekranu: każde pole ma etykietę, czytnik informuje o każdym etapie oczekiwania, a o wymaganej zgodzie informujemy przed pierwszą próbą wysłania. Wszystko, co pokazuje narzędzie, pochodzi z otwartych danych, z linkiem do źródła i informacją o licencji; katalogi pozostają nadrzędnym źródłem danych. Przy budowie pomagali nam agenci AI piszący kod; pomysł i decyzje są nasze, a każdą z nich zapisujemy w jawnym rejestrze decyzji projektu. Dziękujemy.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github.com/bobrovsky420/hackyeah2026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4B8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DC3F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HACKYEAH 2026  ·  ZADANIE HUBMI.PL  ·  ROPS KRAKÓW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34440"/>
            <a:ext cx="7498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HubMI: od potrzeby</a:t>
            </a:r>
            <a:endParaRPr lang="en-US" sz="5400" dirty="0"/>
          </a:p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do rozwiązania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10896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9DC3F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Więcej niż katalog – wsparcie w działaniu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40080" y="3840480"/>
            <a:ext cx="54864" cy="1371600"/>
          </a:xfrm>
          <a:prstGeom prst="rect">
            <a:avLst/>
          </a:prstGeom>
          <a:solidFill>
            <a:srgbClr val="9DC3F7"/>
          </a:solidFill>
          <a:ln w="12700">
            <a:solidFill>
              <a:srgbClr val="9DC3F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3794760"/>
            <a:ext cx="6720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i="1" dirty="0">
                <a:solidFill>
                  <a:srgbClr val="DCE6F2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„Nie chcemy kolejnego portalu, katalogu ani wyszukiwarki. Chcemy narzędzia, które potrafi połączyć problem z istniejącym rozwiązaniem, wskazać właściwą wiedzę i ludzi, a gdy rozwiązania jeszcze nie ma, pomóc znaleźć drogę do jego stworzenia.”</a:t>
            </a:r>
            <a:endParaRPr lang="en-US" sz="1500" dirty="0"/>
          </a:p>
          <a:p>
            <a:pPr marL="0" indent="0">
              <a:lnSpc>
                <a:spcPct val="110000"/>
              </a:lnSpc>
              <a:spcBef>
                <a:spcPts val="600"/>
              </a:spcBef>
              <a:buNone/>
            </a:pPr>
            <a:r>
              <a:rPr lang="en-US" sz="1100" b="1" dirty="0">
                <a:solidFill>
                  <a:srgbClr val="9DC3F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ROPS w Krakowie, zadanie HubMI.pl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5440680"/>
            <a:ext cx="7498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100" b="1" kern="0" spc="200" dirty="0">
                <a:solidFill>
                  <a:srgbClr val="9DC3F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ZESPÓŁ</a:t>
            </a:r>
            <a:endParaRPr lang="en-US" sz="14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Alexander Bobrovský  ·  Anton Myshelov  ·  Dmytro Chernikov</a:t>
            </a:r>
            <a:endParaRPr lang="en-US" sz="14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Dmytro Ushakov  ·  Krzysztof Zając</a:t>
            </a:r>
            <a:endParaRPr lang="en-US" sz="1400" dirty="0"/>
          </a:p>
        </p:txBody>
      </p:sp>
      <p:pic>
        <p:nvPicPr>
          <p:cNvPr id="8" name="Image 0" descr="C:\Users\bobro\OneDrive\Developer\HackYeah2026\.local\presentation\source\img\ph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0034" y="369444"/>
            <a:ext cx="3167898" cy="611911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9184"/>
            <a:ext cx="1298448" cy="237744"/>
          </a:xfrm>
          <a:prstGeom prst="roundRect">
            <a:avLst>
              <a:gd name="adj" fmla="val 50000"/>
            </a:avLst>
          </a:prstGeom>
          <a:solidFill>
            <a:srgbClr val="1A4B8C"/>
          </a:solidFill>
          <a:ln w="12700">
            <a:solidFill>
              <a:srgbClr val="1A4B8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329184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zaimplementowane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2075688" y="329184"/>
            <a:ext cx="94759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MODUŁ I  ·  MATCHMAKING SPOŁECZNY, MODUŁ OBOWIĄZKOWY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76656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Opisz potrzebę, wybierz rozwiązanie</a:t>
            </a:r>
            <a:endParaRPr lang="en-US" sz="3200" dirty="0"/>
          </a:p>
          <a:p>
            <a:pPr marL="0" indent="0">
              <a:spcBef>
                <a:spcPts val="600"/>
              </a:spcBef>
              <a:buNone/>
            </a:pPr>
            <a:r>
              <a:rPr lang="en-US" sz="1600" b="1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Wymaganie: system „proponuje gotowe rozwiązania”.</a:t>
            </a:r>
            <a:r>
              <a:rPr lang="en-US" sz="16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  Proponujemy rozwiązania sprawdzone w praktyce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6916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POTRZEBA  ·  PRZYPADEK TESTOWY P01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40080" y="2057400"/>
            <a:ext cx="3017520" cy="3429000"/>
          </a:xfrm>
          <a:prstGeom prst="roundRect">
            <a:avLst>
              <a:gd name="adj" fmla="val 3636"/>
            </a:avLst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41248" y="2194560"/>
            <a:ext cx="261518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500" i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„Coraz więcej samotnych seniorów w naszej gminie. Nie ma domu dziennego pobytu ani klubu seniora, a sąsiedzi zgłaszają, że starsze osoby nie wychodzą z domu i nie mają z kim porozmawiać. Gmina ma świetlicę wiejską wolną trzy dni w tygodniu.”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841248" y="4846320"/>
            <a:ext cx="26151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3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Miejsce  </a:t>
            </a:r>
            <a:r>
              <a:rPr lang="en-US" sz="130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gmina Laskowa</a:t>
            </a:r>
            <a:endParaRPr lang="en-US" sz="13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3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Zgłasza  </a:t>
            </a:r>
            <a:r>
              <a:rPr lang="en-US" sz="130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pracownik instytucji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971800" y="5733288"/>
            <a:ext cx="685800" cy="384048"/>
          </a:xfrm>
          <a:prstGeom prst="rightArrow">
            <a:avLst/>
          </a:prstGeom>
          <a:solidFill>
            <a:srgbClr val="1A4B8C"/>
          </a:solidFill>
          <a:ln w="12700">
            <a:solidFill>
              <a:srgbClr val="1A4B8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5605272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Opis potrzeby dopasowujemy do rozwiązań z katalogu. Odpowiedzi AI oparte są na materiałach źródłowych.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977640" y="16916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A4B8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977640" y="1691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1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361688" y="1691640"/>
            <a:ext cx="328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Rozwiązania  </a:t>
            </a:r>
            <a:r>
              <a:rPr lang="en-US" sz="11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dlaczego pasują, czego wymagają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977640" y="2075688"/>
            <a:ext cx="3672688" cy="1904921"/>
          </a:xfrm>
          <a:prstGeom prst="rect">
            <a:avLst/>
          </a:prstGeom>
          <a:solidFill>
            <a:srgbClr val="FFFFFF"/>
          </a:solidFill>
          <a:ln w="9525">
            <a:solidFill>
              <a:srgbClr val="C3CAD3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16" name="Image 0" descr="C:\Users\bobro\OneDrive\Developer\HackYeah2026\.local\presentation\source\img\b-sol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7640" y="2075688"/>
            <a:ext cx="3672688" cy="1904921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3977640" y="2075688"/>
            <a:ext cx="3672688" cy="1904921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C3CAD3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878928" y="16916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A4B8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878928" y="1691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2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8262976" y="1691640"/>
            <a:ext cx="328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Wiedza  </a:t>
            </a:r>
            <a:r>
              <a:rPr lang="en-US" sz="11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instrukcje wdrożenia i modele usług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7878928" y="2075688"/>
            <a:ext cx="3672688" cy="1904921"/>
          </a:xfrm>
          <a:prstGeom prst="rect">
            <a:avLst/>
          </a:prstGeom>
          <a:solidFill>
            <a:srgbClr val="FFFFFF"/>
          </a:solidFill>
          <a:ln w="9525">
            <a:solidFill>
              <a:srgbClr val="C3CAD3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22" name="Image 1" descr="C:\Users\bobro\OneDrive\Developer\HackYeah2026\.local\presentation\source\img\b-knowled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8928" y="2075688"/>
            <a:ext cx="3672688" cy="1904921"/>
          </a:xfrm>
          <a:prstGeom prst="rect">
            <a:avLst/>
          </a:prstGeom>
        </p:spPr>
      </p:pic>
      <p:sp>
        <p:nvSpPr>
          <p:cNvPr id="23" name="Shape 19"/>
          <p:cNvSpPr/>
          <p:nvPr/>
        </p:nvSpPr>
        <p:spPr>
          <a:xfrm>
            <a:off x="7878928" y="2075688"/>
            <a:ext cx="3672688" cy="1904921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C3CAD3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3977640" y="4163489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A4B8C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3977640" y="4163489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3</a:t>
            </a:r>
            <a:endParaRPr lang="en-US" sz="1200" dirty="0"/>
          </a:p>
        </p:txBody>
      </p:sp>
      <p:sp>
        <p:nvSpPr>
          <p:cNvPr id="26" name="Text 22"/>
          <p:cNvSpPr txBox="1"/>
          <p:nvPr/>
        </p:nvSpPr>
        <p:spPr>
          <a:xfrm>
            <a:off x="4361688" y="4163489"/>
            <a:ext cx="328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Ludzie  </a:t>
            </a:r>
            <a:r>
              <a:rPr lang="en-US" sz="11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eksperci, opiekunowie, wolontariusze</a:t>
            </a:r>
            <a:endParaRPr lang="en-US" sz="1400" dirty="0"/>
          </a:p>
        </p:txBody>
      </p:sp>
      <p:sp>
        <p:nvSpPr>
          <p:cNvPr id="27" name="Shape 23"/>
          <p:cNvSpPr/>
          <p:nvPr/>
        </p:nvSpPr>
        <p:spPr>
          <a:xfrm>
            <a:off x="3977640" y="4547537"/>
            <a:ext cx="3672688" cy="1904921"/>
          </a:xfrm>
          <a:prstGeom prst="rect">
            <a:avLst/>
          </a:prstGeom>
          <a:solidFill>
            <a:srgbClr val="FFFFFF"/>
          </a:solidFill>
          <a:ln w="9525">
            <a:solidFill>
              <a:srgbClr val="C3CAD3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28" name="Image 2" descr="C:\Users\bobro\OneDrive\Developer\HackYeah2026\.local\presentation\source\img\b-peop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77640" y="4547537"/>
            <a:ext cx="3672688" cy="1904921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3977640" y="4547537"/>
            <a:ext cx="3672688" cy="1904921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C3CAD3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7878928" y="4163489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A4B8C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7878928" y="4163489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4</a:t>
            </a:r>
            <a:endParaRPr lang="en-US" sz="1200" dirty="0"/>
          </a:p>
        </p:txBody>
      </p:sp>
      <p:sp>
        <p:nvSpPr>
          <p:cNvPr id="32" name="Text 27"/>
          <p:cNvSpPr txBox="1"/>
          <p:nvPr/>
        </p:nvSpPr>
        <p:spPr>
          <a:xfrm>
            <a:off x="8262976" y="4163489"/>
            <a:ext cx="328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Ścieżka wdrożenia  </a:t>
            </a:r>
            <a:r>
              <a:rPr lang="en-US" sz="11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finansowanie i kroki</a:t>
            </a:r>
            <a:endParaRPr lang="en-US" sz="1400" dirty="0"/>
          </a:p>
        </p:txBody>
      </p:sp>
      <p:sp>
        <p:nvSpPr>
          <p:cNvPr id="33" name="Shape 28"/>
          <p:cNvSpPr/>
          <p:nvPr/>
        </p:nvSpPr>
        <p:spPr>
          <a:xfrm>
            <a:off x="7878928" y="4547537"/>
            <a:ext cx="3672688" cy="1904921"/>
          </a:xfrm>
          <a:prstGeom prst="rect">
            <a:avLst/>
          </a:prstGeom>
          <a:solidFill>
            <a:srgbClr val="FFFFFF"/>
          </a:solidFill>
          <a:ln w="9525">
            <a:solidFill>
              <a:srgbClr val="C3CAD3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34" name="Image 3" descr="C:\Users\bobro\OneDrive\Developer\HackYeah2026\.local\presentation\source\img\b-pat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78928" y="4547537"/>
            <a:ext cx="3672688" cy="1904921"/>
          </a:xfrm>
          <a:prstGeom prst="rect">
            <a:avLst/>
          </a:prstGeom>
        </p:spPr>
      </p:pic>
      <p:sp>
        <p:nvSpPr>
          <p:cNvPr id="35" name="Shape 29"/>
          <p:cNvSpPr/>
          <p:nvPr/>
        </p:nvSpPr>
        <p:spPr>
          <a:xfrm>
            <a:off x="7878928" y="4547537"/>
            <a:ext cx="3672688" cy="1904921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C3CAD3"/>
            </a:solidFill>
            <a:prstDash val="solid"/>
          </a:ln>
        </p:spPr>
      </p:sp>
      <p:sp>
        <p:nvSpPr>
          <p:cNvPr id="36" name="Text 30"/>
          <p:cNvSpPr txBox="1"/>
          <p:nvPr/>
        </p:nvSpPr>
        <p:spPr>
          <a:xfrm>
            <a:off x="972281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2 / 9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9184"/>
            <a:ext cx="1298448" cy="237744"/>
          </a:xfrm>
          <a:prstGeom prst="roundRect">
            <a:avLst>
              <a:gd name="adj" fmla="val 50000"/>
            </a:avLst>
          </a:prstGeom>
          <a:solidFill>
            <a:srgbClr val="1A4B8C"/>
          </a:solidFill>
          <a:ln w="12700">
            <a:solidFill>
              <a:srgbClr val="1A4B8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329184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zaimplementowane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2075688" y="329184"/>
            <a:ext cx="94759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MODUŁ I  ·  MATCHMAKING SPOŁECZNY, MODUŁ OBOWIĄZKOWY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76656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Podobne przypadki – przejrzyste wyniki</a:t>
            </a:r>
            <a:endParaRPr lang="en-US" sz="3200" dirty="0"/>
          </a:p>
          <a:p>
            <a:pPr marL="0" indent="0">
              <a:spcBef>
                <a:spcPts val="600"/>
              </a:spcBef>
              <a:buNone/>
            </a:pPr>
            <a:r>
              <a:rPr lang="en-US" sz="1600" b="1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Wymaganie: system „wyszukuje podobne przypadki”.</a:t>
            </a:r>
            <a:r>
              <a:rPr lang="en-US" sz="16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  Więcej niż wyszukiwarka i czatbot – od odpowiedzi do działania</a:t>
            </a:r>
            <a:endParaRPr lang="en-US" sz="3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6400800" cy="914400"/>
        </p:xfrm>
        <a:graphic>
          <a:graphicData uri="http://schemas.openxmlformats.org/drawingml/2006/table">
            <a:tbl>
              <a:tblPr/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4171A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Wyszukiwarka</a:t>
                      </a:r>
                      <a:endParaRPr lang="en-US" sz="12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4171A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Czatbot z RAG</a:t>
                      </a:r>
                      <a:endParaRPr lang="en-US" sz="12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HubMI</a:t>
                      </a:r>
                      <a:endParaRPr lang="en-US" sz="12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4B8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4171A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Co dostajesz</a:t>
                      </a:r>
                      <a:endParaRPr lang="en-US" sz="11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54D57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Listę linków</a:t>
                      </a:r>
                      <a:endParaRPr lang="en-US" sz="11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54D57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Odpowiedź na podstawie źródeł</a:t>
                      </a:r>
                      <a:endParaRPr lang="en-US" sz="11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71A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Dopasowane rozwiązania, wiedzę, kontakty i kroki wdrożenia</a:t>
                      </a:r>
                      <a:endParaRPr lang="en-US" sz="11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4171A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Gdy nic nie pasuje</a:t>
                      </a:r>
                      <a:endParaRPr lang="en-US" sz="11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54D57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Zwraca luźno powiązane wyniki</a:t>
                      </a:r>
                      <a:endParaRPr lang="en-US" sz="11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54D57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Mimo to odpowiada</a:t>
                      </a:r>
                      <a:endParaRPr lang="en-US" sz="11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71A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Informuje o braku dopasowania – przy wyniku poniżej 45/100 nie rekomenduje rozwiązań</a:t>
                      </a:r>
                      <a:endParaRPr lang="en-US" sz="11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4171A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Kwoty i terminy</a:t>
                      </a:r>
                      <a:endParaRPr lang="en-US" sz="11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54D57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Do znalezienia w źródłach</a:t>
                      </a:r>
                      <a:endParaRPr lang="en-US" sz="11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54D57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Opracowywane przez model</a:t>
                      </a:r>
                      <a:endParaRPr lang="en-US" sz="11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71A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Pobierane bezpośrednio z opracowanych ścieżek finansowania</a:t>
                      </a:r>
                      <a:endParaRPr lang="en-US" sz="11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4171A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Rola modelu</a:t>
                      </a:r>
                      <a:endParaRPr lang="en-US" sz="11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54D57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Porządkuje wyniki</a:t>
                      </a:r>
                      <a:endParaRPr lang="en-US" sz="11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54D57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Pisze odpowiedź</a:t>
                      </a:r>
                      <a:endParaRPr lang="en-US" sz="11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71A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Dobiera rozwiązania i uzasadnia dopasowanie. Odwołania i cytaty są dodatkowo sprawdzane przez system</a:t>
                      </a:r>
                      <a:endParaRPr lang="en-US" sz="11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40080" y="4800600"/>
            <a:ext cx="6400800" cy="1554480"/>
          </a:xfrm>
          <a:prstGeom prst="roundRect">
            <a:avLst>
              <a:gd name="adj" fmla="val 5882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68680" y="4937760"/>
            <a:ext cx="594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TRAFNOŚĆ DOPASOWANIA  ·  PRZYPADKI TESTOWE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525780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7 z 7</a:t>
            </a:r>
            <a:endParaRPr lang="en-US" sz="3000" dirty="0"/>
          </a:p>
          <a:p>
            <a:pPr marL="0" indent="0">
              <a:spcBef>
                <a:spcPts val="200"/>
              </a:spcBef>
              <a:buNone/>
            </a:pPr>
            <a:r>
              <a:rPr lang="en-US" sz="1150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Właściwe rozwiązanie wśród trzech rekomendacji – w przypadkach z dostępnym rozwiązaniem</a:t>
            </a:r>
            <a:endParaRPr lang="en-US" sz="3000" dirty="0"/>
          </a:p>
        </p:txBody>
      </p:sp>
      <p:sp>
        <p:nvSpPr>
          <p:cNvPr id="10" name="Text 7"/>
          <p:cNvSpPr txBox="1"/>
          <p:nvPr/>
        </p:nvSpPr>
        <p:spPr>
          <a:xfrm>
            <a:off x="3977640" y="525780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9 z 10</a:t>
            </a:r>
            <a:endParaRPr lang="en-US" sz="3000" dirty="0"/>
          </a:p>
          <a:p>
            <a:pPr marL="0" indent="0">
              <a:spcBef>
                <a:spcPts val="200"/>
              </a:spcBef>
              <a:buNone/>
            </a:pPr>
            <a:r>
              <a:rPr lang="en-US" sz="1150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Poprawne rozpoznanie, czy można zaproponować pełne, częściowe lub żadne dopasowanie</a:t>
            </a:r>
            <a:endParaRPr lang="en-US" sz="3000" dirty="0"/>
          </a:p>
        </p:txBody>
      </p:sp>
      <p:sp>
        <p:nvSpPr>
          <p:cNvPr id="11" name="Shape 8"/>
          <p:cNvSpPr/>
          <p:nvPr/>
        </p:nvSpPr>
        <p:spPr>
          <a:xfrm>
            <a:off x="7805516" y="1691640"/>
            <a:ext cx="3392943" cy="1615889"/>
          </a:xfrm>
          <a:prstGeom prst="rect">
            <a:avLst/>
          </a:prstGeom>
          <a:solidFill>
            <a:srgbClr val="FFFFFF"/>
          </a:solidFill>
          <a:ln w="9525">
            <a:solidFill>
              <a:srgbClr val="C3CAD3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12" name="Image 0" descr="C:\Users\bobro\OneDrive\Developer\HackYeah2026\.local\presentation\source\img\similar-cas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5516" y="1691640"/>
            <a:ext cx="3392943" cy="1615889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7805516" y="1691640"/>
            <a:ext cx="3392943" cy="1615889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C3CAD3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805516" y="3380681"/>
            <a:ext cx="33929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Podobne przypadki: potrzeby i pomysły innych, za zgodą autorów i po akceptacji ROPS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7805516" y="4112201"/>
            <a:ext cx="3392943" cy="1712527"/>
          </a:xfrm>
          <a:prstGeom prst="rect">
            <a:avLst/>
          </a:prstGeom>
          <a:solidFill>
            <a:srgbClr val="FFFFFF"/>
          </a:solidFill>
          <a:ln w="9525">
            <a:solidFill>
              <a:srgbClr val="C3CAD3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16" name="Image 1" descr="C:\Users\bobro\OneDrive\Developer\HackYeah2026\.local\presentation\source\img\no-match-t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05516" y="4112201"/>
            <a:ext cx="3392943" cy="1712527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7805516" y="4112201"/>
            <a:ext cx="3392943" cy="1712527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C3CAD3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7805516" y="5897880"/>
            <a:ext cx="33929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Wyschnięte studnie w gminie Dobra: nic nie pasuje, więc narzędzie mówi to wprost i proponuje wpis do banku potrzeb</a:t>
            </a:r>
            <a:endParaRPr lang="en-US" sz="1100" dirty="0"/>
          </a:p>
        </p:txBody>
      </p:sp>
      <p:sp>
        <p:nvSpPr>
          <p:cNvPr id="19" name="Text 14"/>
          <p:cNvSpPr txBox="1"/>
          <p:nvPr/>
        </p:nvSpPr>
        <p:spPr>
          <a:xfrm>
            <a:off x="972281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3 / 9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9184"/>
            <a:ext cx="1298448" cy="237744"/>
          </a:xfrm>
          <a:prstGeom prst="roundRect">
            <a:avLst>
              <a:gd name="adj" fmla="val 50000"/>
            </a:avLst>
          </a:prstGeom>
          <a:solidFill>
            <a:srgbClr val="1A4B8C"/>
          </a:solidFill>
          <a:ln w="12700">
            <a:solidFill>
              <a:srgbClr val="1A4B8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329184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zaimplementowane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2075688" y="329184"/>
            <a:ext cx="94759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MODUŁ IV  ·  TESTER INNOWACJI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76656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Każdą innowację można ocenić i przetestować</a:t>
            </a:r>
            <a:endParaRPr lang="en-US" sz="3200" dirty="0"/>
          </a:p>
          <a:p>
            <a:pPr marL="0" indent="0">
              <a:spcBef>
                <a:spcPts val="600"/>
              </a:spcBef>
              <a:buNone/>
            </a:pPr>
            <a:r>
              <a:rPr lang="en-US" sz="16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Po zatwierdzeniu przez pracownika ROPS opinie trafiają do autorów innowacji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691640"/>
            <a:ext cx="4800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WYMAGANIA ROPS  ·  JAK JE SPEŁNIAMY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40080" y="2075688"/>
            <a:ext cx="310896" cy="310896"/>
          </a:xfrm>
          <a:prstGeom prst="ellipse">
            <a:avLst/>
          </a:prstGeom>
          <a:solidFill>
            <a:srgbClr val="1A4B8C"/>
          </a:solidFill>
          <a:ln w="12700">
            <a:solidFill>
              <a:srgbClr val="1A4B8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20756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057400"/>
            <a:ext cx="434340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Zgłoszenie chęci udziału w testach</a:t>
            </a:r>
            <a:endParaRPr lang="en-US" sz="1350" dirty="0"/>
          </a:p>
          <a:p>
            <a:pPr marL="0" indent="0">
              <a:spcBef>
                <a:spcPts val="200"/>
              </a:spcBef>
              <a:buNone/>
            </a:pPr>
            <a:r>
              <a:rPr lang="en-US" sz="12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Jako użytkownik lub organizacja, która pilotażowo wdroży rozwiązanie w swojej gminie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0080" y="3145536"/>
            <a:ext cx="310896" cy="310896"/>
          </a:xfrm>
          <a:prstGeom prst="ellipse">
            <a:avLst/>
          </a:prstGeom>
          <a:solidFill>
            <a:srgbClr val="1A4B8C"/>
          </a:solidFill>
          <a:ln w="12700">
            <a:solidFill>
              <a:srgbClr val="1A4B8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1455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3127248"/>
            <a:ext cx="434340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Ocena istniejących rozwiązań</a:t>
            </a:r>
            <a:endParaRPr lang="en-US" sz="1350" dirty="0"/>
          </a:p>
          <a:p>
            <a:pPr marL="0" indent="0">
              <a:spcBef>
                <a:spcPts val="200"/>
              </a:spcBef>
              <a:buNone/>
            </a:pPr>
            <a:r>
              <a:rPr lang="en-US" sz="12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W skali od 1 do 5, z informacją, czy oceniający korzysta z rozwiązania, wdraża je czy zna je tylko z opisu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40080" y="4215384"/>
            <a:ext cx="310896" cy="310896"/>
          </a:xfrm>
          <a:prstGeom prst="ellipse">
            <a:avLst/>
          </a:prstGeom>
          <a:solidFill>
            <a:srgbClr val="1A4B8C"/>
          </a:solidFill>
          <a:ln w="12700">
            <a:solidFill>
              <a:srgbClr val="1A4B8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42153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197096"/>
            <a:ext cx="434340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Przekazywanie informacji zwrotnej</a:t>
            </a:r>
            <a:endParaRPr lang="en-US" sz="1350" dirty="0"/>
          </a:p>
          <a:p>
            <a:pPr marL="0" indent="0">
              <a:spcBef>
                <a:spcPts val="200"/>
              </a:spcBef>
              <a:buNone/>
            </a:pPr>
            <a:r>
              <a:rPr lang="en-US" sz="12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Opinię można wysłać anonimowo; przechodzi przez filtr bezpieczeństwa, a ROPS przekazuje ją autorom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40080" y="5285232"/>
            <a:ext cx="310896" cy="310896"/>
          </a:xfrm>
          <a:prstGeom prst="ellipse">
            <a:avLst/>
          </a:prstGeom>
          <a:solidFill>
            <a:srgbClr val="1A4B8C"/>
          </a:solidFill>
          <a:ln w="12700">
            <a:solidFill>
              <a:srgbClr val="1A4B8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52852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5266944"/>
            <a:ext cx="434340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Proponowanie usprawnień</a:t>
            </a:r>
            <a:endParaRPr lang="en-US" sz="1350" dirty="0"/>
          </a:p>
          <a:p>
            <a:pPr marL="0" indent="0">
              <a:spcBef>
                <a:spcPts val="200"/>
              </a:spcBef>
              <a:buNone/>
            </a:pPr>
            <a:r>
              <a:rPr lang="en-US" sz="12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Na stronie innowacji widać liczbę ocen, propozycji ulepszeń i zgłoszeń do testów, bez treści i danych kontaktowych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027391" y="1691640"/>
            <a:ext cx="5348993" cy="1825961"/>
          </a:xfrm>
          <a:prstGeom prst="rect">
            <a:avLst/>
          </a:prstGeom>
          <a:solidFill>
            <a:srgbClr val="FFFFFF"/>
          </a:solidFill>
          <a:ln w="9525">
            <a:solidFill>
              <a:srgbClr val="C3CAD3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20" name="Image 0" descr="C:\Users\bobro\OneDrive\Developer\HackYeah2026\.local\presentation\source\img\tester-signup-bo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7391" y="1691640"/>
            <a:ext cx="5348993" cy="1825961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6027391" y="1691640"/>
            <a:ext cx="5348993" cy="1825961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C3CAD3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027391" y="3590753"/>
            <a:ext cx="534899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Zgłoszenie do testów w formularzu testera: jako użytkownik albo organizacja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027391" y="4139393"/>
            <a:ext cx="5348993" cy="1868215"/>
          </a:xfrm>
          <a:prstGeom prst="rect">
            <a:avLst/>
          </a:prstGeom>
          <a:solidFill>
            <a:srgbClr val="FFFFFF"/>
          </a:solidFill>
          <a:ln w="9525">
            <a:solidFill>
              <a:srgbClr val="C3CAD3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24" name="Image 1" descr="C:\Users\bobro\OneDrive\Developer\HackYeah2026\.local\presentation\source\img\tester-resul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27391" y="4139393"/>
            <a:ext cx="5348993" cy="1868215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6027391" y="4139393"/>
            <a:ext cx="5348993" cy="1868215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C3CAD3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027391" y="6080760"/>
            <a:ext cx="534899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„Opinie i testy” na stronie innowacji</a:t>
            </a:r>
            <a:endParaRPr lang="en-US" sz="1100" dirty="0"/>
          </a:p>
        </p:txBody>
      </p:sp>
      <p:sp>
        <p:nvSpPr>
          <p:cNvPr id="27" name="Text 23"/>
          <p:cNvSpPr txBox="1"/>
          <p:nvPr/>
        </p:nvSpPr>
        <p:spPr>
          <a:xfrm>
            <a:off x="972281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4 / 9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9184"/>
            <a:ext cx="1298448" cy="237744"/>
          </a:xfrm>
          <a:prstGeom prst="roundRect">
            <a:avLst>
              <a:gd name="adj" fmla="val 50000"/>
            </a:avLst>
          </a:prstGeom>
          <a:solidFill>
            <a:srgbClr val="1A4B8C"/>
          </a:solidFill>
          <a:ln w="12700">
            <a:solidFill>
              <a:srgbClr val="1A4B8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329184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zaimplementowane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2075688" y="329184"/>
            <a:ext cx="94759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MODUŁ V  ·  PLATFORMA AKTYWNEJ KOMUNIKACJI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76656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Rozmowa z ROPS, mentorem i partnerami – bez konta</a:t>
            </a:r>
            <a:endParaRPr lang="en-US" sz="3200" dirty="0"/>
          </a:p>
          <a:p>
            <a:pPr marL="0" indent="0">
              <a:spcBef>
                <a:spcPts val="600"/>
              </a:spcBef>
              <a:buNone/>
            </a:pPr>
            <a:r>
              <a:rPr lang="en-US" sz="16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Prywatny link zamiast logowania: pyta mieszkaniec, organizacja albo gmina, odpowiada pracownik ROPS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691640"/>
            <a:ext cx="4800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WYMAGANIA ROPS  ·  JAK JE SPEŁNIAMY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40080" y="2075688"/>
            <a:ext cx="310896" cy="310896"/>
          </a:xfrm>
          <a:prstGeom prst="ellipse">
            <a:avLst/>
          </a:prstGeom>
          <a:solidFill>
            <a:srgbClr val="1A4B8C"/>
          </a:solidFill>
          <a:ln w="12700">
            <a:solidFill>
              <a:srgbClr val="1A4B8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20756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057400"/>
            <a:ext cx="434340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Bezpośredni dialog między ROPS a użytkownikami</a:t>
            </a:r>
            <a:endParaRPr lang="en-US" sz="1350" dirty="0"/>
          </a:p>
          <a:p>
            <a:pPr marL="0" indent="0">
              <a:spcBef>
                <a:spcPts val="200"/>
              </a:spcBef>
              <a:buNone/>
            </a:pPr>
            <a:r>
              <a:rPr lang="en-US" sz="12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Rozmowa pod prywatnym linkiem, bez zakładania konta i podawania e-maila; odpowiedź podpisana nazwiskiem pracownika ROPS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0080" y="3145536"/>
            <a:ext cx="310896" cy="310896"/>
          </a:xfrm>
          <a:prstGeom prst="ellipse">
            <a:avLst/>
          </a:prstGeom>
          <a:solidFill>
            <a:srgbClr val="1A4B8C"/>
          </a:solidFill>
          <a:ln w="12700">
            <a:solidFill>
              <a:srgbClr val="1A4B8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1455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3127248"/>
            <a:ext cx="434340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Szybkie zadawanie pytań</a:t>
            </a:r>
            <a:endParaRPr lang="en-US" sz="1350" dirty="0"/>
          </a:p>
          <a:p>
            <a:pPr marL="0" indent="0">
              <a:spcBef>
                <a:spcPts val="200"/>
              </a:spcBef>
              <a:buNone/>
            </a:pPr>
            <a:r>
              <a:rPr lang="en-US" sz="12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„Zapytaj eksperta” przy każdej innowacji, fiszce pomysłu i ogłoszeniu; od razu wiadomo, czego dotyczy pytanie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40080" y="4215384"/>
            <a:ext cx="310896" cy="310896"/>
          </a:xfrm>
          <a:prstGeom prst="ellipse">
            <a:avLst/>
          </a:prstGeom>
          <a:solidFill>
            <a:srgbClr val="1A4B8C"/>
          </a:solidFill>
          <a:ln w="12700">
            <a:solidFill>
              <a:srgbClr val="1A4B8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42153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197096"/>
            <a:ext cx="434340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Wsparcie mentorów</a:t>
            </a:r>
            <a:endParaRPr lang="en-US" sz="1350" dirty="0"/>
          </a:p>
          <a:p>
            <a:pPr marL="0" indent="0">
              <a:spcBef>
                <a:spcPts val="200"/>
              </a:spcBef>
              <a:buNone/>
            </a:pPr>
            <a:r>
              <a:rPr lang="en-US" sz="12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ROPS zaprasza mentora do rozmowy; mentor dołącza przez własny link, bez dostępu do panelu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40080" y="5285232"/>
            <a:ext cx="310896" cy="310896"/>
          </a:xfrm>
          <a:prstGeom prst="ellipse">
            <a:avLst/>
          </a:prstGeom>
          <a:solidFill>
            <a:srgbClr val="1A4B8C"/>
          </a:solidFill>
          <a:ln w="12700">
            <a:solidFill>
              <a:srgbClr val="1A4B8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52852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5266944"/>
            <a:ext cx="434340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Budowanie partnerstw międzysektorowych</a:t>
            </a:r>
            <a:endParaRPr lang="en-US" sz="1350" dirty="0"/>
          </a:p>
          <a:p>
            <a:pPr marL="0" indent="0">
              <a:spcBef>
                <a:spcPts val="200"/>
              </a:spcBef>
              <a:buNone/>
            </a:pPr>
            <a:r>
              <a:rPr lang="en-US" sz="12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Tablica „Szukam partnera” i „Oferuję współpracę” z filtrem według sektora; ROPS zatwierdza ogłoszenia i przekazuje odpowiedzi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852160" y="1691640"/>
            <a:ext cx="2530518" cy="2581686"/>
          </a:xfrm>
          <a:prstGeom prst="rect">
            <a:avLst/>
          </a:prstGeom>
          <a:solidFill>
            <a:srgbClr val="FFFFFF"/>
          </a:solidFill>
          <a:ln w="9525">
            <a:solidFill>
              <a:srgbClr val="C3CAD3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20" name="Image 0" descr="C:\Users\bobro\OneDrive\Developer\HackYeah2026\.local\presentation\source\img\talk-thread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0" y="1691640"/>
            <a:ext cx="2530518" cy="2581686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5852160" y="1691640"/>
            <a:ext cx="2530518" cy="2581686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C3CAD3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852160" y="4346478"/>
            <a:ext cx="25305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Rozmowa: autor, ROPS i mentor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8656998" y="1691640"/>
            <a:ext cx="2894618" cy="2581686"/>
          </a:xfrm>
          <a:prstGeom prst="rect">
            <a:avLst/>
          </a:prstGeom>
          <a:solidFill>
            <a:srgbClr val="FFFFFF"/>
          </a:solidFill>
          <a:ln w="9525">
            <a:solidFill>
              <a:srgbClr val="C3CAD3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24" name="Image 1" descr="C:\Users\bobro\OneDrive\Developer\HackYeah2026\.local\presentation\source\img\talk-board-t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56998" y="1691640"/>
            <a:ext cx="2894618" cy="2581686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8656998" y="1691640"/>
            <a:ext cx="2894618" cy="2581686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C3CAD3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8656998" y="4346478"/>
            <a:ext cx="28946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Tablica partnerstw</a:t>
            </a:r>
            <a:endParaRPr lang="en-US" sz="1100" dirty="0"/>
          </a:p>
        </p:txBody>
      </p:sp>
      <p:sp>
        <p:nvSpPr>
          <p:cNvPr id="27" name="Text 23"/>
          <p:cNvSpPr txBox="1"/>
          <p:nvPr/>
        </p:nvSpPr>
        <p:spPr>
          <a:xfrm>
            <a:off x="972281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5 / 9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9184"/>
            <a:ext cx="1298448" cy="237744"/>
          </a:xfrm>
          <a:prstGeom prst="roundRect">
            <a:avLst>
              <a:gd name="adj" fmla="val 50000"/>
            </a:avLst>
          </a:prstGeom>
          <a:solidFill>
            <a:srgbClr val="1A4B8C"/>
          </a:solidFill>
          <a:ln w="12700">
            <a:solidFill>
              <a:srgbClr val="1A4B8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329184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zaimplementowane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2075688" y="329184"/>
            <a:ext cx="94759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MODUŁ VI  ·  PANEL ADMINISTRATORA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76656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Panel ROPS: o każdym wpisie decyduje człowiek</a:t>
            </a:r>
            <a:endParaRPr lang="en-US" sz="3200" dirty="0"/>
          </a:p>
          <a:p>
            <a:pPr marL="0" indent="0">
              <a:spcBef>
                <a:spcPts val="600"/>
              </a:spcBef>
              <a:buNone/>
            </a:pPr>
            <a:r>
              <a:rPr lang="en-US" sz="16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Zmiany w panelu widać od razu; autor pomysłu znajdzie odpowiedź na stronie swojej fiszki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69164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WYMAGANIA ROPS  ·  JAK JE SPEŁNIAMY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40080" y="2075688"/>
            <a:ext cx="310896" cy="310896"/>
          </a:xfrm>
          <a:prstGeom prst="ellipse">
            <a:avLst/>
          </a:prstGeom>
          <a:solidFill>
            <a:srgbClr val="1A4B8C"/>
          </a:solidFill>
          <a:ln w="12700">
            <a:solidFill>
              <a:srgbClr val="1A4B8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20756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057400"/>
            <a:ext cx="4937760" cy="8010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Szybkie modyfikowanie wiedzy</a:t>
            </a:r>
            <a:endParaRPr lang="en-US" sz="1350" dirty="0"/>
          </a:p>
          <a:p>
            <a:pPr marL="0" indent="0">
              <a:spcBef>
                <a:spcPts val="200"/>
              </a:spcBef>
              <a:buNone/>
            </a:pPr>
            <a:r>
              <a:rPr lang="en-US" sz="12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Poprawiony opis, nowy film, nowy materiał dla grupy docelowej: zmiany widać od razu, także we wcześniej utworzonych mapach działania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0080" y="2931566"/>
            <a:ext cx="310896" cy="310896"/>
          </a:xfrm>
          <a:prstGeom prst="ellipse">
            <a:avLst/>
          </a:prstGeom>
          <a:solidFill>
            <a:srgbClr val="1A4B8C"/>
          </a:solidFill>
          <a:ln w="12700">
            <a:solidFill>
              <a:srgbClr val="1A4B8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293156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913278"/>
            <a:ext cx="4937760" cy="8010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Weryfikacja wiedzy</a:t>
            </a:r>
            <a:endParaRPr lang="en-US" sz="1350" dirty="0"/>
          </a:p>
          <a:p>
            <a:pPr marL="0" indent="0">
              <a:spcBef>
                <a:spcPts val="200"/>
              </a:spcBef>
              <a:buNone/>
            </a:pPr>
            <a:r>
              <a:rPr lang="en-US" sz="12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Oznaczenie „Sprawdzone przez ROPS” na stronie innowacji i w mapach działania; każda decyzja odnotowana z nazwiskiem pracownika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40080" y="3787445"/>
            <a:ext cx="310896" cy="310896"/>
          </a:xfrm>
          <a:prstGeom prst="ellipse">
            <a:avLst/>
          </a:prstGeom>
          <a:solidFill>
            <a:srgbClr val="1A4B8C"/>
          </a:solidFill>
          <a:ln w="12700">
            <a:solidFill>
              <a:srgbClr val="1A4B8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378744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3769157"/>
            <a:ext cx="4937760" cy="8010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Udostępnianie wiedzy</a:t>
            </a:r>
            <a:endParaRPr lang="en-US" sz="1350" dirty="0"/>
          </a:p>
          <a:p>
            <a:pPr marL="0" indent="0">
              <a:spcBef>
                <a:spcPts val="200"/>
              </a:spcBef>
              <a:buNone/>
            </a:pPr>
            <a:r>
              <a:rPr lang="en-US" sz="12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Potrzeby, fiszki, opinie i ogłoszenia są publikowane za zgodą autora i po akceptacji ROPS; eksport do CSV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40080" y="4643323"/>
            <a:ext cx="310896" cy="310896"/>
          </a:xfrm>
          <a:prstGeom prst="ellipse">
            <a:avLst/>
          </a:prstGeom>
          <a:solidFill>
            <a:srgbClr val="1A4B8C"/>
          </a:solidFill>
          <a:ln w="12700">
            <a:solidFill>
              <a:srgbClr val="1A4B8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464332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625035"/>
            <a:ext cx="4937760" cy="8010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Powiadamianie administratora o nowym pomyśle</a:t>
            </a:r>
            <a:endParaRPr lang="en-US" sz="1350" dirty="0"/>
          </a:p>
          <a:p>
            <a:pPr marL="0" indent="0">
              <a:spcBef>
                <a:spcPts val="200"/>
              </a:spcBef>
              <a:buNone/>
            </a:pPr>
            <a:r>
              <a:rPr lang="en-US" sz="12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Pulpit pokazuje, co czeka na decyzję i co nowego od ostatniej wizyty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40080" y="5499202"/>
            <a:ext cx="310896" cy="310896"/>
          </a:xfrm>
          <a:prstGeom prst="ellipse">
            <a:avLst/>
          </a:prstGeom>
          <a:solidFill>
            <a:srgbClr val="1A4B8C"/>
          </a:solidFill>
          <a:ln w="12700">
            <a:solidFill>
              <a:srgbClr val="1A4B8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0080" y="54992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5480914"/>
            <a:ext cx="4937760" cy="8010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Ścieżka odpowiedzi do autora</a:t>
            </a:r>
            <a:endParaRPr lang="en-US" sz="1350" dirty="0"/>
          </a:p>
          <a:p>
            <a:pPr marL="0" indent="0">
              <a:spcBef>
                <a:spcPts val="200"/>
              </a:spcBef>
              <a:buNone/>
            </a:pPr>
            <a:r>
              <a:rPr lang="en-US" sz="12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Status i odpowiedź ROPS z datą, od razu widoczne na stronie fiszki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6870242" y="1691640"/>
            <a:ext cx="4257652" cy="2201911"/>
          </a:xfrm>
          <a:prstGeom prst="rect">
            <a:avLst/>
          </a:prstGeom>
          <a:solidFill>
            <a:srgbClr val="FFFFFF"/>
          </a:solidFill>
          <a:ln w="9525">
            <a:solidFill>
              <a:srgbClr val="C3CAD3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23" name="Image 0" descr="C:\Users\bobro\OneDrive\Developer\HackYeah2026\.local\presentation\source\img\panel-dashboard-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0242" y="1691640"/>
            <a:ext cx="4257652" cy="2201911"/>
          </a:xfrm>
          <a:prstGeom prst="rect">
            <a:avLst/>
          </a:prstGeom>
        </p:spPr>
      </p:pic>
      <p:sp>
        <p:nvSpPr>
          <p:cNvPr id="24" name="Shape 21"/>
          <p:cNvSpPr/>
          <p:nvPr/>
        </p:nvSpPr>
        <p:spPr>
          <a:xfrm>
            <a:off x="6870242" y="1691640"/>
            <a:ext cx="4257652" cy="2201911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C3CAD3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870242" y="3966703"/>
            <a:ext cx="42576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Pulpit: co czeka na decyzję i co nowego od ostatniej wizyty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6870242" y="4515343"/>
            <a:ext cx="4257652" cy="1492265"/>
          </a:xfrm>
          <a:prstGeom prst="rect">
            <a:avLst/>
          </a:prstGeom>
          <a:solidFill>
            <a:srgbClr val="FFFFFF"/>
          </a:solidFill>
          <a:ln w="9525">
            <a:solidFill>
              <a:srgbClr val="C3CAD3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27" name="Image 1" descr="C:\Users\bobro\OneDrive\Developer\HackYeah2026\.local\presentation\source\img\idea-reply-statu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70242" y="4515343"/>
            <a:ext cx="4257652" cy="1492265"/>
          </a:xfrm>
          <a:prstGeom prst="rect">
            <a:avLst/>
          </a:prstGeom>
        </p:spPr>
      </p:pic>
      <p:sp>
        <p:nvSpPr>
          <p:cNvPr id="28" name="Shape 24"/>
          <p:cNvSpPr/>
          <p:nvPr/>
        </p:nvSpPr>
        <p:spPr>
          <a:xfrm>
            <a:off x="6870242" y="4515343"/>
            <a:ext cx="4257652" cy="1492265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C3CAD3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870242" y="6080760"/>
            <a:ext cx="42576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Status i odpowiedź ROPS na stronie fiszki pomysłu</a:t>
            </a:r>
            <a:endParaRPr lang="en-US" sz="1100" dirty="0"/>
          </a:p>
        </p:txBody>
      </p:sp>
      <p:sp>
        <p:nvSpPr>
          <p:cNvPr id="30" name="Text 26"/>
          <p:cNvSpPr txBox="1"/>
          <p:nvPr/>
        </p:nvSpPr>
        <p:spPr>
          <a:xfrm>
            <a:off x="972281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6 / 9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320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Empatia przed technologią</a:t>
            </a:r>
            <a:endParaRPr lang="en-US" sz="3200" dirty="0"/>
          </a:p>
          <a:p>
            <a:pPr marL="0" indent="0">
              <a:spcBef>
                <a:spcPts val="600"/>
              </a:spcBef>
              <a:buNone/>
            </a:pPr>
            <a:r>
              <a:rPr lang="en-US" sz="16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Najpierw filtr bezpieczeństwa. Model wybiera i wyjaśnia, a decydują ludzie.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691640"/>
            <a:ext cx="1948221" cy="868680"/>
          </a:xfrm>
          <a:prstGeom prst="roundRect">
            <a:avLst>
              <a:gd name="adj" fmla="val 10526"/>
            </a:avLst>
          </a:prstGeom>
          <a:solidFill>
            <a:srgbClr val="1A4B8C"/>
          </a:solidFill>
          <a:ln w="12700">
            <a:solidFill>
              <a:srgbClr val="1A4B8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91640"/>
            <a:ext cx="167390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1  Filtr bezpieczeństwa</a:t>
            </a:r>
            <a:endParaRPr lang="en-US" sz="1300" dirty="0"/>
          </a:p>
          <a:p>
            <a:pPr marL="0" indent="0">
              <a:buNone/>
            </a:pPr>
            <a:r>
              <a:rPr lang="en-US" sz="1100" dirty="0">
                <a:solidFill>
                  <a:srgbClr val="DCE6F2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najpierw reguły, potem model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670597" y="2025396"/>
            <a:ext cx="128016" cy="201168"/>
          </a:xfrm>
          <a:prstGeom prst="chevron">
            <a:avLst/>
          </a:prstGeom>
          <a:solidFill>
            <a:srgbClr val="1A4B8C"/>
          </a:solidFill>
          <a:ln w="12700">
            <a:solidFill>
              <a:srgbClr val="1A4B8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80909" y="1691640"/>
            <a:ext cx="1948221" cy="868680"/>
          </a:xfrm>
          <a:prstGeom prst="roundRect">
            <a:avLst>
              <a:gd name="adj" fmla="val 10526"/>
            </a:avLst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018069" y="1691640"/>
            <a:ext cx="167390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2  Wyszukiwanie</a:t>
            </a:r>
            <a:endParaRPr lang="en-US" sz="1300" dirty="0"/>
          </a:p>
          <a:p>
            <a:pPr marL="0" indent="0">
              <a:buNone/>
            </a:pPr>
            <a:r>
              <a:rPr lang="en-US" sz="11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PolDense-400M: 40 najbardziej podobnych rozwiązań z 381 innowacji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911425" y="2025396"/>
            <a:ext cx="128016" cy="201168"/>
          </a:xfrm>
          <a:prstGeom prst="chevron">
            <a:avLst/>
          </a:prstGeom>
          <a:solidFill>
            <a:srgbClr val="1A4B8C"/>
          </a:solidFill>
          <a:ln w="12700">
            <a:solidFill>
              <a:srgbClr val="1A4B8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121737" y="1691640"/>
            <a:ext cx="1948221" cy="868680"/>
          </a:xfrm>
          <a:prstGeom prst="roundRect">
            <a:avLst>
              <a:gd name="adj" fmla="val 10526"/>
            </a:avLst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258897" y="1691640"/>
            <a:ext cx="167390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3  Ocena i uzasadnienia</a:t>
            </a:r>
            <a:endParaRPr lang="en-US" sz="1300" dirty="0"/>
          </a:p>
          <a:p>
            <a:pPr marL="0" indent="0">
              <a:buNone/>
            </a:pPr>
            <a:r>
              <a:rPr lang="en-US" sz="11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Bielik 11B v3.0, otwarty polski model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152254" y="2025396"/>
            <a:ext cx="128016" cy="201168"/>
          </a:xfrm>
          <a:prstGeom prst="chevron">
            <a:avLst/>
          </a:prstGeom>
          <a:solidFill>
            <a:srgbClr val="1A4B8C"/>
          </a:solidFill>
          <a:ln w="12700">
            <a:solidFill>
              <a:srgbClr val="1A4B8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62566" y="1691640"/>
            <a:ext cx="1948221" cy="868680"/>
          </a:xfrm>
          <a:prstGeom prst="roundRect">
            <a:avLst>
              <a:gd name="adj" fmla="val 10526"/>
            </a:avLst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499726" y="1691640"/>
            <a:ext cx="167390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4  Tworzenie mapy działania</a:t>
            </a:r>
            <a:endParaRPr lang="en-US" sz="1300" dirty="0"/>
          </a:p>
          <a:p>
            <a:pPr marL="0" indent="0">
              <a:buNone/>
            </a:pPr>
            <a:r>
              <a:rPr lang="en-US" sz="11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wiedza, ludzie, ścieżki, kolejne kroki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9393083" y="2025396"/>
            <a:ext cx="128016" cy="201168"/>
          </a:xfrm>
          <a:prstGeom prst="chevron">
            <a:avLst/>
          </a:prstGeom>
          <a:solidFill>
            <a:srgbClr val="1A4B8C"/>
          </a:solidFill>
          <a:ln w="12700">
            <a:solidFill>
              <a:srgbClr val="1A4B8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03395" y="1691640"/>
            <a:ext cx="1948221" cy="868680"/>
          </a:xfrm>
          <a:prstGeom prst="roundRect">
            <a:avLst>
              <a:gd name="adj" fmla="val 10526"/>
            </a:avLst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740555" y="1691640"/>
            <a:ext cx="167390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5  Panel ROPS</a:t>
            </a:r>
            <a:endParaRPr lang="en-US" sz="1300" dirty="0"/>
          </a:p>
          <a:p>
            <a:pPr marL="0" indent="0">
              <a:buNone/>
            </a:pPr>
            <a:r>
              <a:rPr lang="en-US" sz="11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pracownik rozpatruje każdy wpis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2633472"/>
            <a:ext cx="109115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Oba modele wybraliśmy na podstawie testów </a:t>
            </a:r>
            <a:r>
              <a:rPr lang="en-US" sz="1100" b="1" i="1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przed hackathonem</a:t>
            </a:r>
            <a:r>
              <a:rPr lang="en-US" sz="1100" i="1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: Bielika porównaliśmy z 4 innymi modelami językowymi, PolDense z 5 innymi modelami wyszukiwania.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017520"/>
            <a:ext cx="2601933" cy="3017520"/>
          </a:xfrm>
          <a:prstGeom prst="rect">
            <a:avLst/>
          </a:prstGeom>
          <a:solidFill>
            <a:srgbClr val="FFFFFF"/>
          </a:solidFill>
          <a:ln w="9525">
            <a:solidFill>
              <a:srgbClr val="C3CAD3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19" name="Image 0" descr="C:\Users\bobro\OneDrive\Developer\HackYeah2026\.local\presentation\source\img\crisi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017520"/>
            <a:ext cx="2601933" cy="3017520"/>
          </a:xfrm>
          <a:prstGeom prst="rect">
            <a:avLst/>
          </a:prstGeom>
        </p:spPr>
      </p:pic>
      <p:sp>
        <p:nvSpPr>
          <p:cNvPr id="20" name="Shape 17"/>
          <p:cNvSpPr/>
          <p:nvPr/>
        </p:nvSpPr>
        <p:spPr>
          <a:xfrm>
            <a:off x="640080" y="3017520"/>
            <a:ext cx="2601933" cy="301752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C3CAD3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40080" y="6126480"/>
            <a:ext cx="30591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Informacja o pomocy dla osoby w kryzysie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3744933" y="3035808"/>
            <a:ext cx="329184" cy="329184"/>
          </a:xfrm>
          <a:prstGeom prst="ellipse">
            <a:avLst/>
          </a:prstGeom>
          <a:solidFill>
            <a:srgbClr val="1A4B8C"/>
          </a:solidFill>
          <a:ln w="12700">
            <a:solidFill>
              <a:srgbClr val="1A4B8C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3744933" y="30358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4247853" y="3017520"/>
            <a:ext cx="730376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Osoba w kryzysie otrzymuje wskazówki, gdzie szukać pomocy</a:t>
            </a:r>
            <a:endParaRPr lang="en-US" sz="1500" dirty="0"/>
          </a:p>
          <a:p>
            <a:pPr marL="0" indent="0">
              <a:spcBef>
                <a:spcPts val="300"/>
              </a:spcBef>
              <a:buNone/>
            </a:pPr>
            <a:r>
              <a:rPr lang="en-US" sz="12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Przy oznakach kryzysu narzędzie wskazuje sprawdzone telefony zaufania i lokalny ośrodek pomocy społecznej. Nie proponuje wtedy innowacji ani nie zapisuje zgłoszenia. Prośby mające na celu wykluczenie lub poniżenie innych są odrzucane z podaniem uzasadnienia i możliwością odwołania się od tej decyzji.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3744933" y="4133088"/>
            <a:ext cx="329184" cy="329184"/>
          </a:xfrm>
          <a:prstGeom prst="ellipse">
            <a:avLst/>
          </a:prstGeom>
          <a:solidFill>
            <a:srgbClr val="1A4B8C"/>
          </a:solidFill>
          <a:ln w="12700">
            <a:solidFill>
              <a:srgbClr val="1A4B8C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3744933" y="41330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4247853" y="4114800"/>
            <a:ext cx="730376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Odpowiedzi oparte na źródłach</a:t>
            </a:r>
            <a:endParaRPr lang="en-US" sz="1500" dirty="0"/>
          </a:p>
          <a:p>
            <a:pPr marL="0" indent="0">
              <a:spcBef>
                <a:spcPts val="300"/>
              </a:spcBef>
              <a:buNone/>
            </a:pPr>
            <a:r>
              <a:rPr lang="en-US" sz="12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Rozwiązania, organizacje i osoby kontaktowe pochodzą tylko z katalogów; kwoty, terminy i podstawy prawne tylko z opracowanych ścieżek. Każde odwołanie i cytat jest sprawdzane, a tekst wygenerowany przez AI jest oznaczony.</a:t>
            </a:r>
            <a:endParaRPr lang="en-US" sz="1500" dirty="0"/>
          </a:p>
        </p:txBody>
      </p:sp>
      <p:sp>
        <p:nvSpPr>
          <p:cNvPr id="28" name="Shape 25"/>
          <p:cNvSpPr/>
          <p:nvPr/>
        </p:nvSpPr>
        <p:spPr>
          <a:xfrm>
            <a:off x="3744933" y="5230368"/>
            <a:ext cx="329184" cy="329184"/>
          </a:xfrm>
          <a:prstGeom prst="ellipse">
            <a:avLst/>
          </a:prstGeom>
          <a:solidFill>
            <a:srgbClr val="1A4B8C"/>
          </a:solidFill>
          <a:ln w="12700">
            <a:solidFill>
              <a:srgbClr val="1A4B8C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3744933" y="52303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4247853" y="5212080"/>
            <a:ext cx="730376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Decyduje człowiek</a:t>
            </a:r>
            <a:endParaRPr lang="en-US" sz="1500" dirty="0"/>
          </a:p>
          <a:p>
            <a:pPr marL="0" indent="0">
              <a:spcBef>
                <a:spcPts val="300"/>
              </a:spcBef>
              <a:buNone/>
            </a:pPr>
            <a:r>
              <a:rPr lang="en-US" sz="12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Narzędzie niczego nikomu nie wysyła: prośby o kontakt, zgłoszenia, fiszki i opinie czekają na decyzję pracownika ROPS w panelu, odnotowaną z jego nazwiskiem. Numery PESEL, numery telefonów i adresy usuwamy przed zapisem i przed każdym zapytaniem do modelu. Narzędzie nie podejmuje decyzji o konkretnych osobach.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972281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7 / 9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320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Zaimplementowane. Usługa ROPS – od poniedziałku</a:t>
            </a:r>
            <a:endParaRPr lang="en-US" sz="3200" dirty="0"/>
          </a:p>
          <a:p>
            <a:pPr marL="0" indent="0">
              <a:spcBef>
                <a:spcPts val="600"/>
              </a:spcBef>
              <a:buNone/>
            </a:pPr>
            <a:r>
              <a:rPr lang="en-US" sz="16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Gotowe funkcje oraz propozycja dalszego rozwoju i organizacji obsługi w ROPS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60020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ZBUDOWANE  ·  MODUŁY WYZWANIA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640080" y="1901952"/>
            <a:ext cx="1464738" cy="1298448"/>
          </a:xfrm>
          <a:prstGeom prst="roundRect">
            <a:avLst>
              <a:gd name="adj" fmla="val 5634"/>
            </a:avLst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993392"/>
            <a:ext cx="1281858" cy="219456"/>
          </a:xfrm>
          <a:prstGeom prst="roundRect">
            <a:avLst>
              <a:gd name="adj" fmla="val 50000"/>
            </a:avLst>
          </a:prstGeom>
          <a:solidFill>
            <a:srgbClr val="1A4B8C"/>
          </a:solidFill>
          <a:ln w="12700">
            <a:solidFill>
              <a:srgbClr val="1A4B8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993392"/>
            <a:ext cx="128185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zaimplementowane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267712"/>
            <a:ext cx="124528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I  </a:t>
            </a:r>
            <a:r>
              <a:rPr lang="en-US" sz="115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Matchmaking społeczny</a:t>
            </a:r>
            <a:endParaRPr lang="en-US" sz="1150" dirty="0"/>
          </a:p>
          <a:p>
            <a:pPr marL="0" indent="0">
              <a:spcBef>
                <a:spcPts val="200"/>
              </a:spcBef>
              <a:buNone/>
            </a:pPr>
            <a:r>
              <a:rPr lang="en-US" sz="95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rozwiązania i podobne przypadki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2214546" y="1901952"/>
            <a:ext cx="1464738" cy="1298448"/>
          </a:xfrm>
          <a:prstGeom prst="roundRect">
            <a:avLst>
              <a:gd name="adj" fmla="val 5634"/>
            </a:avLst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305986" y="1993392"/>
            <a:ext cx="1281858" cy="219456"/>
          </a:xfrm>
          <a:prstGeom prst="roundRect">
            <a:avLst>
              <a:gd name="adj" fmla="val 50000"/>
            </a:avLst>
          </a:prstGeom>
          <a:solidFill>
            <a:srgbClr val="1A4B8C"/>
          </a:solidFill>
          <a:ln w="12700">
            <a:solidFill>
              <a:srgbClr val="1A4B8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305986" y="1993392"/>
            <a:ext cx="128185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zaimplementowane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2324274" y="2267712"/>
            <a:ext cx="124528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II  </a:t>
            </a:r>
            <a:r>
              <a:rPr lang="en-US" sz="115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Zasobnik wiedzy</a:t>
            </a:r>
            <a:endParaRPr lang="en-US" sz="1150" dirty="0"/>
          </a:p>
          <a:p>
            <a:pPr marL="0" indent="0">
              <a:spcBef>
                <a:spcPts val="200"/>
              </a:spcBef>
              <a:buNone/>
            </a:pPr>
            <a:r>
              <a:rPr lang="en-US" sz="95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pliki i filmy dla każdego rozwiązania, edycja w panelu, trendy potrzeb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789012" y="1901952"/>
            <a:ext cx="1464738" cy="1298448"/>
          </a:xfrm>
          <a:prstGeom prst="roundRect">
            <a:avLst>
              <a:gd name="adj" fmla="val 5634"/>
            </a:avLst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880452" y="1993392"/>
            <a:ext cx="1281858" cy="219456"/>
          </a:xfrm>
          <a:prstGeom prst="roundRect">
            <a:avLst>
              <a:gd name="adj" fmla="val 50000"/>
            </a:avLst>
          </a:prstGeom>
          <a:solidFill>
            <a:srgbClr val="1A4B8C"/>
          </a:solidFill>
          <a:ln w="12700">
            <a:solidFill>
              <a:srgbClr val="1A4B8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880452" y="1993392"/>
            <a:ext cx="128185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zaimplementowane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3898740" y="2267712"/>
            <a:ext cx="124528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III  </a:t>
            </a:r>
            <a:r>
              <a:rPr lang="en-US" sz="115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Kreator pomysłów</a:t>
            </a:r>
            <a:endParaRPr lang="en-US" sz="1150" dirty="0"/>
          </a:p>
          <a:p>
            <a:pPr marL="0" indent="0">
              <a:spcBef>
                <a:spcPts val="200"/>
              </a:spcBef>
              <a:buNone/>
            </a:pPr>
            <a:r>
              <a:rPr lang="en-US" sz="95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fiszka, kanwa innowacji, podobne rozwiązania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363479" y="1901952"/>
            <a:ext cx="1464738" cy="1298448"/>
          </a:xfrm>
          <a:prstGeom prst="roundRect">
            <a:avLst>
              <a:gd name="adj" fmla="val 5634"/>
            </a:avLst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54919" y="1993392"/>
            <a:ext cx="1281858" cy="219456"/>
          </a:xfrm>
          <a:prstGeom prst="roundRect">
            <a:avLst>
              <a:gd name="adj" fmla="val 50000"/>
            </a:avLst>
          </a:prstGeom>
          <a:solidFill>
            <a:srgbClr val="1A4B8C"/>
          </a:solidFill>
          <a:ln w="12700">
            <a:solidFill>
              <a:srgbClr val="1A4B8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54919" y="1993392"/>
            <a:ext cx="128185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zaimplementowane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5473207" y="2267712"/>
            <a:ext cx="124528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IV  </a:t>
            </a:r>
            <a:r>
              <a:rPr lang="en-US" sz="115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Tester innowacji</a:t>
            </a:r>
            <a:endParaRPr lang="en-US" sz="1150" dirty="0"/>
          </a:p>
          <a:p>
            <a:pPr marL="0" indent="0">
              <a:spcBef>
                <a:spcPts val="200"/>
              </a:spcBef>
              <a:buNone/>
            </a:pPr>
            <a:r>
              <a:rPr lang="en-US" sz="95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oceny, opinie, propozycje ulepszeń, zapisy do testów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937945" y="1901952"/>
            <a:ext cx="1464738" cy="1298448"/>
          </a:xfrm>
          <a:prstGeom prst="roundRect">
            <a:avLst>
              <a:gd name="adj" fmla="val 5634"/>
            </a:avLst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029385" y="1993392"/>
            <a:ext cx="1281858" cy="219456"/>
          </a:xfrm>
          <a:prstGeom prst="roundRect">
            <a:avLst>
              <a:gd name="adj" fmla="val 50000"/>
            </a:avLst>
          </a:prstGeom>
          <a:solidFill>
            <a:srgbClr val="1A4B8C"/>
          </a:solidFill>
          <a:ln w="12700">
            <a:solidFill>
              <a:srgbClr val="1A4B8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029385" y="1993392"/>
            <a:ext cx="128185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zaimplementowane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7047673" y="2267712"/>
            <a:ext cx="124528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V  </a:t>
            </a:r>
            <a:r>
              <a:rPr lang="en-US" sz="115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Platforma aktywnej komunikacji</a:t>
            </a:r>
            <a:endParaRPr lang="en-US" sz="1150" dirty="0"/>
          </a:p>
          <a:p>
            <a:pPr marL="0" indent="0">
              <a:spcBef>
                <a:spcPts val="200"/>
              </a:spcBef>
              <a:buNone/>
            </a:pPr>
            <a:r>
              <a:rPr lang="en-US" sz="95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rozmowy bez konta, mentorzy, partnerstwa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512411" y="1901952"/>
            <a:ext cx="1464738" cy="1298448"/>
          </a:xfrm>
          <a:prstGeom prst="roundRect">
            <a:avLst>
              <a:gd name="adj" fmla="val 5634"/>
            </a:avLst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603851" y="1993392"/>
            <a:ext cx="1281858" cy="219456"/>
          </a:xfrm>
          <a:prstGeom prst="roundRect">
            <a:avLst>
              <a:gd name="adj" fmla="val 50000"/>
            </a:avLst>
          </a:prstGeom>
          <a:solidFill>
            <a:srgbClr val="1A4B8C"/>
          </a:solidFill>
          <a:ln w="12700">
            <a:solidFill>
              <a:srgbClr val="1A4B8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603851" y="1993392"/>
            <a:ext cx="128185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zaimplementowane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8622139" y="2267712"/>
            <a:ext cx="124528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VI  </a:t>
            </a:r>
            <a:r>
              <a:rPr lang="en-US" sz="115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Panel administratora</a:t>
            </a:r>
            <a:endParaRPr lang="en-US" sz="1150" dirty="0"/>
          </a:p>
          <a:p>
            <a:pPr marL="0" indent="0">
              <a:spcBef>
                <a:spcPts val="200"/>
              </a:spcBef>
              <a:buNone/>
            </a:pPr>
            <a:r>
              <a:rPr lang="en-US" sz="95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zgłoszenia, decyzje, odpowiedzi, CSV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10086877" y="1901952"/>
            <a:ext cx="1464738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1A4B8C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10178317" y="1993392"/>
            <a:ext cx="1281858" cy="219456"/>
          </a:xfrm>
          <a:prstGeom prst="roundRect">
            <a:avLst>
              <a:gd name="adj" fmla="val 50000"/>
            </a:avLst>
          </a:prstGeom>
          <a:solidFill>
            <a:srgbClr val="DCE6F2"/>
          </a:solidFill>
          <a:ln w="12700">
            <a:solidFill>
              <a:srgbClr val="DCE6F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178317" y="1993392"/>
            <a:ext cx="128185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częściowo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10196605" y="2267712"/>
            <a:ext cx="124528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VII  </a:t>
            </a:r>
            <a:r>
              <a:rPr lang="en-US" sz="115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Middleman Innowacji</a:t>
            </a:r>
            <a:endParaRPr lang="en-US" sz="1150" dirty="0"/>
          </a:p>
          <a:p>
            <a:pPr marL="0" indent="0">
              <a:spcBef>
                <a:spcPts val="200"/>
              </a:spcBef>
              <a:buNone/>
            </a:pPr>
            <a:r>
              <a:rPr lang="en-US" sz="95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ścieżki dopasowane do roli i gminy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640080" y="335584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PLAN ROZWOJU  ·  DO ZBUDOWANIA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640080" y="3666744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Proponowane role w ROPS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640080" y="3995928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Opiekun kategorii</a:t>
            </a:r>
            <a:endParaRPr lang="en-US" sz="1250" dirty="0"/>
          </a:p>
          <a:p>
            <a:pPr marL="0" indent="0">
              <a:buNone/>
            </a:pPr>
            <a:r>
              <a:rPr lang="en-US" sz="11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osoba wskazana w każdej mapie działania; przyjmuje prośby o kontakt</a:t>
            </a:r>
            <a:endParaRPr lang="en-US" sz="1250" dirty="0"/>
          </a:p>
        </p:txBody>
      </p:sp>
      <p:sp>
        <p:nvSpPr>
          <p:cNvPr id="35" name="Text 33"/>
          <p:cNvSpPr txBox="1"/>
          <p:nvPr/>
        </p:nvSpPr>
        <p:spPr>
          <a:xfrm>
            <a:off x="640080" y="4379976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Redaktor katalogu</a:t>
            </a:r>
            <a:endParaRPr lang="en-US" sz="1250" dirty="0"/>
          </a:p>
          <a:p>
            <a:pPr marL="0" indent="0">
              <a:buNone/>
            </a:pPr>
            <a:r>
              <a:rPr lang="en-US" sz="11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aktualizuje opisy, co roku pyta autorów o zmiany, odnotowuje wdrożenia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640080" y="4764024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Koordynator banku potrzeb</a:t>
            </a:r>
            <a:endParaRPr lang="en-US" sz="1250" dirty="0"/>
          </a:p>
          <a:p>
            <a:pPr marL="0" indent="0">
              <a:buNone/>
            </a:pPr>
            <a:r>
              <a:rPr lang="en-US" sz="11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co tydzień przegląda potrzeby, łączy je w tematy naborów</a:t>
            </a:r>
            <a:endParaRPr lang="en-US" sz="1250" dirty="0"/>
          </a:p>
        </p:txBody>
      </p:sp>
      <p:sp>
        <p:nvSpPr>
          <p:cNvPr id="37" name="Text 35"/>
          <p:cNvSpPr txBox="1"/>
          <p:nvPr/>
        </p:nvSpPr>
        <p:spPr>
          <a:xfrm>
            <a:off x="5897880" y="3666744"/>
            <a:ext cx="5653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Trzy procesy, które chcemy wspierać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5897880" y="401421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A4B8C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897880" y="40142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1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6309360" y="3995928"/>
            <a:ext cx="52422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Potrzeba</a:t>
            </a:r>
            <a:r>
              <a:rPr lang="en-US" sz="1250" b="1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  →  </a:t>
            </a:r>
            <a:r>
              <a:rPr lang="en-US" sz="1250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rozwiązanie</a:t>
            </a:r>
            <a:r>
              <a:rPr lang="en-US" sz="1250" b="1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  →  </a:t>
            </a:r>
            <a:r>
              <a:rPr lang="en-US" sz="1250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kontakt</a:t>
            </a:r>
            <a:r>
              <a:rPr lang="en-US" sz="1250" b="1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  →  </a:t>
            </a:r>
            <a:r>
              <a:rPr lang="en-US" sz="125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nowe wdrożenie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5897880" y="4398264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A4B8C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5897880" y="43982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2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309360" y="4379976"/>
            <a:ext cx="52422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Potrzeba</a:t>
            </a:r>
            <a:r>
              <a:rPr lang="en-US" sz="1250" b="1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  →  </a:t>
            </a:r>
            <a:r>
              <a:rPr lang="en-US" sz="1250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bank potrzeb</a:t>
            </a:r>
            <a:r>
              <a:rPr lang="en-US" sz="1250" b="1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  →  </a:t>
            </a:r>
            <a:r>
              <a:rPr lang="en-US" sz="1250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temat naboru</a:t>
            </a:r>
            <a:r>
              <a:rPr lang="en-US" sz="1250" b="1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  →  </a:t>
            </a:r>
            <a:r>
              <a:rPr lang="en-US" sz="125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nowa innowacja</a:t>
            </a:r>
            <a:endParaRPr lang="en-US" sz="1250" dirty="0"/>
          </a:p>
        </p:txBody>
      </p:sp>
      <p:sp>
        <p:nvSpPr>
          <p:cNvPr id="44" name="Shape 42"/>
          <p:cNvSpPr/>
          <p:nvPr/>
        </p:nvSpPr>
        <p:spPr>
          <a:xfrm>
            <a:off x="5897880" y="4782312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A4B8C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897880" y="47823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3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6309360" y="4764024"/>
            <a:ext cx="52422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Innowacja</a:t>
            </a:r>
            <a:r>
              <a:rPr lang="en-US" sz="1250" b="1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  →  </a:t>
            </a:r>
            <a:r>
              <a:rPr lang="en-US" sz="1250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mapa potrzeb</a:t>
            </a:r>
            <a:r>
              <a:rPr lang="en-US" sz="1250" b="1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  →  </a:t>
            </a:r>
            <a:r>
              <a:rPr lang="en-US" sz="125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granty tam, gdzie jej brakuje</a:t>
            </a:r>
            <a:endParaRPr lang="en-US" sz="1250" dirty="0"/>
          </a:p>
        </p:txBody>
      </p:sp>
      <p:sp>
        <p:nvSpPr>
          <p:cNvPr id="47" name="Shape 45"/>
          <p:cNvSpPr/>
          <p:nvPr/>
        </p:nvSpPr>
        <p:spPr>
          <a:xfrm>
            <a:off x="640080" y="5221224"/>
            <a:ext cx="4846320" cy="1179576"/>
          </a:xfrm>
          <a:prstGeom prst="roundRect">
            <a:avLst>
              <a:gd name="adj" fmla="val 7752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822960" y="5221224"/>
            <a:ext cx="448056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Już w panelu ROPS:  </a:t>
            </a:r>
            <a:r>
              <a:rPr lang="en-US" sz="1200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każdy wpis czeka na decyzję pracownika, zapisywaną wraz z jego nazwiskiem. Autor pomysłu widzi status i odpowiedź na stronie swojej fiszki. Panel pokazuje liczbę wygenerowanych map działania, próśb o kontakt i zgłoszonych potrzeb oraz trendy w zgłoszeniach.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5897880" y="5221224"/>
            <a:ext cx="5653735" cy="1179576"/>
          </a:xfrm>
          <a:prstGeom prst="roundRect">
            <a:avLst>
              <a:gd name="adj" fmla="val 7752"/>
            </a:avLst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6080760" y="5294376"/>
            <a:ext cx="52879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Szacunkowy koszt: 55 USD miesięcznie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+ 8 USD za każde 1000 wygenerowanych map działania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080760" y="5696712"/>
            <a:ext cx="4282135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Serwer  </a:t>
            </a:r>
            <a:r>
              <a:rPr lang="en-US" sz="105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aplikacja + polski model wyszukiwania, 4 GB</a:t>
            </a:r>
            <a:endParaRPr lang="en-US" sz="1050" dirty="0"/>
          </a:p>
        </p:txBody>
      </p:sp>
      <p:sp>
        <p:nvSpPr>
          <p:cNvPr id="52" name="Text 50"/>
          <p:cNvSpPr txBox="1"/>
          <p:nvPr/>
        </p:nvSpPr>
        <p:spPr>
          <a:xfrm>
            <a:off x="10317175" y="5696712"/>
            <a:ext cx="105156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24 USD / mies.</a:t>
            </a:r>
            <a:endParaRPr lang="en-US" sz="1050" dirty="0"/>
          </a:p>
        </p:txBody>
      </p:sp>
      <p:sp>
        <p:nvSpPr>
          <p:cNvPr id="53" name="Text 51"/>
          <p:cNvSpPr txBox="1"/>
          <p:nvPr/>
        </p:nvSpPr>
        <p:spPr>
          <a:xfrm>
            <a:off x="6080760" y="5856732"/>
            <a:ext cx="4282135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Baza danych  </a:t>
            </a:r>
            <a:r>
              <a:rPr lang="en-US" sz="105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PostgreSQL + pgvector, RDS 2 GB</a:t>
            </a:r>
            <a:endParaRPr lang="en-US" sz="1050" dirty="0"/>
          </a:p>
        </p:txBody>
      </p:sp>
      <p:sp>
        <p:nvSpPr>
          <p:cNvPr id="54" name="Text 52"/>
          <p:cNvSpPr txBox="1"/>
          <p:nvPr/>
        </p:nvSpPr>
        <p:spPr>
          <a:xfrm>
            <a:off x="10317175" y="5856732"/>
            <a:ext cx="105156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30 USD / mies.</a:t>
            </a:r>
            <a:endParaRPr lang="en-US" sz="1050" dirty="0"/>
          </a:p>
        </p:txBody>
      </p:sp>
      <p:sp>
        <p:nvSpPr>
          <p:cNvPr id="55" name="Text 53"/>
          <p:cNvSpPr txBox="1"/>
          <p:nvPr/>
        </p:nvSpPr>
        <p:spPr>
          <a:xfrm>
            <a:off x="6080760" y="6016752"/>
            <a:ext cx="4282135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Zapytanie do modelu  </a:t>
            </a:r>
            <a:r>
              <a:rPr lang="en-US" sz="105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Bielik 11B na Hugging Face, ~5 tys. tokenów</a:t>
            </a:r>
            <a:endParaRPr lang="en-US" sz="1050" dirty="0"/>
          </a:p>
        </p:txBody>
      </p:sp>
      <p:sp>
        <p:nvSpPr>
          <p:cNvPr id="56" name="Text 54"/>
          <p:cNvSpPr txBox="1"/>
          <p:nvPr/>
        </p:nvSpPr>
        <p:spPr>
          <a:xfrm>
            <a:off x="10317175" y="6016752"/>
            <a:ext cx="105156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0,002 USD</a:t>
            </a:r>
            <a:endParaRPr lang="en-US" sz="1050" dirty="0"/>
          </a:p>
        </p:txBody>
      </p:sp>
      <p:sp>
        <p:nvSpPr>
          <p:cNvPr id="57" name="Text 55"/>
          <p:cNvSpPr txBox="1"/>
          <p:nvPr/>
        </p:nvSpPr>
        <p:spPr>
          <a:xfrm>
            <a:off x="6080760" y="6176772"/>
            <a:ext cx="4282135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Mapa działania  </a:t>
            </a:r>
            <a:r>
              <a:rPr lang="en-US" sz="105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4 zapytania, ~21 tys. tokenów</a:t>
            </a:r>
            <a:endParaRPr lang="en-US" sz="1050" dirty="0"/>
          </a:p>
        </p:txBody>
      </p:sp>
      <p:sp>
        <p:nvSpPr>
          <p:cNvPr id="58" name="Text 56"/>
          <p:cNvSpPr txBox="1"/>
          <p:nvPr/>
        </p:nvSpPr>
        <p:spPr>
          <a:xfrm>
            <a:off x="10317175" y="6176772"/>
            <a:ext cx="105156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0,008 USD</a:t>
            </a:r>
            <a:endParaRPr lang="en-US" sz="1050" dirty="0"/>
          </a:p>
        </p:txBody>
      </p:sp>
      <p:sp>
        <p:nvSpPr>
          <p:cNvPr id="59" name="Text 57"/>
          <p:cNvSpPr txBox="1"/>
          <p:nvPr/>
        </p:nvSpPr>
        <p:spPr>
          <a:xfrm>
            <a:off x="972281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8 / 9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320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Dostępne dla wszystkich, oparte na otwartych danych</a:t>
            </a:r>
            <a:endParaRPr lang="en-US" sz="3200" dirty="0"/>
          </a:p>
          <a:p>
            <a:pPr marL="0" indent="0">
              <a:spcBef>
                <a:spcPts val="600"/>
              </a:spcBef>
              <a:buNone/>
            </a:pPr>
            <a:r>
              <a:rPr lang="en-US" sz="16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Dostępność wykraczająca poza wymogi prawa; informacje oparte na źródłach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691640"/>
            <a:ext cx="4754880" cy="2971800"/>
          </a:xfrm>
          <a:prstGeom prst="rect">
            <a:avLst/>
          </a:prstGeom>
          <a:solidFill>
            <a:srgbClr val="FFFFFF"/>
          </a:solidFill>
          <a:ln w="9525">
            <a:solidFill>
              <a:srgbClr val="C3CAD3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4" name="Image 0" descr="C:\Users\bobro\OneDrive\Developer\HackYeah2026\.local\presentation\source\img\contra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691640"/>
            <a:ext cx="4754880" cy="2971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1691640"/>
            <a:ext cx="4754880" cy="297180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C3CAD3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475488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Wersja kontrastowa, jeden z trzech trybów wyświetlania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5120640"/>
            <a:ext cx="25831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Krój pisma dla osób słabowidzących</a:t>
            </a:r>
            <a:endParaRPr lang="en-US" sz="12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Kontrast tekstu 7:1</a:t>
            </a:r>
            <a:endParaRPr lang="en-US" sz="12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WCAG 2.2 AA i trzy kryteria AAA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3406140" y="5120640"/>
            <a:ext cx="25831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Większy tekst, trzy tryby, układ dostosowany do telefonu</a:t>
            </a:r>
            <a:endParaRPr lang="en-US" sz="12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Obsługa klawiaturą i czytnikiem ekranu</a:t>
            </a:r>
            <a:endParaRPr lang="en-US" sz="12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Automatyczne testy axe każdego ekranu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6492240" y="1691640"/>
            <a:ext cx="50593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Dane, modele i podziękowania</a:t>
            </a:r>
            <a:endParaRPr lang="en-US" sz="1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92240" y="2103120"/>
          <a:ext cx="5059375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877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4B8C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Innowacje</a:t>
                      </a:r>
                      <a:endParaRPr lang="en-US" sz="11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71A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300 z ogólnopolskiej bazy innowacjespoleczne.pl (Fundacja Stocznia) i 115 z biblioteki ROPS; po scaleniu 34 duplikatów: 381 rekordów. CC BY 4.0 lub warunki MIIS, z uznaniem autorstwa przy każdym opisie</a:t>
                      </a:r>
                      <a:endParaRPr lang="en-US" sz="11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4B8C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Miejsca</a:t>
                      </a:r>
                      <a:endParaRPr lang="en-US" sz="11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71A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GUS: rejestr TERC, wskaźniki Banku Danych Lokalnych 2024, granice PRG</a:t>
                      </a:r>
                      <a:endParaRPr lang="en-US" sz="11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4B8C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Modele</a:t>
                      </a:r>
                      <a:endParaRPr lang="en-US" sz="11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71A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Bielik 11B v3.0 (SpeakLeash) przez router Hugging Face; Claude (Anthropic) jako model zapasowy; wyszukiwanie: PolDense-400M (OPI PIB)</a:t>
                      </a:r>
                      <a:endParaRPr lang="en-US" sz="11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4B8C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Oprogramowanie</a:t>
                      </a:r>
                      <a:endParaRPr lang="en-US" sz="11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71A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Next.js, TypeScript, Tailwind CSS, MapLibre GL JS, wzorce formularzy z GOV.UK Design System; przetwarzanie danych w Pythonie</a:t>
                      </a:r>
                      <a:endParaRPr lang="en-US" sz="11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4B8C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Agenci AI</a:t>
                      </a:r>
                      <a:endParaRPr lang="en-US" sz="11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71A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Claude Code (Anthropic) pisał kod, teksty i testy pod kierunkiem zespołu; każda decyzja zespołu jest zapisana w jawnym rejestrze decyzji projektu; zespół sprawdził wszystkie teksty po polsku</a:t>
                      </a:r>
                      <a:endParaRPr lang="en-US" sz="11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6492240" y="5440680"/>
            <a:ext cx="50593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Kod  </a:t>
            </a:r>
            <a:r>
              <a:rPr lang="en-US" sz="1200" u="sng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github.com/bobrovsky420/hackyeah2026</a:t>
            </a:r>
            <a:r>
              <a:rPr lang="en-US" sz="12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   licencja Apache 2.0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972281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9 / 9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3006</Words>
  <Application>Microsoft Office PowerPoint</Application>
  <PresentationFormat>Widescreen</PresentationFormat>
  <Paragraphs>236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Segoe UI Symbol</vt:lpstr>
      <vt:lpstr>Atkinson Hyperlegible Next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HubMI: od potrzeby do rozwiązania</dc:title>
  <dc:subject>PptxGenJS Presentation</dc:subject>
  <dc:creator>Zespół HubMI, HackYeah 2026</dc:creator>
  <cp:lastModifiedBy>Alexander Bobrovsky</cp:lastModifiedBy>
  <cp:revision>2</cp:revision>
  <dcterms:created xsi:type="dcterms:W3CDTF">2026-10-04T08:01:16Z</dcterms:created>
  <dcterms:modified xsi:type="dcterms:W3CDTF">2026-10-04T08:01:50Z</dcterms:modified>
</cp:coreProperties>
</file>