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tkinson Hyperlegible Next" pitchFamily="2" charset="0"/>
      <p:regular r:id="rId13"/>
      <p:bold r:id="rId14"/>
      <p:italic r:id="rId15"/>
      <p:boldItalic r:id="rId16"/>
    </p:embeddedFont>
    <p:embeddedFont>
      <p:font typeface="Georgia" panose="02040502050405020303" pitchFamily="18" charset="0"/>
      <p:regular r:id="rId17"/>
      <p:bold r:id="rId18"/>
      <p:italic r:id="rId19"/>
      <p:boldItalic r:id="rId20"/>
    </p:embeddedFont>
    <p:embeddedFont>
      <p:font typeface="Segoe UI Symbol" panose="020B0502040204020203" pitchFamily="3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6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HubMI.pl is the name ROPS Kraków gave the digital core of its planned Małopolska Social Innovation Hub. We built its end-user side as a working pilot; the service around it is a proposed roadmap, not built yet. One idea: a person describes a need in plain Polish and gets a route, not a list. The phone shows a real route from the 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partner's brief in their own words: not another catalogue, a tool that connects a problem to a solution, knowledge and people, and helps when no solution exists yet. The knowledge is there: about 200 innovations from Małopolska, 300 in the national base. What is missing is the link from a need in one of 183 gminas to what already works, and a record of the needs nothing answers.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route from the prototype for our test problem P01: lonely seniors in the rural gmina Laskowa. It has four blocks. Solutions: two proven innovations, each with why it fits, quoted from its source entry, and what it takes. Knowledge: the manuals and the ROPS models. People: the authors, the ROPS category advisor, people who registered to help. Implementation path: the programmes that can fund it, with amounts, deadlines and steps. It is not a list of search results; it is what to do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question: is this just search, or a chatbot over the catalogue? No. Search gives links and a RAG chatbot gives a paragraph, and both answer every question. HubMI builds a route from curated data by rules: the funding amounts, deadlines and legal bases come from a table of thirty paths the model never sees; people and places come from data. The model only picks and explains, and code checks every identifier and every quote. Most important, it can say no: below a fit of 45 there is no route, and the need goes to the incubator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asked what happens when no solution exists yet. This summer's drought dried up the wells in the hamlets of gmina Dobra; nothing in the catalogues fits, and the tool says so instead of showing weak matches. The need goes into the needs bank and the tool drafts the brief for the next incubator call, listing the nearest existing innovations; in the roadmap, ROPS merges similar needs into call topics. The third screen is the reverse direction: for a proven innovation, the gminas where the indicators show need and where it does not run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partner's teaser is called 'from empathy to technology'. So every text first passes a screening gate: a community need is routed; a person in crisis gets helplines and the local social assistance centre, not a list of innovations; a request meant to exclude people is declined politely, with a way to appeal. Then retrieval with the Polish PolDense model, and Bielik, the Polish open model, picks and explains. We did not pick them by name: before the hackathon we measured Bielik against four other language models on Polish screening and matching cases, and PolDense against five other embedding models on all 381 records; the evidence is in the repository. It cannot invent a solution or a funding amount: every identifier and quote is checked, and amounts come from a curated table. Anything that involves a real person waits for a ROPS moderator; the console for that is the roadmap, not built yet, and the tool sends nothing to anyone.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 concept, not only software. What you have seen is the pilot for the end user: a need in, a route or a brief out; that is what runs today. The service around it is our proposed roadmap, not built: ROPS would run HubMI with three roles, which can be three people or one: a category advisor who is the human face of every route, a catalogue editor, and a needs-bank coordinator, with a console where every decision waits for a person. The tool would close three loops: a need becomes an implementation; an unmet need becomes an incubator topic and later a new innovation; a proven innovation is taken to the places that need it. The tool already counts routes, contact requests, needs and briefs; the page that shows them is part of the roadmap. Running it is cheap: one 4 GB server for the app and the Polish embedding model, 24 dollars a month on AWS Lightsail; for production, PostgreSQL with pgvector on RDS, about 30 dollars a month (the pilot keeps its entries in one file). A model call to Bielik through Hugging Face is about five thousand tokens at 40 cents per million, a fifth of a cent; a whole route is four calls, under one cent.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and this is an idea, not a promise. Pupils finishing primary school get three of the two hundred recruitment points for volunteering written on their certificate, so every school looks for real tasks, and our needs bank is full of them. We do not want to build another volunteering app: last year the City of Kraków's task at HackYeah was won by DoBro, built by the team Szybkie Palce, a platform that connects young volunteers, schools and organisations. HubMI brings the need, checked by ROPS, with a proven method; DoBro brings the hands. A need is filed, ROPS marks it fit for pupils, it goes into an open task feed, DoBro matches pupils through the school coordinator, and the hours and the outcome come back to the needs bank and the map. Children first: we never hold pupils' data, and only organisations with child-protection standards get a task. We would like to invite the DoBro team to build this with 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for everyone: ROPS ran an accessibility incubator, so we set our own bar above the legal one: a typeface designed for low vision, 7:1 contrast, three themes, full keyboard use and an automated check of every screen. A blind person can describe a need and file it with a screen reader: every field is labelled, each waiting step is announced, and a required consent says so before the first try. Everything the tool shows comes from open data, linked back to its source with its licence; the catalogues stay the systems of record. AI coding agents helped build it; the idea and the decisions are ours, and every decision we took is written down in the project's decision log, open for review.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it was built. Every dot is an AI agent: the 50 Claude Code sessions we ran and the 127 subagents they started, 177 in all. The amber boxes are the files they passed work through: the specification, the innovation records, the funding paths, the data contract. The lines show who started whom, who wrote what and who read it, 993 links in total. The largest cluster is a single extraction run with 50 workers. The agents did the work; the direction and every decision are ours, and each decision is written down in the project's decision log.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bobrovsky420/hackyeah2026"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B8C"/>
        </a:solidFill>
        <a:effectLst/>
      </p:bgPr>
    </p:bg>
    <p:spTree>
      <p:nvGrpSpPr>
        <p:cNvPr id="1" name=""/>
        <p:cNvGrpSpPr/>
        <p:nvPr/>
      </p:nvGrpSpPr>
      <p:grpSpPr>
        <a:xfrm>
          <a:off x="0" y="0"/>
          <a:ext cx="0" cy="0"/>
          <a:chOff x="0" y="0"/>
          <a:chExt cx="0" cy="0"/>
        </a:xfrm>
      </p:grpSpPr>
      <p:sp>
        <p:nvSpPr>
          <p:cNvPr id="2" name="Text 0"/>
          <p:cNvSpPr txBox="1"/>
          <p:nvPr/>
        </p:nvSpPr>
        <p:spPr>
          <a:xfrm>
            <a:off x="640080" y="685800"/>
            <a:ext cx="7498080" cy="320040"/>
          </a:xfrm>
          <a:prstGeom prst="rect">
            <a:avLst/>
          </a:prstGeom>
          <a:noFill/>
          <a:ln/>
        </p:spPr>
        <p:txBody>
          <a:bodyPr wrap="square" lIns="0" tIns="0" rIns="0" bIns="0" rtlCol="0" anchor="ctr"/>
          <a:lstStyle/>
          <a:p>
            <a:pPr marL="0" indent="0">
              <a:buNone/>
            </a:pPr>
            <a:r>
              <a:rPr lang="en-US" sz="1200" b="1" kern="0" spc="200" dirty="0">
                <a:solidFill>
                  <a:srgbClr val="9DC3F7"/>
                </a:solidFill>
                <a:latin typeface="Atkinson Hyperlegible Next" pitchFamily="34" charset="0"/>
                <a:ea typeface="Atkinson Hyperlegible Next" pitchFamily="34" charset="-122"/>
                <a:cs typeface="Atkinson Hyperlegible Next" pitchFamily="34" charset="-120"/>
              </a:rPr>
              <a:t>HACKYEAH 2026  ·  HUBMI.PL PARTNER TASK  ·  ROPS KRAKÓW</a:t>
            </a:r>
            <a:endParaRPr lang="en-US" sz="1200" dirty="0"/>
          </a:p>
        </p:txBody>
      </p:sp>
      <p:sp>
        <p:nvSpPr>
          <p:cNvPr id="3" name="Text 1"/>
          <p:cNvSpPr txBox="1"/>
          <p:nvPr/>
        </p:nvSpPr>
        <p:spPr>
          <a:xfrm>
            <a:off x="640080" y="1234440"/>
            <a:ext cx="7498080" cy="2011680"/>
          </a:xfrm>
          <a:prstGeom prst="rect">
            <a:avLst/>
          </a:prstGeom>
          <a:noFill/>
          <a:ln/>
        </p:spPr>
        <p:txBody>
          <a:bodyPr wrap="square" lIns="0" tIns="0" rIns="0" bIns="0" rtlCol="0" anchor="t"/>
          <a:lstStyle/>
          <a:p>
            <a:pPr marL="0" indent="0">
              <a:buNone/>
            </a:pPr>
            <a:r>
              <a:rPr lang="en-US" sz="5400" b="1" dirty="0">
                <a:solidFill>
                  <a:srgbClr val="FFFFFF"/>
                </a:solidFill>
                <a:latin typeface="Atkinson Hyperlegible Next" pitchFamily="34" charset="0"/>
                <a:ea typeface="Atkinson Hyperlegible Next" pitchFamily="34" charset="-122"/>
                <a:cs typeface="Atkinson Hyperlegible Next" pitchFamily="34" charset="-120"/>
              </a:rPr>
              <a:t>HubMI: from need</a:t>
            </a:r>
            <a:endParaRPr lang="en-US" sz="5400" dirty="0"/>
          </a:p>
          <a:p>
            <a:pPr marL="0" indent="0">
              <a:buNone/>
            </a:pPr>
            <a:r>
              <a:rPr lang="en-US" sz="5400" b="1" dirty="0">
                <a:solidFill>
                  <a:srgbClr val="FFFFFF"/>
                </a:solidFill>
                <a:latin typeface="Atkinson Hyperlegible Next" pitchFamily="34" charset="0"/>
                <a:ea typeface="Atkinson Hyperlegible Next" pitchFamily="34" charset="-122"/>
                <a:cs typeface="Atkinson Hyperlegible Next" pitchFamily="34" charset="-120"/>
              </a:rPr>
              <a:t>to solution</a:t>
            </a:r>
            <a:endParaRPr lang="en-US" sz="5400" dirty="0"/>
          </a:p>
        </p:txBody>
      </p:sp>
      <p:sp>
        <p:nvSpPr>
          <p:cNvPr id="4" name="Text 2"/>
          <p:cNvSpPr txBox="1"/>
          <p:nvPr/>
        </p:nvSpPr>
        <p:spPr>
          <a:xfrm>
            <a:off x="640080" y="3108960"/>
            <a:ext cx="7498080" cy="548640"/>
          </a:xfrm>
          <a:prstGeom prst="rect">
            <a:avLst/>
          </a:prstGeom>
          <a:noFill/>
          <a:ln/>
        </p:spPr>
        <p:txBody>
          <a:bodyPr wrap="square" lIns="0" tIns="0" rIns="0" bIns="0" rtlCol="0" anchor="ctr"/>
          <a:lstStyle/>
          <a:p>
            <a:pPr marL="0" indent="0">
              <a:buNone/>
            </a:pPr>
            <a:r>
              <a:rPr lang="en-US" sz="2800" dirty="0">
                <a:solidFill>
                  <a:srgbClr val="9DC3F7"/>
                </a:solidFill>
                <a:latin typeface="Atkinson Hyperlegible Next" pitchFamily="34" charset="0"/>
                <a:ea typeface="Atkinson Hyperlegible Next" pitchFamily="34" charset="-122"/>
                <a:cs typeface="Atkinson Hyperlegible Next" pitchFamily="34" charset="-120"/>
              </a:rPr>
              <a:t>A route, not a catalogue.</a:t>
            </a:r>
            <a:endParaRPr lang="en-US" sz="2800" dirty="0"/>
          </a:p>
        </p:txBody>
      </p:sp>
      <p:sp>
        <p:nvSpPr>
          <p:cNvPr id="5" name="Text 3"/>
          <p:cNvSpPr txBox="1"/>
          <p:nvPr/>
        </p:nvSpPr>
        <p:spPr>
          <a:xfrm>
            <a:off x="640080" y="3794760"/>
            <a:ext cx="6949440" cy="1508760"/>
          </a:xfrm>
          <a:prstGeom prst="rect">
            <a:avLst/>
          </a:prstGeom>
          <a:noFill/>
          <a:ln/>
        </p:spPr>
        <p:txBody>
          <a:bodyPr wrap="square" lIns="0" tIns="0" rIns="0" bIns="0" rtlCol="0" anchor="t"/>
          <a:lstStyle/>
          <a:p>
            <a:pPr marL="0" indent="0">
              <a:lnSpc>
                <a:spcPct val="112000"/>
              </a:lnSpc>
              <a:buNone/>
            </a:pPr>
            <a:r>
              <a:rPr lang="en-US" sz="1500" dirty="0">
                <a:solidFill>
                  <a:srgbClr val="DCE6F2"/>
                </a:solidFill>
                <a:latin typeface="Atkinson Hyperlegible Next" pitchFamily="34" charset="0"/>
                <a:ea typeface="Atkinson Hyperlegible Next" pitchFamily="34" charset="-122"/>
                <a:cs typeface="Atkinson Hyperlegible Next" pitchFamily="34" charset="-120"/>
              </a:rPr>
              <a:t>A working pilot of the end-user side of the digital core that ROPS Kraków plans for the Małopolska Social Innovation Hub: a need that a resident, a social worker, an NGO leader or a municipal official describes in plain Polish becomes a route to proven solutions, knowledge, people and funding, not a list of links or a chatbot answer. The service around it is a proposed roadmap, not yet built.</a:t>
            </a:r>
            <a:endParaRPr lang="en-US" sz="1500" dirty="0"/>
          </a:p>
        </p:txBody>
      </p:sp>
      <p:sp>
        <p:nvSpPr>
          <p:cNvPr id="6" name="Text 4"/>
          <p:cNvSpPr txBox="1"/>
          <p:nvPr/>
        </p:nvSpPr>
        <p:spPr>
          <a:xfrm>
            <a:off x="640080" y="5394960"/>
            <a:ext cx="7498080" cy="914400"/>
          </a:xfrm>
          <a:prstGeom prst="rect">
            <a:avLst/>
          </a:prstGeom>
          <a:noFill/>
          <a:ln/>
        </p:spPr>
        <p:txBody>
          <a:bodyPr wrap="square" lIns="0" tIns="0" rIns="0" bIns="0" rtlCol="0" anchor="t"/>
          <a:lstStyle/>
          <a:p>
            <a:pPr marL="0" indent="0">
              <a:spcAft>
                <a:spcPts val="300"/>
              </a:spcAft>
              <a:buNone/>
            </a:pPr>
            <a:r>
              <a:rPr lang="en-US" sz="1100" b="1" kern="0" spc="200" dirty="0">
                <a:solidFill>
                  <a:srgbClr val="9DC3F7"/>
                </a:solidFill>
                <a:latin typeface="Atkinson Hyperlegible Next" pitchFamily="34" charset="0"/>
                <a:ea typeface="Atkinson Hyperlegible Next" pitchFamily="34" charset="-122"/>
                <a:cs typeface="Atkinson Hyperlegible Next" pitchFamily="34" charset="-120"/>
              </a:rPr>
              <a:t>TEAM</a:t>
            </a:r>
            <a:endParaRPr lang="en-US" sz="1400" dirty="0"/>
          </a:p>
          <a:p>
            <a:pPr marL="0" indent="0">
              <a:spcAft>
                <a:spcPts val="300"/>
              </a:spcAft>
              <a:buNone/>
            </a:pPr>
            <a:r>
              <a:rPr lang="en-US" sz="1400" dirty="0">
                <a:solidFill>
                  <a:srgbClr val="FFFFFF"/>
                </a:solidFill>
                <a:latin typeface="Atkinson Hyperlegible Next" pitchFamily="34" charset="0"/>
                <a:ea typeface="Atkinson Hyperlegible Next" pitchFamily="34" charset="-122"/>
                <a:cs typeface="Atkinson Hyperlegible Next" pitchFamily="34" charset="-120"/>
              </a:rPr>
              <a:t>Alexander Bobrovský  ·  Anton Myshelov  ·  Dmytro Chernikov</a:t>
            </a:r>
            <a:endParaRPr lang="en-US" sz="1400" dirty="0"/>
          </a:p>
          <a:p>
            <a:pPr marL="0" indent="0">
              <a:spcAft>
                <a:spcPts val="300"/>
              </a:spcAft>
              <a:buNone/>
            </a:pPr>
            <a:r>
              <a:rPr lang="en-US" sz="1400" dirty="0">
                <a:solidFill>
                  <a:srgbClr val="FFFFFF"/>
                </a:solidFill>
                <a:latin typeface="Atkinson Hyperlegible Next" pitchFamily="34" charset="0"/>
                <a:ea typeface="Atkinson Hyperlegible Next" pitchFamily="34" charset="-122"/>
                <a:cs typeface="Atkinson Hyperlegible Next" pitchFamily="34" charset="-120"/>
              </a:rPr>
              <a:t>Dmytro Ushakov  ·  Krzysztof Zając</a:t>
            </a:r>
            <a:endParaRPr lang="en-US" sz="1400" dirty="0"/>
          </a:p>
        </p:txBody>
      </p:sp>
      <p:pic>
        <p:nvPicPr>
          <p:cNvPr id="7" name="Image 0" descr="C:\Users\bobro\OneDrive\Developer\HackYeah2026\.local\presentation\source\img\phone.png"/>
          <p:cNvPicPr>
            <a:picLocks noChangeAspect="1"/>
          </p:cNvPicPr>
          <p:nvPr/>
        </p:nvPicPr>
        <p:blipFill>
          <a:blip r:embed="rId3"/>
          <a:stretch>
            <a:fillRect/>
          </a:stretch>
        </p:blipFill>
        <p:spPr>
          <a:xfrm>
            <a:off x="8380034" y="369444"/>
            <a:ext cx="3167898" cy="61191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Proven solutions exist, but they do not reach the places that need them</a:t>
            </a:r>
            <a:endParaRPr lang="en-US" sz="3200" dirty="0"/>
          </a:p>
        </p:txBody>
      </p:sp>
      <p:sp>
        <p:nvSpPr>
          <p:cNvPr id="3" name="Shape 1"/>
          <p:cNvSpPr/>
          <p:nvPr/>
        </p:nvSpPr>
        <p:spPr>
          <a:xfrm>
            <a:off x="640080" y="1691640"/>
            <a:ext cx="5760720" cy="3383280"/>
          </a:xfrm>
          <a:prstGeom prst="roundRect">
            <a:avLst>
              <a:gd name="adj" fmla="val 3243"/>
            </a:avLst>
          </a:prstGeom>
          <a:solidFill>
            <a:srgbClr val="EEF4FB"/>
          </a:solidFill>
          <a:ln w="12700">
            <a:solidFill>
              <a:srgbClr val="EEF4FB"/>
            </a:solidFill>
            <a:prstDash val="solid"/>
          </a:ln>
        </p:spPr>
      </p:sp>
      <p:sp>
        <p:nvSpPr>
          <p:cNvPr id="4" name="Text 2"/>
          <p:cNvSpPr txBox="1"/>
          <p:nvPr/>
        </p:nvSpPr>
        <p:spPr>
          <a:xfrm>
            <a:off x="914400" y="1783080"/>
            <a:ext cx="731520" cy="731520"/>
          </a:xfrm>
          <a:prstGeom prst="rect">
            <a:avLst/>
          </a:prstGeom>
          <a:noFill/>
          <a:ln/>
        </p:spPr>
        <p:txBody>
          <a:bodyPr wrap="square" lIns="0" tIns="0" rIns="0" bIns="0" rtlCol="0" anchor="t"/>
          <a:lstStyle/>
          <a:p>
            <a:pPr marL="0" indent="0">
              <a:buNone/>
            </a:pPr>
            <a:r>
              <a:rPr lang="en-US" sz="7200" b="1" dirty="0">
                <a:solidFill>
                  <a:srgbClr val="1A4B8C"/>
                </a:solidFill>
                <a:latin typeface="Georgia" pitchFamily="34" charset="0"/>
                <a:ea typeface="Georgia" pitchFamily="34" charset="-122"/>
                <a:cs typeface="Georgia" pitchFamily="34" charset="-120"/>
              </a:rPr>
              <a:t>“</a:t>
            </a:r>
            <a:endParaRPr lang="en-US" sz="7200" dirty="0"/>
          </a:p>
        </p:txBody>
      </p:sp>
      <p:sp>
        <p:nvSpPr>
          <p:cNvPr id="5" name="Text 3"/>
          <p:cNvSpPr txBox="1"/>
          <p:nvPr/>
        </p:nvSpPr>
        <p:spPr>
          <a:xfrm>
            <a:off x="960120" y="2468880"/>
            <a:ext cx="5120640" cy="2468880"/>
          </a:xfrm>
          <a:prstGeom prst="rect">
            <a:avLst/>
          </a:prstGeom>
          <a:noFill/>
          <a:ln/>
        </p:spPr>
        <p:txBody>
          <a:bodyPr wrap="square" lIns="0" tIns="0" rIns="0" bIns="0" rtlCol="0" anchor="t"/>
          <a:lstStyle/>
          <a:p>
            <a:pPr marL="0" indent="0">
              <a:lnSpc>
                <a:spcPct val="110000"/>
              </a:lnSpc>
              <a:buNone/>
            </a:pPr>
            <a:r>
              <a:rPr lang="en-US" sz="1500" i="1" dirty="0">
                <a:solidFill>
                  <a:srgbClr val="14171A"/>
                </a:solidFill>
                <a:latin typeface="Atkinson Hyperlegible Next" pitchFamily="34" charset="0"/>
                <a:ea typeface="Atkinson Hyperlegible Next" pitchFamily="34" charset="-122"/>
                <a:cs typeface="Atkinson Hyperlegible Next" pitchFamily="34" charset="-120"/>
              </a:rPr>
              <a:t>Nie chcemy kolejnego portalu, katalogu ani wyszukiwarki. Chcemy narzędzia, które potrafi połączyć problem z istniejącym rozwiązaniem, wskazać właściwą wiedzę i ludzi, a gdy rozwiązania jeszcze nie ma, pomóc znaleźć drogę do jego stworzenia.</a:t>
            </a:r>
            <a:endParaRPr lang="en-US" sz="1500" dirty="0"/>
          </a:p>
          <a:p>
            <a:pPr marL="0" indent="0">
              <a:lnSpc>
                <a:spcPct val="110000"/>
              </a:lnSpc>
              <a:spcBef>
                <a:spcPts val="1000"/>
              </a:spcBef>
              <a:buNone/>
            </a:pPr>
            <a:r>
              <a:rPr lang="en-US" sz="1300" dirty="0">
                <a:solidFill>
                  <a:srgbClr val="454D57"/>
                </a:solidFill>
                <a:latin typeface="Atkinson Hyperlegible Next" pitchFamily="34" charset="0"/>
                <a:ea typeface="Atkinson Hyperlegible Next" pitchFamily="34" charset="-122"/>
                <a:cs typeface="Atkinson Hyperlegible Next" pitchFamily="34" charset="-120"/>
              </a:rPr>
              <a:t>“We don't want another portal, catalogue or search engine. We want a tool that connects a problem to an existing solution, points to the right knowledge and people and, when no solution exists yet, helps find a way to create one.”</a:t>
            </a:r>
            <a:endParaRPr lang="en-US" sz="1500" dirty="0"/>
          </a:p>
          <a:p>
            <a:pPr marL="0" indent="0">
              <a:lnSpc>
                <a:spcPct val="110000"/>
              </a:lnSpc>
              <a:spcBef>
                <a:spcPts val="1000"/>
              </a:spcBef>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ROPS Kraków, the HubMI.pl task</a:t>
            </a:r>
            <a:endParaRPr lang="en-US" sz="1500" dirty="0"/>
          </a:p>
        </p:txBody>
      </p:sp>
      <p:sp>
        <p:nvSpPr>
          <p:cNvPr id="6" name="Text 4"/>
          <p:cNvSpPr txBox="1"/>
          <p:nvPr/>
        </p:nvSpPr>
        <p:spPr>
          <a:xfrm>
            <a:off x="6812280" y="1737360"/>
            <a:ext cx="1508760" cy="868680"/>
          </a:xfrm>
          <a:prstGeom prst="rect">
            <a:avLst/>
          </a:prstGeom>
          <a:noFill/>
          <a:ln/>
        </p:spPr>
        <p:txBody>
          <a:bodyPr wrap="square" lIns="0" tIns="0" rIns="0" bIns="0" rtlCol="0" anchor="ctr"/>
          <a:lstStyle/>
          <a:p>
            <a:pPr marL="0" indent="0" algn="r">
              <a:buNone/>
            </a:pPr>
            <a:r>
              <a:rPr lang="en-US" sz="4400" b="1" dirty="0">
                <a:solidFill>
                  <a:srgbClr val="1A4B8C"/>
                </a:solidFill>
                <a:latin typeface="Atkinson Hyperlegible Next" pitchFamily="34" charset="0"/>
                <a:ea typeface="Atkinson Hyperlegible Next" pitchFamily="34" charset="-122"/>
                <a:cs typeface="Atkinson Hyperlegible Next" pitchFamily="34" charset="-120"/>
              </a:rPr>
              <a:t>~200</a:t>
            </a:r>
            <a:endParaRPr lang="en-US" sz="4400" dirty="0"/>
          </a:p>
        </p:txBody>
      </p:sp>
      <p:sp>
        <p:nvSpPr>
          <p:cNvPr id="7" name="Text 5"/>
          <p:cNvSpPr txBox="1"/>
          <p:nvPr/>
        </p:nvSpPr>
        <p:spPr>
          <a:xfrm>
            <a:off x="8595360" y="1737360"/>
            <a:ext cx="2956255" cy="868680"/>
          </a:xfrm>
          <a:prstGeom prst="rect">
            <a:avLst/>
          </a:prstGeom>
          <a:noFill/>
          <a:ln/>
        </p:spPr>
        <p:txBody>
          <a:bodyPr wrap="square" lIns="0" tIns="0" rIns="0" bIns="0" rtlCol="0" anchor="ctr"/>
          <a:lstStyle/>
          <a:p>
            <a:pPr marL="0" indent="0">
              <a:buNone/>
            </a:pPr>
            <a:r>
              <a:rPr lang="en-US" sz="1400" dirty="0">
                <a:solidFill>
                  <a:srgbClr val="14171A"/>
                </a:solidFill>
                <a:latin typeface="Atkinson Hyperlegible Next" pitchFamily="34" charset="0"/>
                <a:ea typeface="Atkinson Hyperlegible Next" pitchFamily="34" charset="-122"/>
                <a:cs typeface="Atkinson Hyperlegible Next" pitchFamily="34" charset="-120"/>
              </a:rPr>
              <a:t>social innovations created in Małopolska in the last ten years (ROPS)</a:t>
            </a:r>
            <a:endParaRPr lang="en-US" sz="1400" dirty="0"/>
          </a:p>
        </p:txBody>
      </p:sp>
      <p:sp>
        <p:nvSpPr>
          <p:cNvPr id="8" name="Text 6"/>
          <p:cNvSpPr txBox="1"/>
          <p:nvPr/>
        </p:nvSpPr>
        <p:spPr>
          <a:xfrm>
            <a:off x="6812280" y="2834640"/>
            <a:ext cx="1508760" cy="868680"/>
          </a:xfrm>
          <a:prstGeom prst="rect">
            <a:avLst/>
          </a:prstGeom>
          <a:noFill/>
          <a:ln/>
        </p:spPr>
        <p:txBody>
          <a:bodyPr wrap="square" lIns="0" tIns="0" rIns="0" bIns="0" rtlCol="0" anchor="ctr"/>
          <a:lstStyle/>
          <a:p>
            <a:pPr marL="0" indent="0" algn="r">
              <a:buNone/>
            </a:pPr>
            <a:r>
              <a:rPr lang="en-US" sz="4400" b="1" dirty="0">
                <a:solidFill>
                  <a:srgbClr val="1A4B8C"/>
                </a:solidFill>
                <a:latin typeface="Atkinson Hyperlegible Next" pitchFamily="34" charset="0"/>
                <a:ea typeface="Atkinson Hyperlegible Next" pitchFamily="34" charset="-122"/>
                <a:cs typeface="Atkinson Hyperlegible Next" pitchFamily="34" charset="-120"/>
              </a:rPr>
              <a:t>300</a:t>
            </a:r>
            <a:endParaRPr lang="en-US" sz="4400" dirty="0"/>
          </a:p>
        </p:txBody>
      </p:sp>
      <p:sp>
        <p:nvSpPr>
          <p:cNvPr id="9" name="Text 7"/>
          <p:cNvSpPr txBox="1"/>
          <p:nvPr/>
        </p:nvSpPr>
        <p:spPr>
          <a:xfrm>
            <a:off x="8595360" y="2834640"/>
            <a:ext cx="2956255" cy="868680"/>
          </a:xfrm>
          <a:prstGeom prst="rect">
            <a:avLst/>
          </a:prstGeom>
          <a:noFill/>
          <a:ln/>
        </p:spPr>
        <p:txBody>
          <a:bodyPr wrap="square" lIns="0" tIns="0" rIns="0" bIns="0" rtlCol="0" anchor="ctr"/>
          <a:lstStyle/>
          <a:p>
            <a:pPr marL="0" indent="0">
              <a:buNone/>
            </a:pPr>
            <a:r>
              <a:rPr lang="en-US" sz="1400" dirty="0">
                <a:solidFill>
                  <a:srgbClr val="14171A"/>
                </a:solidFill>
                <a:latin typeface="Atkinson Hyperlegible Next" pitchFamily="34" charset="0"/>
                <a:ea typeface="Atkinson Hyperlegible Next" pitchFamily="34" charset="-122"/>
                <a:cs typeface="Atkinson Hyperlegible Next" pitchFamily="34" charset="-120"/>
              </a:rPr>
              <a:t>innovations in the national base innowacjespoleczne.pl, 115 in the ROPS library</a:t>
            </a:r>
            <a:endParaRPr lang="en-US" sz="1400" dirty="0"/>
          </a:p>
        </p:txBody>
      </p:sp>
      <p:sp>
        <p:nvSpPr>
          <p:cNvPr id="10" name="Text 8"/>
          <p:cNvSpPr txBox="1"/>
          <p:nvPr/>
        </p:nvSpPr>
        <p:spPr>
          <a:xfrm>
            <a:off x="6812280" y="3931920"/>
            <a:ext cx="1508760" cy="868680"/>
          </a:xfrm>
          <a:prstGeom prst="rect">
            <a:avLst/>
          </a:prstGeom>
          <a:noFill/>
          <a:ln/>
        </p:spPr>
        <p:txBody>
          <a:bodyPr wrap="square" lIns="0" tIns="0" rIns="0" bIns="0" rtlCol="0" anchor="ctr"/>
          <a:lstStyle/>
          <a:p>
            <a:pPr marL="0" indent="0" algn="r">
              <a:buNone/>
            </a:pPr>
            <a:r>
              <a:rPr lang="en-US" sz="4400" b="1" dirty="0">
                <a:solidFill>
                  <a:srgbClr val="1A4B8C"/>
                </a:solidFill>
                <a:latin typeface="Atkinson Hyperlegible Next" pitchFamily="34" charset="0"/>
                <a:ea typeface="Atkinson Hyperlegible Next" pitchFamily="34" charset="-122"/>
                <a:cs typeface="Atkinson Hyperlegible Next" pitchFamily="34" charset="-120"/>
              </a:rPr>
              <a:t>183</a:t>
            </a:r>
            <a:endParaRPr lang="en-US" sz="4400" dirty="0"/>
          </a:p>
        </p:txBody>
      </p:sp>
      <p:sp>
        <p:nvSpPr>
          <p:cNvPr id="11" name="Text 9"/>
          <p:cNvSpPr txBox="1"/>
          <p:nvPr/>
        </p:nvSpPr>
        <p:spPr>
          <a:xfrm>
            <a:off x="8595360" y="3931920"/>
            <a:ext cx="2956255" cy="868680"/>
          </a:xfrm>
          <a:prstGeom prst="rect">
            <a:avLst/>
          </a:prstGeom>
          <a:noFill/>
          <a:ln/>
        </p:spPr>
        <p:txBody>
          <a:bodyPr wrap="square" lIns="0" tIns="0" rIns="0" bIns="0" rtlCol="0" anchor="ctr"/>
          <a:lstStyle/>
          <a:p>
            <a:pPr marL="0" indent="0">
              <a:buNone/>
            </a:pPr>
            <a:r>
              <a:rPr lang="en-US" sz="1400" dirty="0">
                <a:solidFill>
                  <a:srgbClr val="14171A"/>
                </a:solidFill>
                <a:latin typeface="Atkinson Hyperlegible Next" pitchFamily="34" charset="0"/>
                <a:ea typeface="Atkinson Hyperlegible Next" pitchFamily="34" charset="-122"/>
                <a:cs typeface="Atkinson Hyperlegible Next" pitchFamily="34" charset="-120"/>
              </a:rPr>
              <a:t>gminas in Małopolska, each with its own needs and none with a guide to what already works</a:t>
            </a:r>
            <a:endParaRPr lang="en-US" sz="1400" dirty="0"/>
          </a:p>
        </p:txBody>
      </p:sp>
      <p:sp>
        <p:nvSpPr>
          <p:cNvPr id="12" name="Shape 10"/>
          <p:cNvSpPr/>
          <p:nvPr/>
        </p:nvSpPr>
        <p:spPr>
          <a:xfrm>
            <a:off x="640080" y="5257800"/>
            <a:ext cx="10911535" cy="960120"/>
          </a:xfrm>
          <a:prstGeom prst="roundRect">
            <a:avLst>
              <a:gd name="adj" fmla="val 11429"/>
            </a:avLst>
          </a:prstGeom>
          <a:solidFill>
            <a:srgbClr val="F3F5F8"/>
          </a:solidFill>
          <a:ln w="12700">
            <a:solidFill>
              <a:srgbClr val="F3F5F8"/>
            </a:solidFill>
            <a:prstDash val="solid"/>
          </a:ln>
        </p:spPr>
      </p:sp>
      <p:sp>
        <p:nvSpPr>
          <p:cNvPr id="13" name="Text 11"/>
          <p:cNvSpPr txBox="1"/>
          <p:nvPr/>
        </p:nvSpPr>
        <p:spPr>
          <a:xfrm>
            <a:off x="914400" y="5257800"/>
            <a:ext cx="10362895" cy="960120"/>
          </a:xfrm>
          <a:prstGeom prst="rect">
            <a:avLst/>
          </a:prstGeom>
          <a:noFill/>
          <a:ln/>
        </p:spPr>
        <p:txBody>
          <a:bodyPr wrap="square" lIns="0" tIns="0" rIns="0" bIns="0" rtlCol="0" anchor="ctr"/>
          <a:lstStyle/>
          <a:p>
            <a:pPr marL="0" indent="0">
              <a:buNone/>
            </a:pPr>
            <a:r>
              <a:rPr lang="en-US" sz="1500" b="1" dirty="0">
                <a:solidFill>
                  <a:srgbClr val="1A4B8C"/>
                </a:solidFill>
                <a:latin typeface="Atkinson Hyperlegible Next" pitchFamily="34" charset="0"/>
                <a:ea typeface="Atkinson Hyperlegible Next" pitchFamily="34" charset="-122"/>
                <a:cs typeface="Atkinson Hyperlegible Next" pitchFamily="34" charset="-120"/>
              </a:rPr>
              <a:t>The gap.  </a:t>
            </a:r>
            <a:r>
              <a:rPr lang="en-US" sz="1500" dirty="0">
                <a:solidFill>
                  <a:srgbClr val="14171A"/>
                </a:solidFill>
                <a:latin typeface="Atkinson Hyperlegible Next" pitchFamily="34" charset="0"/>
                <a:ea typeface="Atkinson Hyperlegible Next" pitchFamily="34" charset="-122"/>
                <a:cs typeface="Atkinson Hyperlegible Next" pitchFamily="34" charset="-120"/>
              </a:rPr>
              <a:t>The catalogues are browsed by title and category, and none of them takes a local problem as the question. The incubators choose their next topics without a record of the needs nobody could meet.</a:t>
            </a:r>
            <a:endParaRPr lang="en-US" sz="1500" dirty="0"/>
          </a:p>
        </p:txBody>
      </p:sp>
      <p:sp>
        <p:nvSpPr>
          <p:cNvPr id="14" name="Text 12"/>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Describe a need, get a route</a:t>
            </a:r>
            <a:endParaRPr lang="en-US" sz="3200" dirty="0"/>
          </a:p>
          <a:p>
            <a:pPr marL="0" indent="0">
              <a:spcBef>
                <a:spcPts val="600"/>
              </a:spcBef>
              <a:buNone/>
            </a:pPr>
            <a:r>
              <a:rPr lang="en-US" sz="1600" dirty="0">
                <a:solidFill>
                  <a:srgbClr val="454D57"/>
                </a:solidFill>
                <a:latin typeface="Atkinson Hyperlegible Next" pitchFamily="34" charset="0"/>
                <a:ea typeface="Atkinson Hyperlegible Next" pitchFamily="34" charset="-122"/>
                <a:cs typeface="Atkinson Hyperlegible Next" pitchFamily="34" charset="-120"/>
              </a:rPr>
              <a:t>A live result of the prototype: one need, one place, four blocks and three next steps</a:t>
            </a:r>
            <a:endParaRPr lang="en-US" sz="3200" dirty="0"/>
          </a:p>
        </p:txBody>
      </p:sp>
      <p:sp>
        <p:nvSpPr>
          <p:cNvPr id="3" name="Text 1"/>
          <p:cNvSpPr txBox="1"/>
          <p:nvPr/>
        </p:nvSpPr>
        <p:spPr>
          <a:xfrm>
            <a:off x="640080" y="1600200"/>
            <a:ext cx="3017520" cy="274320"/>
          </a:xfrm>
          <a:prstGeom prst="rect">
            <a:avLst/>
          </a:prstGeom>
          <a:noFill/>
          <a:ln/>
        </p:spPr>
        <p:txBody>
          <a:bodyPr wrap="square" lIns="0" tIns="0" rIns="0" bIns="0" rtlCol="0" anchor="ctr"/>
          <a:lstStyle/>
          <a:p>
            <a:pPr marL="0" indent="0">
              <a:buNone/>
            </a:pPr>
            <a:r>
              <a:rPr lang="en-US" sz="1100" b="1" kern="0" spc="100" dirty="0">
                <a:solidFill>
                  <a:srgbClr val="454D57"/>
                </a:solidFill>
                <a:latin typeface="Atkinson Hyperlegible Next" pitchFamily="34" charset="0"/>
                <a:ea typeface="Atkinson Hyperlegible Next" pitchFamily="34" charset="-122"/>
                <a:cs typeface="Atkinson Hyperlegible Next" pitchFamily="34" charset="-120"/>
              </a:rPr>
              <a:t>THE NEED  ·  TEST PROBLEM P01</a:t>
            </a:r>
            <a:endParaRPr lang="en-US" sz="1100" dirty="0"/>
          </a:p>
        </p:txBody>
      </p:sp>
      <p:sp>
        <p:nvSpPr>
          <p:cNvPr id="4" name="Shape 2"/>
          <p:cNvSpPr/>
          <p:nvPr/>
        </p:nvSpPr>
        <p:spPr>
          <a:xfrm>
            <a:off x="640080" y="1965960"/>
            <a:ext cx="3017520" cy="3474720"/>
          </a:xfrm>
          <a:prstGeom prst="roundRect">
            <a:avLst>
              <a:gd name="adj" fmla="val 3636"/>
            </a:avLst>
          </a:prstGeom>
          <a:solidFill>
            <a:srgbClr val="EEF4FB"/>
          </a:solidFill>
          <a:ln w="12700">
            <a:solidFill>
              <a:srgbClr val="EEF4FB"/>
            </a:solidFill>
            <a:prstDash val="solid"/>
          </a:ln>
        </p:spPr>
      </p:sp>
      <p:sp>
        <p:nvSpPr>
          <p:cNvPr id="5" name="Text 3"/>
          <p:cNvSpPr txBox="1"/>
          <p:nvPr/>
        </p:nvSpPr>
        <p:spPr>
          <a:xfrm>
            <a:off x="841248" y="2103120"/>
            <a:ext cx="2615184" cy="2514600"/>
          </a:xfrm>
          <a:prstGeom prst="rect">
            <a:avLst/>
          </a:prstGeom>
          <a:noFill/>
          <a:ln/>
        </p:spPr>
        <p:txBody>
          <a:bodyPr wrap="square" lIns="0" tIns="0" rIns="0" bIns="0" rtlCol="0" anchor="t"/>
          <a:lstStyle/>
          <a:p>
            <a:pPr marL="0" indent="0">
              <a:lnSpc>
                <a:spcPct val="110000"/>
              </a:lnSpc>
              <a:buNone/>
            </a:pPr>
            <a:r>
              <a:rPr lang="en-US" sz="1300" i="1" dirty="0">
                <a:solidFill>
                  <a:srgbClr val="14171A"/>
                </a:solidFill>
                <a:latin typeface="Atkinson Hyperlegible Next" pitchFamily="34" charset="0"/>
                <a:ea typeface="Atkinson Hyperlegible Next" pitchFamily="34" charset="-122"/>
                <a:cs typeface="Atkinson Hyperlegible Next" pitchFamily="34" charset="-120"/>
              </a:rPr>
              <a:t>„Coraz więcej samotnych seniorów w naszej gminie. Nie ma domu dziennego pobytu ani klubu seniora, a sąsiedzi zgłaszają, że starsze osoby nie wychodzą z domu i nie mają z kim porozmawiać. Gmina ma świetlicę wiejską wolną trzy dni w tygodniu.”</a:t>
            </a:r>
            <a:endParaRPr lang="en-US" sz="1300" dirty="0"/>
          </a:p>
          <a:p>
            <a:pPr marL="0" indent="0">
              <a:lnSpc>
                <a:spcPct val="110000"/>
              </a:lnSpc>
              <a:spcBef>
                <a:spcPts val="800"/>
              </a:spcBef>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Lonely seniors stay at home, no day centre or club; a village hall is free three days a week.</a:t>
            </a:r>
            <a:endParaRPr lang="en-US" sz="1300" dirty="0"/>
          </a:p>
        </p:txBody>
      </p:sp>
      <p:sp>
        <p:nvSpPr>
          <p:cNvPr id="6" name="Text 4"/>
          <p:cNvSpPr txBox="1"/>
          <p:nvPr/>
        </p:nvSpPr>
        <p:spPr>
          <a:xfrm>
            <a:off x="841248" y="4800600"/>
            <a:ext cx="2615184" cy="594360"/>
          </a:xfrm>
          <a:prstGeom prst="rect">
            <a:avLst/>
          </a:prstGeom>
          <a:noFill/>
          <a:ln/>
        </p:spPr>
        <p:txBody>
          <a:bodyPr wrap="square" lIns="0" tIns="0" rIns="0" bIns="0" rtlCol="0" anchor="t"/>
          <a:lstStyle/>
          <a:p>
            <a:pPr marL="0" indent="0">
              <a:spcAft>
                <a:spcPts val="200"/>
              </a:spcAft>
              <a:buNone/>
            </a:pPr>
            <a:r>
              <a:rPr lang="en-US" sz="1300" dirty="0">
                <a:solidFill>
                  <a:srgbClr val="454D57"/>
                </a:solidFill>
                <a:latin typeface="Atkinson Hyperlegible Next" pitchFamily="34" charset="0"/>
                <a:ea typeface="Atkinson Hyperlegible Next" pitchFamily="34" charset="-122"/>
                <a:cs typeface="Atkinson Hyperlegible Next" pitchFamily="34" charset="-120"/>
              </a:rPr>
              <a:t>Place  </a:t>
            </a:r>
            <a:r>
              <a:rPr lang="en-US" sz="1300" b="1" dirty="0">
                <a:solidFill>
                  <a:srgbClr val="14171A"/>
                </a:solidFill>
                <a:latin typeface="Atkinson Hyperlegible Next" pitchFamily="34" charset="0"/>
                <a:ea typeface="Atkinson Hyperlegible Next" pitchFamily="34" charset="-122"/>
                <a:cs typeface="Atkinson Hyperlegible Next" pitchFamily="34" charset="-120"/>
              </a:rPr>
              <a:t>gmina Laskowa</a:t>
            </a:r>
            <a:endParaRPr lang="en-US" sz="1300" dirty="0"/>
          </a:p>
          <a:p>
            <a:pPr marL="0" indent="0">
              <a:spcAft>
                <a:spcPts val="200"/>
              </a:spcAft>
              <a:buNone/>
            </a:pPr>
            <a:r>
              <a:rPr lang="en-US" sz="1300" dirty="0">
                <a:solidFill>
                  <a:srgbClr val="454D57"/>
                </a:solidFill>
                <a:latin typeface="Atkinson Hyperlegible Next" pitchFamily="34" charset="0"/>
                <a:ea typeface="Atkinson Hyperlegible Next" pitchFamily="34" charset="-122"/>
                <a:cs typeface="Atkinson Hyperlegible Next" pitchFamily="34" charset="-120"/>
              </a:rPr>
              <a:t>Who  </a:t>
            </a:r>
            <a:r>
              <a:rPr lang="en-US" sz="1300" b="1" dirty="0">
                <a:solidFill>
                  <a:srgbClr val="14171A"/>
                </a:solidFill>
                <a:latin typeface="Atkinson Hyperlegible Next" pitchFamily="34" charset="0"/>
                <a:ea typeface="Atkinson Hyperlegible Next" pitchFamily="34" charset="-122"/>
                <a:cs typeface="Atkinson Hyperlegible Next" pitchFamily="34" charset="-120"/>
              </a:rPr>
              <a:t>a social worker</a:t>
            </a:r>
            <a:endParaRPr lang="en-US" sz="1300" dirty="0"/>
          </a:p>
        </p:txBody>
      </p:sp>
      <p:sp>
        <p:nvSpPr>
          <p:cNvPr id="7" name="Shape 5"/>
          <p:cNvSpPr/>
          <p:nvPr/>
        </p:nvSpPr>
        <p:spPr>
          <a:xfrm>
            <a:off x="2971800" y="5705856"/>
            <a:ext cx="685800" cy="384048"/>
          </a:xfrm>
          <a:prstGeom prst="rightArrow">
            <a:avLst/>
          </a:prstGeom>
          <a:solidFill>
            <a:srgbClr val="1A4B8C"/>
          </a:solidFill>
          <a:ln w="12700">
            <a:solidFill>
              <a:srgbClr val="1A4B8C"/>
            </a:solidFill>
            <a:prstDash val="solid"/>
          </a:ln>
        </p:spPr>
      </p:sp>
      <p:sp>
        <p:nvSpPr>
          <p:cNvPr id="8" name="Text 6"/>
          <p:cNvSpPr txBox="1"/>
          <p:nvPr/>
        </p:nvSpPr>
        <p:spPr>
          <a:xfrm>
            <a:off x="640080" y="5577840"/>
            <a:ext cx="2194560" cy="640080"/>
          </a:xfrm>
          <a:prstGeom prst="rect">
            <a:avLst/>
          </a:prstGeom>
          <a:noFill/>
          <a:ln/>
        </p:spPr>
        <p:txBody>
          <a:bodyPr wrap="square" lIns="0" tIns="0" rIns="0" bIns="0" rtlCol="0" anchor="ct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Every quote is checked against its entry. Generated text is labelled.</a:t>
            </a:r>
            <a:endParaRPr lang="en-US" sz="1200" dirty="0"/>
          </a:p>
        </p:txBody>
      </p:sp>
      <p:sp>
        <p:nvSpPr>
          <p:cNvPr id="9" name="Shape 7"/>
          <p:cNvSpPr/>
          <p:nvPr/>
        </p:nvSpPr>
        <p:spPr>
          <a:xfrm>
            <a:off x="3977640" y="1600200"/>
            <a:ext cx="292608" cy="292608"/>
          </a:xfrm>
          <a:prstGeom prst="ellipse">
            <a:avLst/>
          </a:prstGeom>
          <a:solidFill>
            <a:srgbClr val="FFFFFF"/>
          </a:solidFill>
          <a:ln w="19050">
            <a:solidFill>
              <a:srgbClr val="1A4B8C"/>
            </a:solidFill>
            <a:prstDash val="solid"/>
          </a:ln>
        </p:spPr>
      </p:sp>
      <p:sp>
        <p:nvSpPr>
          <p:cNvPr id="10" name="Text 8"/>
          <p:cNvSpPr txBox="1"/>
          <p:nvPr/>
        </p:nvSpPr>
        <p:spPr>
          <a:xfrm>
            <a:off x="3977640" y="1600200"/>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1</a:t>
            </a:r>
            <a:endParaRPr lang="en-US" sz="1200" dirty="0"/>
          </a:p>
        </p:txBody>
      </p:sp>
      <p:sp>
        <p:nvSpPr>
          <p:cNvPr id="11" name="Text 9"/>
          <p:cNvSpPr txBox="1"/>
          <p:nvPr/>
        </p:nvSpPr>
        <p:spPr>
          <a:xfrm>
            <a:off x="4361688" y="1600200"/>
            <a:ext cx="3288640" cy="292608"/>
          </a:xfrm>
          <a:prstGeom prst="rect">
            <a:avLst/>
          </a:prstGeom>
          <a:noFill/>
          <a:ln/>
        </p:spPr>
        <p:txBody>
          <a:bodyPr wrap="square" lIns="0" tIns="0" rIns="0" bIns="0" rtlCol="0" anchor="ctr"/>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Solutions  </a:t>
            </a:r>
            <a:r>
              <a:rPr lang="en-US" sz="1100" dirty="0">
                <a:solidFill>
                  <a:srgbClr val="454D57"/>
                </a:solidFill>
                <a:latin typeface="Atkinson Hyperlegible Next" pitchFamily="34" charset="0"/>
                <a:ea typeface="Atkinson Hyperlegible Next" pitchFamily="34" charset="-122"/>
                <a:cs typeface="Atkinson Hyperlegible Next" pitchFamily="34" charset="-120"/>
              </a:rPr>
              <a:t>why each fits, what it takes</a:t>
            </a:r>
            <a:endParaRPr lang="en-US" sz="1400" dirty="0"/>
          </a:p>
        </p:txBody>
      </p:sp>
      <p:sp>
        <p:nvSpPr>
          <p:cNvPr id="12" name="Shape 10"/>
          <p:cNvSpPr/>
          <p:nvPr/>
        </p:nvSpPr>
        <p:spPr>
          <a:xfrm>
            <a:off x="3977640" y="1984248"/>
            <a:ext cx="3672688" cy="1904921"/>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13" name="Image 0" descr="C:\Users\bobro\OneDrive\Developer\HackYeah2026\.local\presentation\source\img\b-solution.png"/>
          <p:cNvPicPr>
            <a:picLocks noChangeAspect="1"/>
          </p:cNvPicPr>
          <p:nvPr/>
        </p:nvPicPr>
        <p:blipFill>
          <a:blip r:embed="rId3"/>
          <a:stretch>
            <a:fillRect/>
          </a:stretch>
        </p:blipFill>
        <p:spPr>
          <a:xfrm>
            <a:off x="3977640" y="1984248"/>
            <a:ext cx="3672688" cy="1904921"/>
          </a:xfrm>
          <a:prstGeom prst="rect">
            <a:avLst/>
          </a:prstGeom>
        </p:spPr>
      </p:pic>
      <p:sp>
        <p:nvSpPr>
          <p:cNvPr id="14" name="Shape 11"/>
          <p:cNvSpPr/>
          <p:nvPr/>
        </p:nvSpPr>
        <p:spPr>
          <a:xfrm>
            <a:off x="3977640" y="1984248"/>
            <a:ext cx="3672688" cy="1904921"/>
          </a:xfrm>
          <a:prstGeom prst="rect">
            <a:avLst/>
          </a:prstGeom>
          <a:solidFill>
            <a:srgbClr val="FFFFFF">
              <a:alpha val="0"/>
            </a:srgbClr>
          </a:solidFill>
          <a:ln w="9525">
            <a:solidFill>
              <a:srgbClr val="C3CAD3"/>
            </a:solidFill>
            <a:prstDash val="solid"/>
          </a:ln>
        </p:spPr>
      </p:sp>
      <p:sp>
        <p:nvSpPr>
          <p:cNvPr id="15" name="Shape 12"/>
          <p:cNvSpPr/>
          <p:nvPr/>
        </p:nvSpPr>
        <p:spPr>
          <a:xfrm>
            <a:off x="7878928" y="1600200"/>
            <a:ext cx="292608" cy="292608"/>
          </a:xfrm>
          <a:prstGeom prst="ellipse">
            <a:avLst/>
          </a:prstGeom>
          <a:solidFill>
            <a:srgbClr val="FFFFFF"/>
          </a:solidFill>
          <a:ln w="19050">
            <a:solidFill>
              <a:srgbClr val="1A4B8C"/>
            </a:solidFill>
            <a:prstDash val="solid"/>
          </a:ln>
        </p:spPr>
      </p:sp>
      <p:sp>
        <p:nvSpPr>
          <p:cNvPr id="16" name="Text 13"/>
          <p:cNvSpPr txBox="1"/>
          <p:nvPr/>
        </p:nvSpPr>
        <p:spPr>
          <a:xfrm>
            <a:off x="7878928" y="1600200"/>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2</a:t>
            </a:r>
            <a:endParaRPr lang="en-US" sz="1200" dirty="0"/>
          </a:p>
        </p:txBody>
      </p:sp>
      <p:sp>
        <p:nvSpPr>
          <p:cNvPr id="17" name="Text 14"/>
          <p:cNvSpPr txBox="1"/>
          <p:nvPr/>
        </p:nvSpPr>
        <p:spPr>
          <a:xfrm>
            <a:off x="8262976" y="1600200"/>
            <a:ext cx="3288640" cy="292608"/>
          </a:xfrm>
          <a:prstGeom prst="rect">
            <a:avLst/>
          </a:prstGeom>
          <a:noFill/>
          <a:ln/>
        </p:spPr>
        <p:txBody>
          <a:bodyPr wrap="square" lIns="0" tIns="0" rIns="0" bIns="0" rtlCol="0" anchor="ctr"/>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Knowledge  </a:t>
            </a:r>
            <a:r>
              <a:rPr lang="en-US" sz="1100" dirty="0">
                <a:solidFill>
                  <a:srgbClr val="454D57"/>
                </a:solidFill>
                <a:latin typeface="Atkinson Hyperlegible Next" pitchFamily="34" charset="0"/>
                <a:ea typeface="Atkinson Hyperlegible Next" pitchFamily="34" charset="-122"/>
                <a:cs typeface="Atkinson Hyperlegible Next" pitchFamily="34" charset="-120"/>
              </a:rPr>
              <a:t>manuals and models to start</a:t>
            </a:r>
            <a:endParaRPr lang="en-US" sz="1400" dirty="0"/>
          </a:p>
        </p:txBody>
      </p:sp>
      <p:sp>
        <p:nvSpPr>
          <p:cNvPr id="18" name="Shape 15"/>
          <p:cNvSpPr/>
          <p:nvPr/>
        </p:nvSpPr>
        <p:spPr>
          <a:xfrm>
            <a:off x="7878928" y="1984248"/>
            <a:ext cx="3672688" cy="1904921"/>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19" name="Image 1" descr="C:\Users\bobro\OneDrive\Developer\HackYeah2026\.local\presentation\source\img\b-knowledge.png"/>
          <p:cNvPicPr>
            <a:picLocks noChangeAspect="1"/>
          </p:cNvPicPr>
          <p:nvPr/>
        </p:nvPicPr>
        <p:blipFill>
          <a:blip r:embed="rId4"/>
          <a:stretch>
            <a:fillRect/>
          </a:stretch>
        </p:blipFill>
        <p:spPr>
          <a:xfrm>
            <a:off x="7878928" y="1984248"/>
            <a:ext cx="3672688" cy="1904921"/>
          </a:xfrm>
          <a:prstGeom prst="rect">
            <a:avLst/>
          </a:prstGeom>
        </p:spPr>
      </p:pic>
      <p:sp>
        <p:nvSpPr>
          <p:cNvPr id="20" name="Shape 16"/>
          <p:cNvSpPr/>
          <p:nvPr/>
        </p:nvSpPr>
        <p:spPr>
          <a:xfrm>
            <a:off x="7878928" y="1984248"/>
            <a:ext cx="3672688" cy="1904921"/>
          </a:xfrm>
          <a:prstGeom prst="rect">
            <a:avLst/>
          </a:prstGeom>
          <a:solidFill>
            <a:srgbClr val="FFFFFF">
              <a:alpha val="0"/>
            </a:srgbClr>
          </a:solidFill>
          <a:ln w="9525">
            <a:solidFill>
              <a:srgbClr val="C3CAD3"/>
            </a:solidFill>
            <a:prstDash val="solid"/>
          </a:ln>
        </p:spPr>
      </p:sp>
      <p:sp>
        <p:nvSpPr>
          <p:cNvPr id="21" name="Shape 17"/>
          <p:cNvSpPr/>
          <p:nvPr/>
        </p:nvSpPr>
        <p:spPr>
          <a:xfrm>
            <a:off x="3977640" y="4099481"/>
            <a:ext cx="292608" cy="292608"/>
          </a:xfrm>
          <a:prstGeom prst="ellipse">
            <a:avLst/>
          </a:prstGeom>
          <a:solidFill>
            <a:srgbClr val="FFFFFF"/>
          </a:solidFill>
          <a:ln w="19050">
            <a:solidFill>
              <a:srgbClr val="1A4B8C"/>
            </a:solidFill>
            <a:prstDash val="solid"/>
          </a:ln>
        </p:spPr>
      </p:sp>
      <p:sp>
        <p:nvSpPr>
          <p:cNvPr id="22" name="Text 18"/>
          <p:cNvSpPr txBox="1"/>
          <p:nvPr/>
        </p:nvSpPr>
        <p:spPr>
          <a:xfrm>
            <a:off x="3977640" y="4099481"/>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3</a:t>
            </a:r>
            <a:endParaRPr lang="en-US" sz="1200" dirty="0"/>
          </a:p>
        </p:txBody>
      </p:sp>
      <p:sp>
        <p:nvSpPr>
          <p:cNvPr id="23" name="Text 19"/>
          <p:cNvSpPr txBox="1"/>
          <p:nvPr/>
        </p:nvSpPr>
        <p:spPr>
          <a:xfrm>
            <a:off x="4361688" y="4099481"/>
            <a:ext cx="3288640" cy="292608"/>
          </a:xfrm>
          <a:prstGeom prst="rect">
            <a:avLst/>
          </a:prstGeom>
          <a:noFill/>
          <a:ln/>
        </p:spPr>
        <p:txBody>
          <a:bodyPr wrap="square" lIns="0" tIns="0" rIns="0" bIns="0" rtlCol="0" anchor="ctr"/>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People  </a:t>
            </a:r>
            <a:r>
              <a:rPr lang="en-US" sz="1100" dirty="0">
                <a:solidFill>
                  <a:srgbClr val="454D57"/>
                </a:solidFill>
                <a:latin typeface="Atkinson Hyperlegible Next" pitchFamily="34" charset="0"/>
                <a:ea typeface="Atkinson Hyperlegible Next" pitchFamily="34" charset="-122"/>
                <a:cs typeface="Atkinson Hyperlegible Next" pitchFamily="34" charset="-120"/>
              </a:rPr>
              <a:t>authors, ROPS advisor, helpers</a:t>
            </a:r>
            <a:endParaRPr lang="en-US" sz="1400" dirty="0"/>
          </a:p>
        </p:txBody>
      </p:sp>
      <p:sp>
        <p:nvSpPr>
          <p:cNvPr id="24" name="Shape 20"/>
          <p:cNvSpPr/>
          <p:nvPr/>
        </p:nvSpPr>
        <p:spPr>
          <a:xfrm>
            <a:off x="3977640" y="4483529"/>
            <a:ext cx="3672688" cy="1904921"/>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25" name="Image 2" descr="C:\Users\bobro\OneDrive\Developer\HackYeah2026\.local\presentation\source\img\b-people.png"/>
          <p:cNvPicPr>
            <a:picLocks noChangeAspect="1"/>
          </p:cNvPicPr>
          <p:nvPr/>
        </p:nvPicPr>
        <p:blipFill>
          <a:blip r:embed="rId5"/>
          <a:stretch>
            <a:fillRect/>
          </a:stretch>
        </p:blipFill>
        <p:spPr>
          <a:xfrm>
            <a:off x="3977640" y="4483529"/>
            <a:ext cx="3672688" cy="1904921"/>
          </a:xfrm>
          <a:prstGeom prst="rect">
            <a:avLst/>
          </a:prstGeom>
        </p:spPr>
      </p:pic>
      <p:sp>
        <p:nvSpPr>
          <p:cNvPr id="26" name="Shape 21"/>
          <p:cNvSpPr/>
          <p:nvPr/>
        </p:nvSpPr>
        <p:spPr>
          <a:xfrm>
            <a:off x="3977640" y="4483529"/>
            <a:ext cx="3672688" cy="1904921"/>
          </a:xfrm>
          <a:prstGeom prst="rect">
            <a:avLst/>
          </a:prstGeom>
          <a:solidFill>
            <a:srgbClr val="FFFFFF">
              <a:alpha val="0"/>
            </a:srgbClr>
          </a:solidFill>
          <a:ln w="9525">
            <a:solidFill>
              <a:srgbClr val="C3CAD3"/>
            </a:solidFill>
            <a:prstDash val="solid"/>
          </a:ln>
        </p:spPr>
      </p:sp>
      <p:sp>
        <p:nvSpPr>
          <p:cNvPr id="27" name="Shape 22"/>
          <p:cNvSpPr/>
          <p:nvPr/>
        </p:nvSpPr>
        <p:spPr>
          <a:xfrm>
            <a:off x="7878928" y="4099481"/>
            <a:ext cx="292608" cy="292608"/>
          </a:xfrm>
          <a:prstGeom prst="ellipse">
            <a:avLst/>
          </a:prstGeom>
          <a:solidFill>
            <a:srgbClr val="FFFFFF"/>
          </a:solidFill>
          <a:ln w="19050">
            <a:solidFill>
              <a:srgbClr val="1A4B8C"/>
            </a:solidFill>
            <a:prstDash val="solid"/>
          </a:ln>
        </p:spPr>
      </p:sp>
      <p:sp>
        <p:nvSpPr>
          <p:cNvPr id="28" name="Text 23"/>
          <p:cNvSpPr txBox="1"/>
          <p:nvPr/>
        </p:nvSpPr>
        <p:spPr>
          <a:xfrm>
            <a:off x="7878928" y="4099481"/>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4</a:t>
            </a:r>
            <a:endParaRPr lang="en-US" sz="1200" dirty="0"/>
          </a:p>
        </p:txBody>
      </p:sp>
      <p:sp>
        <p:nvSpPr>
          <p:cNvPr id="29" name="Text 24"/>
          <p:cNvSpPr txBox="1"/>
          <p:nvPr/>
        </p:nvSpPr>
        <p:spPr>
          <a:xfrm>
            <a:off x="8262976" y="4099481"/>
            <a:ext cx="3288640" cy="292608"/>
          </a:xfrm>
          <a:prstGeom prst="rect">
            <a:avLst/>
          </a:prstGeom>
          <a:noFill/>
          <a:ln/>
        </p:spPr>
        <p:txBody>
          <a:bodyPr wrap="square" lIns="0" tIns="0" rIns="0" bIns="0" rtlCol="0" anchor="ctr"/>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Implementation path  </a:t>
            </a:r>
            <a:r>
              <a:rPr lang="en-US" sz="1100" dirty="0">
                <a:solidFill>
                  <a:srgbClr val="454D57"/>
                </a:solidFill>
                <a:latin typeface="Atkinson Hyperlegible Next" pitchFamily="34" charset="0"/>
                <a:ea typeface="Atkinson Hyperlegible Next" pitchFamily="34" charset="-122"/>
                <a:cs typeface="Atkinson Hyperlegible Next" pitchFamily="34" charset="-120"/>
              </a:rPr>
              <a:t>funding and steps</a:t>
            </a:r>
            <a:endParaRPr lang="en-US" sz="1400" dirty="0"/>
          </a:p>
        </p:txBody>
      </p:sp>
      <p:sp>
        <p:nvSpPr>
          <p:cNvPr id="30" name="Shape 25"/>
          <p:cNvSpPr/>
          <p:nvPr/>
        </p:nvSpPr>
        <p:spPr>
          <a:xfrm>
            <a:off x="7878928" y="4483529"/>
            <a:ext cx="3672688" cy="1904921"/>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31" name="Image 3" descr="C:\Users\bobro\OneDrive\Developer\HackYeah2026\.local\presentation\source\img\b-path.png"/>
          <p:cNvPicPr>
            <a:picLocks noChangeAspect="1"/>
          </p:cNvPicPr>
          <p:nvPr/>
        </p:nvPicPr>
        <p:blipFill>
          <a:blip r:embed="rId6"/>
          <a:stretch>
            <a:fillRect/>
          </a:stretch>
        </p:blipFill>
        <p:spPr>
          <a:xfrm>
            <a:off x="7878928" y="4483529"/>
            <a:ext cx="3672688" cy="1904921"/>
          </a:xfrm>
          <a:prstGeom prst="rect">
            <a:avLst/>
          </a:prstGeom>
        </p:spPr>
      </p:pic>
      <p:sp>
        <p:nvSpPr>
          <p:cNvPr id="32" name="Shape 26"/>
          <p:cNvSpPr/>
          <p:nvPr/>
        </p:nvSpPr>
        <p:spPr>
          <a:xfrm>
            <a:off x="7878928" y="4483529"/>
            <a:ext cx="3672688" cy="1904921"/>
          </a:xfrm>
          <a:prstGeom prst="rect">
            <a:avLst/>
          </a:prstGeom>
          <a:solidFill>
            <a:srgbClr val="FFFFFF">
              <a:alpha val="0"/>
            </a:srgbClr>
          </a:solidFill>
          <a:ln w="9525">
            <a:solidFill>
              <a:srgbClr val="C3CAD3"/>
            </a:solidFill>
            <a:prstDash val="solid"/>
          </a:ln>
        </p:spPr>
      </p:sp>
      <p:sp>
        <p:nvSpPr>
          <p:cNvPr id="33" name="Text 27"/>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Not a search engine, not a chatbot over documents</a:t>
            </a:r>
            <a:endParaRPr lang="en-US" sz="3200" dirty="0"/>
          </a:p>
          <a:p>
            <a:pPr marL="0" indent="0">
              <a:spcBef>
                <a:spcPts val="600"/>
              </a:spcBef>
              <a:buNone/>
            </a:pPr>
            <a:r>
              <a:rPr lang="en-US" sz="1600" dirty="0">
                <a:solidFill>
                  <a:srgbClr val="454D57"/>
                </a:solidFill>
                <a:latin typeface="Atkinson Hyperlegible Next" pitchFamily="34" charset="0"/>
                <a:ea typeface="Atkinson Hyperlegible Next" pitchFamily="34" charset="-122"/>
                <a:cs typeface="Atkinson Hyperlegible Next" pitchFamily="34" charset="-120"/>
              </a:rPr>
              <a:t>Retrieval is one step of five. A route comes from curated data, rules and people, not from a generated answer.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4922215">
                  <a:extLst>
                    <a:ext uri="{9D8B030D-6E8A-4147-A177-3AD203B41FA5}">
                      <a16:colId xmlns:a16="http://schemas.microsoft.com/office/drawing/2014/main" val="20003"/>
                    </a:ext>
                  </a:extLst>
                </a:gridCol>
              </a:tblGrid>
              <a:tr h="457200">
                <a:tc>
                  <a:txBody>
                    <a:bodyPr/>
                    <a:lstStyle/>
                    <a:p>
                      <a:pPr marL="0" indent="0">
                        <a:buNone/>
                      </a:pPr>
                      <a:endParaRPr lang="en-US" sz="13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F3F5F8"/>
                    </a:solidFill>
                  </a:tcPr>
                </a:tc>
                <a:tc>
                  <a:txBody>
                    <a:bodyP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Web search</a:t>
                      </a:r>
                      <a:endParaRPr lang="en-US" sz="13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F3F5F8"/>
                    </a:solidFill>
                  </a:tcPr>
                </a:tc>
                <a:tc>
                  <a:txBody>
                    <a:bodyP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Chatbot with RAG</a:t>
                      </a:r>
                      <a:endParaRPr lang="en-US" sz="13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F3F5F8"/>
                    </a:solidFill>
                  </a:tcPr>
                </a:tc>
                <a:tc>
                  <a:txBody>
                    <a:bodyPr/>
                    <a:lstStyle/>
                    <a:p>
                      <a:pPr marL="0" indent="0">
                        <a:buNone/>
                      </a:pPr>
                      <a:r>
                        <a:rPr lang="en-US" sz="1300" b="1" dirty="0">
                          <a:solidFill>
                            <a:srgbClr val="FFFFFF"/>
                          </a:solidFill>
                          <a:latin typeface="Atkinson Hyperlegible Next" pitchFamily="34" charset="0"/>
                          <a:ea typeface="Atkinson Hyperlegible Next" pitchFamily="34" charset="-122"/>
                          <a:cs typeface="Atkinson Hyperlegible Next" pitchFamily="34" charset="-120"/>
                        </a:rPr>
                        <a:t>HubMI</a:t>
                      </a:r>
                      <a:endParaRPr lang="en-US" sz="13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What you get</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A list of links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A fluent paragraph</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A route: up to three proven solutions, knowledge, people, a funding path and three next steps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When nothing fits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Still a list</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Still an answer</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It says so: below a fit of 45 out of 100 there is no route, and the need goes to the needs bank and the incubator</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Amounts, deadlines, legal basis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Whatever the pages say</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Written by the model from what it retrieved</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From a curated table of 30 funding and legal paths, each with its source; the model never sees an amount</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The place</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A keyword</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A keyword</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GUS indicators of the gmina, implementers within 50 km, a map of where a solution is missing</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The model's role</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Ranks pages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Writes the answer</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Selects and explains; code checks every identifier and every quote and decides whether the fit is good enough</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4171A"/>
                          </a:solidFill>
                          <a:latin typeface="Atkinson Hyperlegible Next" pitchFamily="34" charset="0"/>
                          <a:ea typeface="Atkinson Hyperlegible Next" pitchFamily="34" charset="-122"/>
                          <a:cs typeface="Atkinson Hyperlegible Next" pitchFamily="34" charset="-120"/>
                        </a:rPr>
                        <a:t>Before and after</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Nothing</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Nothing</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tcPr>
                </a:tc>
                <a:tc>
                  <a:txBody>
                    <a:bodyPr/>
                    <a:lstStyle/>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Before: a screening gate, and a person in crisis gets human help.</a:t>
                      </a:r>
                      <a:endParaRPr lang="en-US" sz="1200" dirty="0">
                        <a:latin typeface="Atkinson Hyperlegible Next" charset="0"/>
                        <a:ea typeface="Atkinson Hyperlegible Next" charset="0"/>
                        <a:cs typeface="Atkinson Hyperlegible Next" charset="0"/>
                      </a:endParaRPr>
                    </a:p>
                    <a:p>
                      <a:pPr marL="0" indent="0">
                        <a:buNone/>
                      </a:pPr>
                      <a:r>
                        <a:rPr lang="en-US" sz="1200" dirty="0">
                          <a:solidFill>
                            <a:srgbClr val="14171A"/>
                          </a:solidFill>
                          <a:latin typeface="Atkinson Hyperlegible Next" pitchFamily="34" charset="0"/>
                          <a:ea typeface="Atkinson Hyperlegible Next" pitchFamily="34" charset="-122"/>
                          <a:cs typeface="Atkinson Hyperlegible Next" pitchFamily="34" charset="-120"/>
                        </a:rPr>
                        <a:t>After (roadmap): ROPS relays contacts and turns needs into call topics</a:t>
                      </a:r>
                      <a:endParaRPr lang="en-US" sz="1200" dirty="0">
                        <a:latin typeface="Atkinson Hyperlegible Next" charset="0"/>
                        <a:ea typeface="Atkinson Hyperlegible Next" charset="0"/>
                        <a:cs typeface="Atkinson Hyperlegible Next" charset="0"/>
                      </a:endParaRPr>
                    </a:p>
                  </a:txBody>
                  <a:tcPr marL="101600" marR="101600" marT="63500" marB="63500" anchor="ctr">
                    <a:lnL w="9525" cap="flat" cmpd="sng" algn="ctr">
                      <a:solidFill>
                        <a:srgbClr val="C3CAD3"/>
                      </a:solidFill>
                      <a:prstDash val="solid"/>
                      <a:round/>
                      <a:headEnd type="none" w="med" len="med"/>
                      <a:tailEnd type="none" w="med" len="med"/>
                    </a:lnL>
                    <a:lnR w="9525" cap="flat" cmpd="sng" algn="ctr">
                      <a:solidFill>
                        <a:srgbClr val="C3CAD3"/>
                      </a:solidFill>
                      <a:prstDash val="solid"/>
                      <a:round/>
                      <a:headEnd type="none" w="med" len="med"/>
                      <a:tailEnd type="none" w="med" len="med"/>
                    </a:lnR>
                    <a:lnT w="9525" cap="flat" cmpd="sng" algn="ctr">
                      <a:solidFill>
                        <a:srgbClr val="C3CAD3"/>
                      </a:solidFill>
                      <a:prstDash val="solid"/>
                      <a:round/>
                      <a:headEnd type="none" w="med" len="med"/>
                      <a:tailEnd type="none" w="med" len="med"/>
                    </a:lnT>
                    <a:lnB w="9525" cap="flat" cmpd="sng" algn="ctr">
                      <a:solidFill>
                        <a:srgbClr val="C3CAD3"/>
                      </a:solidFill>
                      <a:prstDash val="solid"/>
                      <a:round/>
                      <a:headEnd type="none" w="med" len="med"/>
                      <a:tailEnd type="none" w="med" len="med"/>
                    </a:lnB>
                    <a:solidFill>
                      <a:srgbClr val="EEF4FB"/>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When nothing fits, it says so and drafts the incubator's next topic</a:t>
            </a:r>
            <a:endParaRPr lang="en-US" sz="3200" dirty="0"/>
          </a:p>
        </p:txBody>
      </p:sp>
      <p:sp>
        <p:nvSpPr>
          <p:cNvPr id="3" name="Shape 1"/>
          <p:cNvSpPr/>
          <p:nvPr/>
        </p:nvSpPr>
        <p:spPr>
          <a:xfrm>
            <a:off x="640080" y="1645920"/>
            <a:ext cx="292608" cy="292608"/>
          </a:xfrm>
          <a:prstGeom prst="ellipse">
            <a:avLst/>
          </a:prstGeom>
          <a:solidFill>
            <a:srgbClr val="FFFFFF"/>
          </a:solidFill>
          <a:ln w="19050">
            <a:solidFill>
              <a:srgbClr val="1A4B8C"/>
            </a:solidFill>
            <a:prstDash val="solid"/>
          </a:ln>
        </p:spPr>
      </p:sp>
      <p:sp>
        <p:nvSpPr>
          <p:cNvPr id="4" name="Text 2"/>
          <p:cNvSpPr txBox="1"/>
          <p:nvPr/>
        </p:nvSpPr>
        <p:spPr>
          <a:xfrm>
            <a:off x="640080" y="1645920"/>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1</a:t>
            </a:r>
            <a:endParaRPr lang="en-US" sz="1200" dirty="0"/>
          </a:p>
        </p:txBody>
      </p:sp>
      <p:sp>
        <p:nvSpPr>
          <p:cNvPr id="5" name="Text 3"/>
          <p:cNvSpPr txBox="1"/>
          <p:nvPr/>
        </p:nvSpPr>
        <p:spPr>
          <a:xfrm>
            <a:off x="1024128" y="1618488"/>
            <a:ext cx="3017520" cy="548640"/>
          </a:xfrm>
          <a:prstGeom prst="rect">
            <a:avLst/>
          </a:prstGeom>
          <a:noFill/>
          <a:ln/>
        </p:spPr>
        <p:txBody>
          <a:bodyPr wrap="square" lIns="0" tIns="0" rIns="0" bIns="0" rtlCol="0" anchor="t"/>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No proven match</a:t>
            </a:r>
            <a:endParaRPr lang="en-US" sz="14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Said out loud, never padded with weak results</a:t>
            </a:r>
            <a:endParaRPr lang="en-US" sz="1400" dirty="0"/>
          </a:p>
        </p:txBody>
      </p:sp>
      <p:sp>
        <p:nvSpPr>
          <p:cNvPr id="6" name="Shape 4"/>
          <p:cNvSpPr/>
          <p:nvPr/>
        </p:nvSpPr>
        <p:spPr>
          <a:xfrm>
            <a:off x="640080" y="2331720"/>
            <a:ext cx="3401568" cy="3231490"/>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7" name="Image 0" descr="C:\Users\bobro\OneDrive\Developer\HackYeah2026\.local\presentation\source\img\no-match.png"/>
          <p:cNvPicPr>
            <a:picLocks noChangeAspect="1"/>
          </p:cNvPicPr>
          <p:nvPr/>
        </p:nvPicPr>
        <p:blipFill>
          <a:blip r:embed="rId3"/>
          <a:stretch>
            <a:fillRect/>
          </a:stretch>
        </p:blipFill>
        <p:spPr>
          <a:xfrm>
            <a:off x="640080" y="2331720"/>
            <a:ext cx="3401568" cy="3231490"/>
          </a:xfrm>
          <a:prstGeom prst="rect">
            <a:avLst/>
          </a:prstGeom>
        </p:spPr>
      </p:pic>
      <p:sp>
        <p:nvSpPr>
          <p:cNvPr id="8" name="Shape 5"/>
          <p:cNvSpPr/>
          <p:nvPr/>
        </p:nvSpPr>
        <p:spPr>
          <a:xfrm>
            <a:off x="640080" y="2331720"/>
            <a:ext cx="3401568" cy="3231490"/>
          </a:xfrm>
          <a:prstGeom prst="rect">
            <a:avLst/>
          </a:prstGeom>
          <a:solidFill>
            <a:srgbClr val="FFFFFF">
              <a:alpha val="0"/>
            </a:srgbClr>
          </a:solidFill>
          <a:ln w="9525">
            <a:solidFill>
              <a:srgbClr val="C3CAD3"/>
            </a:solidFill>
            <a:prstDash val="solid"/>
          </a:ln>
        </p:spPr>
      </p:sp>
      <p:sp>
        <p:nvSpPr>
          <p:cNvPr id="9" name="Shape 6"/>
          <p:cNvSpPr/>
          <p:nvPr/>
        </p:nvSpPr>
        <p:spPr>
          <a:xfrm>
            <a:off x="4498848" y="1645920"/>
            <a:ext cx="292608" cy="292608"/>
          </a:xfrm>
          <a:prstGeom prst="ellipse">
            <a:avLst/>
          </a:prstGeom>
          <a:solidFill>
            <a:srgbClr val="FFFFFF"/>
          </a:solidFill>
          <a:ln w="19050">
            <a:solidFill>
              <a:srgbClr val="1A4B8C"/>
            </a:solidFill>
            <a:prstDash val="solid"/>
          </a:ln>
        </p:spPr>
      </p:sp>
      <p:sp>
        <p:nvSpPr>
          <p:cNvPr id="10" name="Text 7"/>
          <p:cNvSpPr txBox="1"/>
          <p:nvPr/>
        </p:nvSpPr>
        <p:spPr>
          <a:xfrm>
            <a:off x="4498848" y="1645920"/>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2</a:t>
            </a:r>
            <a:endParaRPr lang="en-US" sz="1200" dirty="0"/>
          </a:p>
        </p:txBody>
      </p:sp>
      <p:sp>
        <p:nvSpPr>
          <p:cNvPr id="11" name="Text 8"/>
          <p:cNvSpPr txBox="1"/>
          <p:nvPr/>
        </p:nvSpPr>
        <p:spPr>
          <a:xfrm>
            <a:off x="4882896" y="1618488"/>
            <a:ext cx="3017520" cy="548640"/>
          </a:xfrm>
          <a:prstGeom prst="rect">
            <a:avLst/>
          </a:prstGeom>
          <a:noFill/>
          <a:ln/>
        </p:spPr>
        <p:txBody>
          <a:bodyPr wrap="square" lIns="0" tIns="0" rIns="0" bIns="0" rtlCol="0" anchor="t"/>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Needs bank → incubator brief</a:t>
            </a:r>
            <a:endParaRPr lang="en-US" sz="14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Drafted today; merging needs is roadmap</a:t>
            </a:r>
            <a:endParaRPr lang="en-US" sz="1400" dirty="0"/>
          </a:p>
        </p:txBody>
      </p:sp>
      <p:sp>
        <p:nvSpPr>
          <p:cNvPr id="12" name="Shape 9"/>
          <p:cNvSpPr/>
          <p:nvPr/>
        </p:nvSpPr>
        <p:spPr>
          <a:xfrm>
            <a:off x="4498848" y="2331720"/>
            <a:ext cx="3401568" cy="3231490"/>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13" name="Image 1" descr="C:\Users\bobro\OneDrive\Developer\HackYeah2026\.local\presentation\source\img\brief.png"/>
          <p:cNvPicPr>
            <a:picLocks noChangeAspect="1"/>
          </p:cNvPicPr>
          <p:nvPr/>
        </p:nvPicPr>
        <p:blipFill>
          <a:blip r:embed="rId4"/>
          <a:stretch>
            <a:fillRect/>
          </a:stretch>
        </p:blipFill>
        <p:spPr>
          <a:xfrm>
            <a:off x="4498848" y="2331720"/>
            <a:ext cx="3401568" cy="3231490"/>
          </a:xfrm>
          <a:prstGeom prst="rect">
            <a:avLst/>
          </a:prstGeom>
        </p:spPr>
      </p:pic>
      <p:sp>
        <p:nvSpPr>
          <p:cNvPr id="14" name="Shape 10"/>
          <p:cNvSpPr/>
          <p:nvPr/>
        </p:nvSpPr>
        <p:spPr>
          <a:xfrm>
            <a:off x="4498848" y="2331720"/>
            <a:ext cx="3401568" cy="3231490"/>
          </a:xfrm>
          <a:prstGeom prst="rect">
            <a:avLst/>
          </a:prstGeom>
          <a:solidFill>
            <a:srgbClr val="FFFFFF">
              <a:alpha val="0"/>
            </a:srgbClr>
          </a:solidFill>
          <a:ln w="9525">
            <a:solidFill>
              <a:srgbClr val="C3CAD3"/>
            </a:solidFill>
            <a:prstDash val="solid"/>
          </a:ln>
        </p:spPr>
      </p:sp>
      <p:sp>
        <p:nvSpPr>
          <p:cNvPr id="15" name="Shape 11"/>
          <p:cNvSpPr/>
          <p:nvPr/>
        </p:nvSpPr>
        <p:spPr>
          <a:xfrm>
            <a:off x="8150047" y="1645920"/>
            <a:ext cx="292608" cy="292608"/>
          </a:xfrm>
          <a:prstGeom prst="ellipse">
            <a:avLst/>
          </a:prstGeom>
          <a:solidFill>
            <a:srgbClr val="FFFFFF"/>
          </a:solidFill>
          <a:ln w="19050">
            <a:solidFill>
              <a:srgbClr val="1A4B8C"/>
            </a:solidFill>
            <a:prstDash val="solid"/>
          </a:ln>
        </p:spPr>
      </p:sp>
      <p:sp>
        <p:nvSpPr>
          <p:cNvPr id="16" name="Text 12"/>
          <p:cNvSpPr txBox="1"/>
          <p:nvPr/>
        </p:nvSpPr>
        <p:spPr>
          <a:xfrm>
            <a:off x="8150047" y="1645920"/>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3</a:t>
            </a:r>
            <a:endParaRPr lang="en-US" sz="1200" dirty="0"/>
          </a:p>
        </p:txBody>
      </p:sp>
      <p:sp>
        <p:nvSpPr>
          <p:cNvPr id="17" name="Text 13"/>
          <p:cNvSpPr txBox="1"/>
          <p:nvPr/>
        </p:nvSpPr>
        <p:spPr>
          <a:xfrm>
            <a:off x="8534095" y="1618488"/>
            <a:ext cx="3017520" cy="548640"/>
          </a:xfrm>
          <a:prstGeom prst="rect">
            <a:avLst/>
          </a:prstGeom>
          <a:noFill/>
          <a:ln/>
        </p:spPr>
        <p:txBody>
          <a:bodyPr wrap="square" lIns="0" tIns="0" rIns="0" bIns="0" rtlCol="0" anchor="t"/>
          <a:lstStyle/>
          <a:p>
            <a:pPr marL="0" indent="0">
              <a:buNone/>
            </a:pPr>
            <a:r>
              <a:rPr lang="en-US" sz="1400" b="1" dirty="0">
                <a:solidFill>
                  <a:srgbClr val="14171A"/>
                </a:solidFill>
                <a:latin typeface="Atkinson Hyperlegible Next" pitchFamily="34" charset="0"/>
                <a:ea typeface="Atkinson Hyperlegible Next" pitchFamily="34" charset="-122"/>
                <a:cs typeface="Atkinson Hyperlegible Next" pitchFamily="34" charset="-120"/>
              </a:rPr>
              <a:t>Where it is needed most</a:t>
            </a:r>
            <a:endParaRPr lang="en-US" sz="14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Gminas with high need and no implementation</a:t>
            </a:r>
            <a:endParaRPr lang="en-US" sz="1400" dirty="0"/>
          </a:p>
        </p:txBody>
      </p:sp>
      <p:sp>
        <p:nvSpPr>
          <p:cNvPr id="18" name="Shape 14"/>
          <p:cNvSpPr/>
          <p:nvPr/>
        </p:nvSpPr>
        <p:spPr>
          <a:xfrm>
            <a:off x="8150047" y="2331720"/>
            <a:ext cx="3401568" cy="3231490"/>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19" name="Image 2" descr="C:\Users\bobro\OneDrive\Developer\HackYeah2026\.local\presentation\source\img\map.png"/>
          <p:cNvPicPr>
            <a:picLocks noChangeAspect="1"/>
          </p:cNvPicPr>
          <p:nvPr/>
        </p:nvPicPr>
        <p:blipFill>
          <a:blip r:embed="rId5"/>
          <a:stretch>
            <a:fillRect/>
          </a:stretch>
        </p:blipFill>
        <p:spPr>
          <a:xfrm>
            <a:off x="8150047" y="2331720"/>
            <a:ext cx="3401568" cy="3231490"/>
          </a:xfrm>
          <a:prstGeom prst="rect">
            <a:avLst/>
          </a:prstGeom>
        </p:spPr>
      </p:pic>
      <p:sp>
        <p:nvSpPr>
          <p:cNvPr id="20" name="Shape 15"/>
          <p:cNvSpPr/>
          <p:nvPr/>
        </p:nvSpPr>
        <p:spPr>
          <a:xfrm>
            <a:off x="8150047" y="2331720"/>
            <a:ext cx="3401568" cy="3231490"/>
          </a:xfrm>
          <a:prstGeom prst="rect">
            <a:avLst/>
          </a:prstGeom>
          <a:solidFill>
            <a:srgbClr val="FFFFFF">
              <a:alpha val="0"/>
            </a:srgbClr>
          </a:solidFill>
          <a:ln w="9525">
            <a:solidFill>
              <a:srgbClr val="C3CAD3"/>
            </a:solidFill>
            <a:prstDash val="solid"/>
          </a:ln>
        </p:spPr>
      </p:sp>
      <p:sp>
        <p:nvSpPr>
          <p:cNvPr id="21" name="Shape 16"/>
          <p:cNvSpPr/>
          <p:nvPr/>
        </p:nvSpPr>
        <p:spPr>
          <a:xfrm>
            <a:off x="4105656" y="3749040"/>
            <a:ext cx="329184" cy="329184"/>
          </a:xfrm>
          <a:prstGeom prst="rightArrow">
            <a:avLst/>
          </a:prstGeom>
          <a:solidFill>
            <a:srgbClr val="1A4B8C"/>
          </a:solidFill>
          <a:ln w="12700">
            <a:solidFill>
              <a:srgbClr val="1A4B8C"/>
            </a:solidFill>
            <a:prstDash val="solid"/>
          </a:ln>
        </p:spPr>
      </p:sp>
      <p:sp>
        <p:nvSpPr>
          <p:cNvPr id="22" name="Text 17"/>
          <p:cNvSpPr txBox="1"/>
          <p:nvPr/>
        </p:nvSpPr>
        <p:spPr>
          <a:xfrm>
            <a:off x="640080" y="5852160"/>
            <a:ext cx="10911535" cy="457200"/>
          </a:xfrm>
          <a:prstGeom prst="rect">
            <a:avLst/>
          </a:prstGeom>
          <a:noFill/>
          <a:ln/>
        </p:spPr>
        <p:txBody>
          <a:bodyPr wrap="square" lIns="0" tIns="0" rIns="0" bIns="0" rtlCol="0" anchor="t"/>
          <a:lstStyle/>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1: a live result for dried-up wells in gmina Dobra, summer 2026. 2: the same need saved to the needs bank, as the brief for the incubator.</a:t>
            </a:r>
            <a:endParaRPr lang="en-US" sz="1100" dirty="0"/>
          </a:p>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3: where the seniors' solution of slide 3 is needed most.</a:t>
            </a:r>
            <a:endParaRPr lang="en-US" sz="1100" dirty="0"/>
          </a:p>
        </p:txBody>
      </p:sp>
      <p:sp>
        <p:nvSpPr>
          <p:cNvPr id="23" name="Text 18"/>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Empathy before technology</a:t>
            </a:r>
            <a:endParaRPr lang="en-US" sz="3200" dirty="0"/>
          </a:p>
          <a:p>
            <a:pPr marL="0" indent="0">
              <a:spcBef>
                <a:spcPts val="600"/>
              </a:spcBef>
              <a:buNone/>
            </a:pPr>
            <a:r>
              <a:rPr lang="en-US" sz="1600" dirty="0">
                <a:solidFill>
                  <a:srgbClr val="454D57"/>
                </a:solidFill>
                <a:latin typeface="Atkinson Hyperlegible Next" pitchFamily="34" charset="0"/>
                <a:ea typeface="Atkinson Hyperlegible Next" pitchFamily="34" charset="-122"/>
                <a:cs typeface="Atkinson Hyperlegible Next" pitchFamily="34" charset="-120"/>
              </a:rPr>
              <a:t>The screening gate comes first. The model selects and explains; people decide.</a:t>
            </a:r>
            <a:endParaRPr lang="en-US" sz="3200" dirty="0"/>
          </a:p>
        </p:txBody>
      </p:sp>
      <p:sp>
        <p:nvSpPr>
          <p:cNvPr id="3" name="Shape 1"/>
          <p:cNvSpPr/>
          <p:nvPr/>
        </p:nvSpPr>
        <p:spPr>
          <a:xfrm>
            <a:off x="640080" y="1691640"/>
            <a:ext cx="1948221" cy="868680"/>
          </a:xfrm>
          <a:prstGeom prst="roundRect">
            <a:avLst>
              <a:gd name="adj" fmla="val 10526"/>
            </a:avLst>
          </a:prstGeom>
          <a:solidFill>
            <a:srgbClr val="1A4B8C"/>
          </a:solidFill>
          <a:ln w="12700">
            <a:solidFill>
              <a:srgbClr val="1A4B8C"/>
            </a:solidFill>
            <a:prstDash val="solid"/>
          </a:ln>
        </p:spPr>
      </p:sp>
      <p:sp>
        <p:nvSpPr>
          <p:cNvPr id="4" name="Text 2"/>
          <p:cNvSpPr txBox="1"/>
          <p:nvPr/>
        </p:nvSpPr>
        <p:spPr>
          <a:xfrm>
            <a:off x="777240" y="1691640"/>
            <a:ext cx="1673901" cy="868680"/>
          </a:xfrm>
          <a:prstGeom prst="rect">
            <a:avLst/>
          </a:prstGeom>
          <a:noFill/>
          <a:ln/>
        </p:spPr>
        <p:txBody>
          <a:bodyPr wrap="square" lIns="0" tIns="0" rIns="0" bIns="0" rtlCol="0" anchor="ctr"/>
          <a:lstStyle/>
          <a:p>
            <a:pPr marL="0" indent="0">
              <a:buNone/>
            </a:pPr>
            <a:r>
              <a:rPr lang="en-US" sz="1300" b="1" dirty="0">
                <a:solidFill>
                  <a:srgbClr val="FFFFFF"/>
                </a:solidFill>
                <a:latin typeface="Atkinson Hyperlegible Next" pitchFamily="34" charset="0"/>
                <a:ea typeface="Atkinson Hyperlegible Next" pitchFamily="34" charset="-122"/>
                <a:cs typeface="Atkinson Hyperlegible Next" pitchFamily="34" charset="-120"/>
              </a:rPr>
              <a:t>1  Screening gate</a:t>
            </a:r>
            <a:endParaRPr lang="en-US" sz="1300" dirty="0"/>
          </a:p>
          <a:p>
            <a:pPr marL="0" indent="0">
              <a:buNone/>
            </a:pPr>
            <a:r>
              <a:rPr lang="en-US" sz="1100" dirty="0">
                <a:solidFill>
                  <a:srgbClr val="DCE6F2"/>
                </a:solidFill>
                <a:latin typeface="Atkinson Hyperlegible Next" pitchFamily="34" charset="0"/>
                <a:ea typeface="Atkinson Hyperlegible Next" pitchFamily="34" charset="-122"/>
                <a:cs typeface="Atkinson Hyperlegible Next" pitchFamily="34" charset="-120"/>
              </a:rPr>
              <a:t>rules first, then the model</a:t>
            </a:r>
            <a:endParaRPr lang="en-US" sz="1300" dirty="0"/>
          </a:p>
        </p:txBody>
      </p:sp>
      <p:sp>
        <p:nvSpPr>
          <p:cNvPr id="5" name="Shape 3"/>
          <p:cNvSpPr/>
          <p:nvPr/>
        </p:nvSpPr>
        <p:spPr>
          <a:xfrm>
            <a:off x="2670597" y="2025396"/>
            <a:ext cx="128016" cy="201168"/>
          </a:xfrm>
          <a:prstGeom prst="chevron">
            <a:avLst/>
          </a:prstGeom>
          <a:solidFill>
            <a:srgbClr val="1A4B8C"/>
          </a:solidFill>
          <a:ln w="12700">
            <a:solidFill>
              <a:srgbClr val="1A4B8C"/>
            </a:solidFill>
            <a:prstDash val="solid"/>
          </a:ln>
        </p:spPr>
      </p:sp>
      <p:sp>
        <p:nvSpPr>
          <p:cNvPr id="6" name="Shape 4"/>
          <p:cNvSpPr/>
          <p:nvPr/>
        </p:nvSpPr>
        <p:spPr>
          <a:xfrm>
            <a:off x="2880909" y="1691640"/>
            <a:ext cx="1948221" cy="868680"/>
          </a:xfrm>
          <a:prstGeom prst="roundRect">
            <a:avLst>
              <a:gd name="adj" fmla="val 10526"/>
            </a:avLst>
          </a:prstGeom>
          <a:solidFill>
            <a:srgbClr val="EEF4FB"/>
          </a:solidFill>
          <a:ln w="12700">
            <a:solidFill>
              <a:srgbClr val="EEF4FB"/>
            </a:solidFill>
            <a:prstDash val="solid"/>
          </a:ln>
        </p:spPr>
      </p:sp>
      <p:sp>
        <p:nvSpPr>
          <p:cNvPr id="7" name="Text 5"/>
          <p:cNvSpPr txBox="1"/>
          <p:nvPr/>
        </p:nvSpPr>
        <p:spPr>
          <a:xfrm>
            <a:off x="3018069" y="1691640"/>
            <a:ext cx="1673901" cy="86868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2  Retrieval</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PolDense-400M: 40 nearest of 381</a:t>
            </a:r>
            <a:endParaRPr lang="en-US" sz="1300" dirty="0"/>
          </a:p>
        </p:txBody>
      </p:sp>
      <p:sp>
        <p:nvSpPr>
          <p:cNvPr id="8" name="Shape 6"/>
          <p:cNvSpPr/>
          <p:nvPr/>
        </p:nvSpPr>
        <p:spPr>
          <a:xfrm>
            <a:off x="4911425" y="2025396"/>
            <a:ext cx="128016" cy="201168"/>
          </a:xfrm>
          <a:prstGeom prst="chevron">
            <a:avLst/>
          </a:prstGeom>
          <a:solidFill>
            <a:srgbClr val="1A4B8C"/>
          </a:solidFill>
          <a:ln w="12700">
            <a:solidFill>
              <a:srgbClr val="1A4B8C"/>
            </a:solidFill>
            <a:prstDash val="solid"/>
          </a:ln>
        </p:spPr>
      </p:sp>
      <p:sp>
        <p:nvSpPr>
          <p:cNvPr id="9" name="Shape 7"/>
          <p:cNvSpPr/>
          <p:nvPr/>
        </p:nvSpPr>
        <p:spPr>
          <a:xfrm>
            <a:off x="5121737" y="1691640"/>
            <a:ext cx="1948221" cy="868680"/>
          </a:xfrm>
          <a:prstGeom prst="roundRect">
            <a:avLst>
              <a:gd name="adj" fmla="val 10526"/>
            </a:avLst>
          </a:prstGeom>
          <a:solidFill>
            <a:srgbClr val="EEF4FB"/>
          </a:solidFill>
          <a:ln w="12700">
            <a:solidFill>
              <a:srgbClr val="EEF4FB"/>
            </a:solidFill>
            <a:prstDash val="solid"/>
          </a:ln>
        </p:spPr>
      </p:sp>
      <p:sp>
        <p:nvSpPr>
          <p:cNvPr id="10" name="Text 8"/>
          <p:cNvSpPr txBox="1"/>
          <p:nvPr/>
        </p:nvSpPr>
        <p:spPr>
          <a:xfrm>
            <a:off x="5258897" y="1691640"/>
            <a:ext cx="1673901" cy="86868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3  Rerank and reasons</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Bielik 11B v3.0, the Polish open model</a:t>
            </a:r>
            <a:endParaRPr lang="en-US" sz="1300" dirty="0"/>
          </a:p>
        </p:txBody>
      </p:sp>
      <p:sp>
        <p:nvSpPr>
          <p:cNvPr id="11" name="Shape 9"/>
          <p:cNvSpPr/>
          <p:nvPr/>
        </p:nvSpPr>
        <p:spPr>
          <a:xfrm>
            <a:off x="7152254" y="2025396"/>
            <a:ext cx="128016" cy="201168"/>
          </a:xfrm>
          <a:prstGeom prst="chevron">
            <a:avLst/>
          </a:prstGeom>
          <a:solidFill>
            <a:srgbClr val="1A4B8C"/>
          </a:solidFill>
          <a:ln w="12700">
            <a:solidFill>
              <a:srgbClr val="1A4B8C"/>
            </a:solidFill>
            <a:prstDash val="solid"/>
          </a:ln>
        </p:spPr>
      </p:sp>
      <p:sp>
        <p:nvSpPr>
          <p:cNvPr id="12" name="Shape 10"/>
          <p:cNvSpPr/>
          <p:nvPr/>
        </p:nvSpPr>
        <p:spPr>
          <a:xfrm>
            <a:off x="7362566" y="1691640"/>
            <a:ext cx="1948221" cy="868680"/>
          </a:xfrm>
          <a:prstGeom prst="roundRect">
            <a:avLst>
              <a:gd name="adj" fmla="val 10526"/>
            </a:avLst>
          </a:prstGeom>
          <a:solidFill>
            <a:srgbClr val="EEF4FB"/>
          </a:solidFill>
          <a:ln w="12700">
            <a:solidFill>
              <a:srgbClr val="EEF4FB"/>
            </a:solidFill>
            <a:prstDash val="solid"/>
          </a:ln>
        </p:spPr>
      </p:sp>
      <p:sp>
        <p:nvSpPr>
          <p:cNvPr id="13" name="Text 11"/>
          <p:cNvSpPr txBox="1"/>
          <p:nvPr/>
        </p:nvSpPr>
        <p:spPr>
          <a:xfrm>
            <a:off x="7499726" y="1691640"/>
            <a:ext cx="1673901" cy="86868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4  Composer</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knowledge, people, paths, next steps</a:t>
            </a:r>
            <a:endParaRPr lang="en-US" sz="1300" dirty="0"/>
          </a:p>
        </p:txBody>
      </p:sp>
      <p:sp>
        <p:nvSpPr>
          <p:cNvPr id="14" name="Shape 12"/>
          <p:cNvSpPr/>
          <p:nvPr/>
        </p:nvSpPr>
        <p:spPr>
          <a:xfrm>
            <a:off x="9393083" y="2025396"/>
            <a:ext cx="128016" cy="201168"/>
          </a:xfrm>
          <a:prstGeom prst="chevron">
            <a:avLst/>
          </a:prstGeom>
          <a:solidFill>
            <a:srgbClr val="1A4B8C"/>
          </a:solidFill>
          <a:ln w="12700">
            <a:solidFill>
              <a:srgbClr val="1A4B8C"/>
            </a:solidFill>
            <a:prstDash val="solid"/>
          </a:ln>
        </p:spPr>
      </p:sp>
      <p:sp>
        <p:nvSpPr>
          <p:cNvPr id="15" name="Shape 13"/>
          <p:cNvSpPr/>
          <p:nvPr/>
        </p:nvSpPr>
        <p:spPr>
          <a:xfrm>
            <a:off x="9603395" y="1691640"/>
            <a:ext cx="1948221" cy="868680"/>
          </a:xfrm>
          <a:prstGeom prst="roundRect">
            <a:avLst>
              <a:gd name="adj" fmla="val 10526"/>
            </a:avLst>
          </a:prstGeom>
          <a:solidFill>
            <a:srgbClr val="FFFFFF"/>
          </a:solidFill>
          <a:ln w="19050">
            <a:solidFill>
              <a:srgbClr val="1A4B8C"/>
            </a:solidFill>
            <a:prstDash val="dash"/>
          </a:ln>
        </p:spPr>
      </p:sp>
      <p:sp>
        <p:nvSpPr>
          <p:cNvPr id="16" name="Text 14"/>
          <p:cNvSpPr txBox="1"/>
          <p:nvPr/>
        </p:nvSpPr>
        <p:spPr>
          <a:xfrm>
            <a:off x="9740555" y="1691640"/>
            <a:ext cx="1673901" cy="868680"/>
          </a:xfrm>
          <a:prstGeom prst="rect">
            <a:avLst/>
          </a:prstGeom>
          <a:noFill/>
          <a:ln/>
        </p:spPr>
        <p:txBody>
          <a:bodyPr wrap="square" lIns="0" tIns="0" rIns="0" bIns="0" rtlCol="0" anchor="ctr"/>
          <a:lstStyle/>
          <a:p>
            <a:pPr marL="0" indent="0">
              <a:buNone/>
            </a:pPr>
            <a:r>
              <a:rPr lang="en-US" sz="1300" b="1" dirty="0">
                <a:solidFill>
                  <a:srgbClr val="1A4B8C"/>
                </a:solidFill>
                <a:latin typeface="Atkinson Hyperlegible Next" pitchFamily="34" charset="0"/>
                <a:ea typeface="Atkinson Hyperlegible Next" pitchFamily="34" charset="-122"/>
                <a:cs typeface="Atkinson Hyperlegible Next" pitchFamily="34" charset="-120"/>
              </a:rPr>
              <a:t>5  ROPS console</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a person moderates: roadmap, not built</a:t>
            </a:r>
            <a:endParaRPr lang="en-US" sz="1300" dirty="0"/>
          </a:p>
        </p:txBody>
      </p:sp>
      <p:sp>
        <p:nvSpPr>
          <p:cNvPr id="17" name="Text 15"/>
          <p:cNvSpPr txBox="1"/>
          <p:nvPr/>
        </p:nvSpPr>
        <p:spPr>
          <a:xfrm>
            <a:off x="640080" y="2633472"/>
            <a:ext cx="10911535" cy="228600"/>
          </a:xfrm>
          <a:prstGeom prst="rect">
            <a:avLst/>
          </a:prstGeom>
          <a:noFill/>
          <a:ln/>
        </p:spPr>
        <p:txBody>
          <a:bodyPr wrap="square" lIns="0" tIns="0" rIns="0" bIns="0" rtlCol="0" anchor="t"/>
          <a:lstStyle/>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Both models chosen by measurement </a:t>
            </a:r>
            <a:r>
              <a:rPr lang="en-US" sz="1100" b="1" i="1" dirty="0">
                <a:solidFill>
                  <a:srgbClr val="1A4B8C"/>
                </a:solidFill>
                <a:latin typeface="Atkinson Hyperlegible Next" pitchFamily="34" charset="0"/>
                <a:ea typeface="Atkinson Hyperlegible Next" pitchFamily="34" charset="-122"/>
                <a:cs typeface="Atkinson Hyperlegible Next" pitchFamily="34" charset="-120"/>
              </a:rPr>
              <a:t>before the hackathon</a:t>
            </a:r>
            <a:r>
              <a:rPr lang="en-US" sz="1100" i="1" dirty="0">
                <a:solidFill>
                  <a:srgbClr val="454D57"/>
                </a:solidFill>
                <a:latin typeface="Atkinson Hyperlegible Next" pitchFamily="34" charset="0"/>
                <a:ea typeface="Atkinson Hyperlegible Next" pitchFamily="34" charset="-122"/>
                <a:cs typeface="Atkinson Hyperlegible Next" pitchFamily="34" charset="-120"/>
              </a:rPr>
              <a:t>: Bielik against 4 other language models, PolDense against 5 other embedding models.</a:t>
            </a:r>
            <a:endParaRPr lang="en-US" sz="1100" dirty="0"/>
          </a:p>
        </p:txBody>
      </p:sp>
      <p:sp>
        <p:nvSpPr>
          <p:cNvPr id="18" name="Shape 16"/>
          <p:cNvSpPr/>
          <p:nvPr/>
        </p:nvSpPr>
        <p:spPr>
          <a:xfrm>
            <a:off x="640080" y="3017520"/>
            <a:ext cx="2601933" cy="3017520"/>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19" name="Image 0" descr="C:\Users\bobro\OneDrive\Developer\HackYeah2026\.local\presentation\source\img\crisis.png"/>
          <p:cNvPicPr>
            <a:picLocks noChangeAspect="1"/>
          </p:cNvPicPr>
          <p:nvPr/>
        </p:nvPicPr>
        <p:blipFill>
          <a:blip r:embed="rId3"/>
          <a:stretch>
            <a:fillRect/>
          </a:stretch>
        </p:blipFill>
        <p:spPr>
          <a:xfrm>
            <a:off x="640080" y="3017520"/>
            <a:ext cx="2601933" cy="3017520"/>
          </a:xfrm>
          <a:prstGeom prst="rect">
            <a:avLst/>
          </a:prstGeom>
        </p:spPr>
      </p:pic>
      <p:sp>
        <p:nvSpPr>
          <p:cNvPr id="20" name="Shape 17"/>
          <p:cNvSpPr/>
          <p:nvPr/>
        </p:nvSpPr>
        <p:spPr>
          <a:xfrm>
            <a:off x="640080" y="3017520"/>
            <a:ext cx="2601933" cy="3017520"/>
          </a:xfrm>
          <a:prstGeom prst="rect">
            <a:avLst/>
          </a:prstGeom>
          <a:solidFill>
            <a:srgbClr val="FFFFFF">
              <a:alpha val="0"/>
            </a:srgbClr>
          </a:solidFill>
          <a:ln w="9525">
            <a:solidFill>
              <a:srgbClr val="C3CAD3"/>
            </a:solidFill>
            <a:prstDash val="solid"/>
          </a:ln>
        </p:spPr>
      </p:sp>
      <p:sp>
        <p:nvSpPr>
          <p:cNvPr id="21" name="Text 18"/>
          <p:cNvSpPr txBox="1"/>
          <p:nvPr/>
        </p:nvSpPr>
        <p:spPr>
          <a:xfrm>
            <a:off x="640080" y="6126480"/>
            <a:ext cx="3059133" cy="274320"/>
          </a:xfrm>
          <a:prstGeom prst="rect">
            <a:avLst/>
          </a:prstGeom>
          <a:noFill/>
          <a:ln/>
        </p:spPr>
        <p:txBody>
          <a:bodyPr wrap="square" lIns="0" tIns="0" rIns="0" bIns="0" rtlCol="0" anchor="t"/>
          <a:lstStyle/>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What a person in crisis sees instead of a route</a:t>
            </a:r>
            <a:endParaRPr lang="en-US" sz="1100" dirty="0"/>
          </a:p>
        </p:txBody>
      </p:sp>
      <p:sp>
        <p:nvSpPr>
          <p:cNvPr id="22" name="Shape 19"/>
          <p:cNvSpPr/>
          <p:nvPr/>
        </p:nvSpPr>
        <p:spPr>
          <a:xfrm>
            <a:off x="3744933" y="3035808"/>
            <a:ext cx="329184" cy="329184"/>
          </a:xfrm>
          <a:prstGeom prst="ellipse">
            <a:avLst/>
          </a:prstGeom>
          <a:solidFill>
            <a:srgbClr val="1A4B8C"/>
          </a:solidFill>
          <a:ln w="12700">
            <a:solidFill>
              <a:srgbClr val="1A4B8C"/>
            </a:solidFill>
            <a:prstDash val="solid"/>
          </a:ln>
        </p:spPr>
      </p:sp>
      <p:sp>
        <p:nvSpPr>
          <p:cNvPr id="23" name="Text 20"/>
          <p:cNvSpPr txBox="1"/>
          <p:nvPr/>
        </p:nvSpPr>
        <p:spPr>
          <a:xfrm>
            <a:off x="3744933" y="3035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Symbol" pitchFamily="34" charset="0"/>
                <a:ea typeface="Segoe UI Symbol" pitchFamily="34" charset="-122"/>
                <a:cs typeface="Segoe UI Symbol" pitchFamily="34" charset="-120"/>
              </a:rPr>
              <a:t>✓</a:t>
            </a:r>
            <a:endParaRPr lang="en-US" sz="1300" dirty="0"/>
          </a:p>
        </p:txBody>
      </p:sp>
      <p:sp>
        <p:nvSpPr>
          <p:cNvPr id="24" name="Text 21"/>
          <p:cNvSpPr txBox="1"/>
          <p:nvPr/>
        </p:nvSpPr>
        <p:spPr>
          <a:xfrm>
            <a:off x="4247853" y="3017520"/>
            <a:ext cx="7303762" cy="1005840"/>
          </a:xfrm>
          <a:prstGeom prst="rect">
            <a:avLst/>
          </a:prstGeom>
          <a:noFill/>
          <a:ln/>
        </p:spPr>
        <p:txBody>
          <a:bodyPr wrap="square" lIns="0" tIns="0" rIns="0" bIns="0" rtlCol="0" anchor="t"/>
          <a:lstStyle/>
          <a:p>
            <a:pPr marL="0" indent="0">
              <a:buNone/>
            </a:pPr>
            <a:r>
              <a:rPr lang="en-US" sz="1500" b="1" dirty="0">
                <a:solidFill>
                  <a:srgbClr val="14171A"/>
                </a:solidFill>
                <a:latin typeface="Atkinson Hyperlegible Next" pitchFamily="34" charset="0"/>
                <a:ea typeface="Atkinson Hyperlegible Next" pitchFamily="34" charset="-122"/>
                <a:cs typeface="Atkinson Hyperlegible Next" pitchFamily="34" charset="-120"/>
              </a:rPr>
              <a:t>A person in crisis gets a person</a:t>
            </a:r>
            <a:endParaRPr lang="en-US" sz="1500" dirty="0"/>
          </a:p>
          <a:p>
            <a:pPr marL="0" indent="0">
              <a:spcBef>
                <a:spcPts val="300"/>
              </a:spcBef>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Signs of a crisis lead to verified helplines and the local social assistance centre, never to innovations, and nothing is stored. A request meant to exclude or demean is declined, with a reason and a way to appeal.</a:t>
            </a:r>
            <a:endParaRPr lang="en-US" sz="1500" dirty="0"/>
          </a:p>
        </p:txBody>
      </p:sp>
      <p:sp>
        <p:nvSpPr>
          <p:cNvPr id="25" name="Shape 22"/>
          <p:cNvSpPr/>
          <p:nvPr/>
        </p:nvSpPr>
        <p:spPr>
          <a:xfrm>
            <a:off x="3744933" y="4133088"/>
            <a:ext cx="329184" cy="329184"/>
          </a:xfrm>
          <a:prstGeom prst="ellipse">
            <a:avLst/>
          </a:prstGeom>
          <a:solidFill>
            <a:srgbClr val="1A4B8C"/>
          </a:solidFill>
          <a:ln w="12700">
            <a:solidFill>
              <a:srgbClr val="1A4B8C"/>
            </a:solidFill>
            <a:prstDash val="solid"/>
          </a:ln>
        </p:spPr>
      </p:sp>
      <p:sp>
        <p:nvSpPr>
          <p:cNvPr id="26" name="Text 23"/>
          <p:cNvSpPr txBox="1"/>
          <p:nvPr/>
        </p:nvSpPr>
        <p:spPr>
          <a:xfrm>
            <a:off x="3744933" y="41330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Symbol" pitchFamily="34" charset="0"/>
                <a:ea typeface="Segoe UI Symbol" pitchFamily="34" charset="-122"/>
                <a:cs typeface="Segoe UI Symbol" pitchFamily="34" charset="-120"/>
              </a:rPr>
              <a:t>✓</a:t>
            </a:r>
            <a:endParaRPr lang="en-US" sz="1300" dirty="0"/>
          </a:p>
        </p:txBody>
      </p:sp>
      <p:sp>
        <p:nvSpPr>
          <p:cNvPr id="27" name="Text 24"/>
          <p:cNvSpPr txBox="1"/>
          <p:nvPr/>
        </p:nvSpPr>
        <p:spPr>
          <a:xfrm>
            <a:off x="4247853" y="4114800"/>
            <a:ext cx="7303762" cy="1005840"/>
          </a:xfrm>
          <a:prstGeom prst="rect">
            <a:avLst/>
          </a:prstGeom>
          <a:noFill/>
          <a:ln/>
        </p:spPr>
        <p:txBody>
          <a:bodyPr wrap="square" lIns="0" tIns="0" rIns="0" bIns="0" rtlCol="0" anchor="t"/>
          <a:lstStyle/>
          <a:p>
            <a:pPr marL="0" indent="0">
              <a:buNone/>
            </a:pPr>
            <a:r>
              <a:rPr lang="en-US" sz="1500" b="1" dirty="0">
                <a:solidFill>
                  <a:srgbClr val="14171A"/>
                </a:solidFill>
                <a:latin typeface="Atkinson Hyperlegible Next" pitchFamily="34" charset="0"/>
                <a:ea typeface="Atkinson Hyperlegible Next" pitchFamily="34" charset="-122"/>
                <a:cs typeface="Atkinson Hyperlegible Next" pitchFamily="34" charset="-120"/>
              </a:rPr>
              <a:t>Nothing invented</a:t>
            </a:r>
            <a:endParaRPr lang="en-US" sz="1500" dirty="0"/>
          </a:p>
          <a:p>
            <a:pPr marL="0" indent="0">
              <a:spcBef>
                <a:spcPts val="300"/>
              </a:spcBef>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Solutions, organisations and people come only from the catalogues; amounts, deadlines and legal bases only from the curated paths. Every identifier and quote is checked, and generated text is labelled.</a:t>
            </a:r>
            <a:endParaRPr lang="en-US" sz="1500" dirty="0"/>
          </a:p>
        </p:txBody>
      </p:sp>
      <p:sp>
        <p:nvSpPr>
          <p:cNvPr id="28" name="Shape 25"/>
          <p:cNvSpPr/>
          <p:nvPr/>
        </p:nvSpPr>
        <p:spPr>
          <a:xfrm>
            <a:off x="3744933" y="5230368"/>
            <a:ext cx="329184" cy="329184"/>
          </a:xfrm>
          <a:prstGeom prst="ellipse">
            <a:avLst/>
          </a:prstGeom>
          <a:solidFill>
            <a:srgbClr val="1A4B8C"/>
          </a:solidFill>
          <a:ln w="12700">
            <a:solidFill>
              <a:srgbClr val="1A4B8C"/>
            </a:solidFill>
            <a:prstDash val="solid"/>
          </a:ln>
        </p:spPr>
      </p:sp>
      <p:sp>
        <p:nvSpPr>
          <p:cNvPr id="29" name="Text 26"/>
          <p:cNvSpPr txBox="1"/>
          <p:nvPr/>
        </p:nvSpPr>
        <p:spPr>
          <a:xfrm>
            <a:off x="3744933" y="52303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Symbol" pitchFamily="34" charset="0"/>
                <a:ea typeface="Segoe UI Symbol" pitchFamily="34" charset="-122"/>
                <a:cs typeface="Segoe UI Symbol" pitchFamily="34" charset="-120"/>
              </a:rPr>
              <a:t>✓</a:t>
            </a:r>
            <a:endParaRPr lang="en-US" sz="1300" dirty="0"/>
          </a:p>
        </p:txBody>
      </p:sp>
      <p:sp>
        <p:nvSpPr>
          <p:cNvPr id="30" name="Text 27"/>
          <p:cNvSpPr txBox="1"/>
          <p:nvPr/>
        </p:nvSpPr>
        <p:spPr>
          <a:xfrm>
            <a:off x="4247853" y="5212080"/>
            <a:ext cx="7303762" cy="1005840"/>
          </a:xfrm>
          <a:prstGeom prst="rect">
            <a:avLst/>
          </a:prstGeom>
          <a:noFill/>
          <a:ln/>
        </p:spPr>
        <p:txBody>
          <a:bodyPr wrap="square" lIns="0" tIns="0" rIns="0" bIns="0" rtlCol="0" anchor="t"/>
          <a:lstStyle/>
          <a:p>
            <a:pPr marL="0" indent="0">
              <a:buNone/>
            </a:pPr>
            <a:r>
              <a:rPr lang="en-US" sz="1500" b="1" dirty="0">
                <a:solidFill>
                  <a:srgbClr val="14171A"/>
                </a:solidFill>
                <a:latin typeface="Atkinson Hyperlegible Next" pitchFamily="34" charset="0"/>
                <a:ea typeface="Atkinson Hyperlegible Next" pitchFamily="34" charset="-122"/>
                <a:cs typeface="Atkinson Hyperlegible Next" pitchFamily="34" charset="-120"/>
              </a:rPr>
              <a:t>People stay in the loop</a:t>
            </a:r>
            <a:endParaRPr lang="en-US" sz="1500" dirty="0"/>
          </a:p>
          <a:p>
            <a:pPr marL="0" indent="0">
              <a:spcBef>
                <a:spcPts val="300"/>
              </a:spcBef>
              <a:buNone/>
            </a:pPr>
            <a:r>
              <a:rPr lang="en-US" sz="1200" dirty="0">
                <a:solidFill>
                  <a:srgbClr val="454D57"/>
                </a:solidFill>
                <a:latin typeface="Atkinson Hyperlegible Next" pitchFamily="34" charset="0"/>
                <a:ea typeface="Atkinson Hyperlegible Next" pitchFamily="34" charset="-122"/>
                <a:cs typeface="Atkinson Hyperlegible Next" pitchFamily="34" charset="-120"/>
              </a:rPr>
              <a:t>The tool sends nothing to anyone: contact requests and registrations wait for a ROPS moderator, in the console of the roadmap. PESEL numbers, phone numbers and addresses are removed before storage and before any prompt. The tool decides nothing about an individual.</a:t>
            </a:r>
            <a:endParaRPr lang="en-US" sz="1500" dirty="0"/>
          </a:p>
        </p:txBody>
      </p:sp>
      <p:sp>
        <p:nvSpPr>
          <p:cNvPr id="31" name="Text 28"/>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A pilot today, a service ROPS can run from Monday</a:t>
            </a:r>
            <a:endParaRPr lang="en-US" sz="3200" dirty="0"/>
          </a:p>
          <a:p>
            <a:pPr marL="0" indent="0">
              <a:spcBef>
                <a:spcPts val="600"/>
              </a:spcBef>
              <a:buNone/>
            </a:pPr>
            <a:r>
              <a:rPr lang="en-US" sz="1600" b="1" dirty="0">
                <a:solidFill>
                  <a:srgbClr val="1A4B8C"/>
                </a:solidFill>
                <a:latin typeface="Atkinson Hyperlegible Next" pitchFamily="34" charset="0"/>
                <a:ea typeface="Atkinson Hyperlegible Next" pitchFamily="34" charset="-122"/>
                <a:cs typeface="Atkinson Hyperlegible Next" pitchFamily="34" charset="-120"/>
              </a:rPr>
              <a:t>Built</a:t>
            </a:r>
            <a:r>
              <a:rPr lang="en-US" sz="1600" dirty="0">
                <a:solidFill>
                  <a:srgbClr val="454D57"/>
                </a:solidFill>
                <a:latin typeface="Atkinson Hyperlegible Next" pitchFamily="34" charset="0"/>
                <a:ea typeface="Atkinson Hyperlegible Next" pitchFamily="34" charset="-122"/>
                <a:cs typeface="Atkinson Hyperlegible Next" pitchFamily="34" charset="-120"/>
              </a:rPr>
              <a:t>: the end user's search for a solution.  </a:t>
            </a:r>
            <a:r>
              <a:rPr lang="en-US" sz="1600" b="1" dirty="0">
                <a:solidFill>
                  <a:srgbClr val="1A4B8C"/>
                </a:solidFill>
                <a:latin typeface="Atkinson Hyperlegible Next" pitchFamily="34" charset="0"/>
                <a:ea typeface="Atkinson Hyperlegible Next" pitchFamily="34" charset="-122"/>
                <a:cs typeface="Atkinson Hyperlegible Next" pitchFamily="34" charset="-120"/>
              </a:rPr>
              <a:t>Roadmap, not built yet</a:t>
            </a:r>
            <a:r>
              <a:rPr lang="en-US" sz="1600" dirty="0">
                <a:solidFill>
                  <a:srgbClr val="454D57"/>
                </a:solidFill>
                <a:latin typeface="Atkinson Hyperlegible Next" pitchFamily="34" charset="0"/>
                <a:ea typeface="Atkinson Hyperlegible Next" pitchFamily="34" charset="-122"/>
                <a:cs typeface="Atkinson Hyperlegible Next" pitchFamily="34" charset="-120"/>
              </a:rPr>
              <a:t>: the roles, the loops and the console</a:t>
            </a:r>
            <a:endParaRPr lang="en-US" sz="3200" dirty="0"/>
          </a:p>
        </p:txBody>
      </p:sp>
      <p:sp>
        <p:nvSpPr>
          <p:cNvPr id="3" name="Shape 1"/>
          <p:cNvSpPr/>
          <p:nvPr/>
        </p:nvSpPr>
        <p:spPr>
          <a:xfrm>
            <a:off x="640080" y="1691640"/>
            <a:ext cx="10911535" cy="777240"/>
          </a:xfrm>
          <a:prstGeom prst="roundRect">
            <a:avLst>
              <a:gd name="adj" fmla="val 11765"/>
            </a:avLst>
          </a:prstGeom>
          <a:solidFill>
            <a:srgbClr val="EEF4FB"/>
          </a:solidFill>
          <a:ln w="12700">
            <a:solidFill>
              <a:srgbClr val="EEF4FB"/>
            </a:solidFill>
            <a:prstDash val="solid"/>
          </a:ln>
        </p:spPr>
      </p:sp>
      <p:sp>
        <p:nvSpPr>
          <p:cNvPr id="4" name="Text 2"/>
          <p:cNvSpPr txBox="1"/>
          <p:nvPr/>
        </p:nvSpPr>
        <p:spPr>
          <a:xfrm>
            <a:off x="868680" y="1691640"/>
            <a:ext cx="10454335" cy="777240"/>
          </a:xfrm>
          <a:prstGeom prst="rect">
            <a:avLst/>
          </a:prstGeom>
          <a:noFill/>
          <a:ln/>
        </p:spPr>
        <p:txBody>
          <a:bodyPr wrap="square" lIns="0" tIns="0" rIns="0" bIns="0" rtlCol="0" anchor="ctr"/>
          <a:lstStyle/>
          <a:p>
            <a:pPr marL="0" indent="0">
              <a:buNone/>
            </a:pPr>
            <a:r>
              <a:rPr lang="en-US" sz="1000" b="1" kern="0" spc="100" dirty="0">
                <a:solidFill>
                  <a:srgbClr val="1A4B8C"/>
                </a:solidFill>
                <a:latin typeface="Atkinson Hyperlegible Next" pitchFamily="34" charset="0"/>
                <a:ea typeface="Atkinson Hyperlegible Next" pitchFamily="34" charset="-122"/>
                <a:cs typeface="Atkinson Hyperlegible Next" pitchFamily="34" charset="-120"/>
              </a:rPr>
              <a:t>BUILT  ·  A PILOT FOR THE END USER</a:t>
            </a:r>
            <a:endParaRPr lang="en-US" sz="1000" dirty="0"/>
          </a:p>
          <a:p>
            <a:pPr marL="0" indent="0">
              <a:spcBef>
                <a:spcPts val="300"/>
              </a:spcBef>
              <a:buNone/>
            </a:pPr>
            <a:r>
              <a:rPr lang="en-US" sz="1250" dirty="0">
                <a:solidFill>
                  <a:srgbClr val="14171A"/>
                </a:solidFill>
                <a:latin typeface="Atkinson Hyperlegible Next" pitchFamily="34" charset="0"/>
                <a:ea typeface="Atkinson Hyperlegible Next" pitchFamily="34" charset="-122"/>
                <a:cs typeface="Atkinson Hyperlegible Next" pitchFamily="34" charset="-120"/>
              </a:rPr>
              <a:t>Describe a need and get a route to proven solutions, knowledge, people and funding; when nothing fits, the needs bank and a brief for the incubator. Everything on the slides before this one runs today.</a:t>
            </a:r>
            <a:endParaRPr lang="en-US" sz="1000" dirty="0"/>
          </a:p>
        </p:txBody>
      </p:sp>
      <p:sp>
        <p:nvSpPr>
          <p:cNvPr id="5" name="Text 3"/>
          <p:cNvSpPr txBox="1"/>
          <p:nvPr/>
        </p:nvSpPr>
        <p:spPr>
          <a:xfrm>
            <a:off x="640080" y="2651760"/>
            <a:ext cx="10911535" cy="256032"/>
          </a:xfrm>
          <a:prstGeom prst="rect">
            <a:avLst/>
          </a:prstGeom>
          <a:noFill/>
          <a:ln/>
        </p:spPr>
        <p:txBody>
          <a:bodyPr wrap="square" lIns="0" tIns="0" rIns="0" bIns="0" rtlCol="0" anchor="ctr"/>
          <a:lstStyle/>
          <a:p>
            <a:pPr marL="0" indent="0">
              <a:buNone/>
            </a:pPr>
            <a:r>
              <a:rPr lang="en-US" sz="1000" b="1" kern="0" spc="100" dirty="0">
                <a:solidFill>
                  <a:srgbClr val="1A4B8C"/>
                </a:solidFill>
                <a:latin typeface="Atkinson Hyperlegible Next" pitchFamily="34" charset="0"/>
                <a:ea typeface="Atkinson Hyperlegible Next" pitchFamily="34" charset="-122"/>
                <a:cs typeface="Atkinson Hyperlegible Next" pitchFamily="34" charset="-120"/>
              </a:rPr>
              <a:t>ROADMAP  ·  NOT BUILT YET</a:t>
            </a:r>
            <a:endParaRPr lang="en-US" sz="1000" dirty="0"/>
          </a:p>
        </p:txBody>
      </p:sp>
      <p:sp>
        <p:nvSpPr>
          <p:cNvPr id="6" name="Text 4"/>
          <p:cNvSpPr txBox="1"/>
          <p:nvPr/>
        </p:nvSpPr>
        <p:spPr>
          <a:xfrm>
            <a:off x="640080" y="2980944"/>
            <a:ext cx="4846320" cy="292608"/>
          </a:xfrm>
          <a:prstGeom prst="rect">
            <a:avLst/>
          </a:prstGeom>
          <a:noFill/>
          <a:ln/>
        </p:spPr>
        <p:txBody>
          <a:bodyPr wrap="square" lIns="0" tIns="0" rIns="0" bIns="0" rtlCol="0" anchor="ctr"/>
          <a:lstStyle/>
          <a:p>
            <a:pPr marL="0" indent="0">
              <a:buNone/>
            </a:pPr>
            <a:r>
              <a:rPr lang="en-US" sz="1500" b="1" dirty="0">
                <a:solidFill>
                  <a:srgbClr val="1A4B8C"/>
                </a:solidFill>
                <a:latin typeface="Atkinson Hyperlegible Next" pitchFamily="34" charset="0"/>
                <a:ea typeface="Atkinson Hyperlegible Next" pitchFamily="34" charset="-122"/>
                <a:cs typeface="Atkinson Hyperlegible Next" pitchFamily="34" charset="-120"/>
              </a:rPr>
              <a:t>Three roles in the ROPS Social Innovation Unit</a:t>
            </a:r>
            <a:endParaRPr lang="en-US" sz="1500" dirty="0"/>
          </a:p>
        </p:txBody>
      </p:sp>
      <p:sp>
        <p:nvSpPr>
          <p:cNvPr id="7" name="Text 5"/>
          <p:cNvSpPr txBox="1"/>
          <p:nvPr/>
        </p:nvSpPr>
        <p:spPr>
          <a:xfrm>
            <a:off x="640080" y="3346704"/>
            <a:ext cx="4846320" cy="530352"/>
          </a:xfrm>
          <a:prstGeom prst="rect">
            <a:avLst/>
          </a:prstGeom>
          <a:noFill/>
          <a:ln/>
        </p:spPr>
        <p:txBody>
          <a:bodyPr wrap="square" lIns="0" tIns="0" rIns="0" bIns="0" rtlCol="0" anchor="t"/>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Category advisor</a:t>
            </a:r>
            <a:endParaRPr lang="en-US" sz="1300" dirty="0"/>
          </a:p>
          <a:p>
            <a:pPr marL="0" indent="0">
              <a:buNone/>
            </a:pPr>
            <a:r>
              <a:rPr lang="en-US" sz="1150" dirty="0">
                <a:solidFill>
                  <a:srgbClr val="454D57"/>
                </a:solidFill>
                <a:latin typeface="Atkinson Hyperlegible Next" pitchFamily="34" charset="0"/>
                <a:ea typeface="Atkinson Hyperlegible Next" pitchFamily="34" charset="-122"/>
                <a:cs typeface="Atkinson Hyperlegible Next" pitchFamily="34" charset="-120"/>
              </a:rPr>
              <a:t>the named person on every route; receives the contact requests</a:t>
            </a:r>
            <a:endParaRPr lang="en-US" sz="1300" dirty="0"/>
          </a:p>
        </p:txBody>
      </p:sp>
      <p:sp>
        <p:nvSpPr>
          <p:cNvPr id="8" name="Text 6"/>
          <p:cNvSpPr txBox="1"/>
          <p:nvPr/>
        </p:nvSpPr>
        <p:spPr>
          <a:xfrm>
            <a:off x="640080" y="3877056"/>
            <a:ext cx="4846320" cy="530352"/>
          </a:xfrm>
          <a:prstGeom prst="rect">
            <a:avLst/>
          </a:prstGeom>
          <a:noFill/>
          <a:ln/>
        </p:spPr>
        <p:txBody>
          <a:bodyPr wrap="square" lIns="0" tIns="0" rIns="0" bIns="0" rtlCol="0" anchor="t"/>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Catalogue editor</a:t>
            </a:r>
            <a:endParaRPr lang="en-US" sz="1300" dirty="0"/>
          </a:p>
          <a:p>
            <a:pPr marL="0" indent="0">
              <a:buNone/>
            </a:pPr>
            <a:r>
              <a:rPr lang="en-US" sz="1150" dirty="0">
                <a:solidFill>
                  <a:srgbClr val="454D57"/>
                </a:solidFill>
                <a:latin typeface="Atkinson Hyperlegible Next" pitchFamily="34" charset="0"/>
                <a:ea typeface="Atkinson Hyperlegible Next" pitchFamily="34" charset="-122"/>
                <a:cs typeface="Atkinson Hyperlegible Next" pitchFamily="34" charset="-120"/>
              </a:rPr>
              <a:t>keeps entries true, checks with innovators yearly, records implementations</a:t>
            </a:r>
            <a:endParaRPr lang="en-US" sz="1300" dirty="0"/>
          </a:p>
        </p:txBody>
      </p:sp>
      <p:sp>
        <p:nvSpPr>
          <p:cNvPr id="9" name="Text 7"/>
          <p:cNvSpPr txBox="1"/>
          <p:nvPr/>
        </p:nvSpPr>
        <p:spPr>
          <a:xfrm>
            <a:off x="640080" y="4407408"/>
            <a:ext cx="4846320" cy="530352"/>
          </a:xfrm>
          <a:prstGeom prst="rect">
            <a:avLst/>
          </a:prstGeom>
          <a:noFill/>
          <a:ln/>
        </p:spPr>
        <p:txBody>
          <a:bodyPr wrap="square" lIns="0" tIns="0" rIns="0" bIns="0" rtlCol="0" anchor="t"/>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Needs-bank coordinator</a:t>
            </a:r>
            <a:endParaRPr lang="en-US" sz="1300" dirty="0"/>
          </a:p>
          <a:p>
            <a:pPr marL="0" indent="0">
              <a:buNone/>
            </a:pPr>
            <a:r>
              <a:rPr lang="en-US" sz="1150" dirty="0">
                <a:solidFill>
                  <a:srgbClr val="454D57"/>
                </a:solidFill>
                <a:latin typeface="Atkinson Hyperlegible Next" pitchFamily="34" charset="0"/>
                <a:ea typeface="Atkinson Hyperlegible Next" pitchFamily="34" charset="-122"/>
                <a:cs typeface="Atkinson Hyperlegible Next" pitchFamily="34" charset="-120"/>
              </a:rPr>
              <a:t>reviews needs weekly, merges them into call topics</a:t>
            </a:r>
            <a:endParaRPr lang="en-US" sz="1300" dirty="0"/>
          </a:p>
        </p:txBody>
      </p:sp>
      <p:sp>
        <p:nvSpPr>
          <p:cNvPr id="10" name="Text 8"/>
          <p:cNvSpPr txBox="1"/>
          <p:nvPr/>
        </p:nvSpPr>
        <p:spPr>
          <a:xfrm>
            <a:off x="5897880" y="2980944"/>
            <a:ext cx="5653735" cy="292608"/>
          </a:xfrm>
          <a:prstGeom prst="rect">
            <a:avLst/>
          </a:prstGeom>
          <a:noFill/>
          <a:ln/>
        </p:spPr>
        <p:txBody>
          <a:bodyPr wrap="square" lIns="0" tIns="0" rIns="0" bIns="0" rtlCol="0" anchor="ctr"/>
          <a:lstStyle/>
          <a:p>
            <a:pPr marL="0" indent="0">
              <a:buNone/>
            </a:pPr>
            <a:r>
              <a:rPr lang="en-US" sz="1500" b="1" dirty="0">
                <a:solidFill>
                  <a:srgbClr val="1A4B8C"/>
                </a:solidFill>
                <a:latin typeface="Atkinson Hyperlegible Next" pitchFamily="34" charset="0"/>
                <a:ea typeface="Atkinson Hyperlegible Next" pitchFamily="34" charset="-122"/>
                <a:cs typeface="Atkinson Hyperlegible Next" pitchFamily="34" charset="-120"/>
              </a:rPr>
              <a:t>Three loops the tool would close</a:t>
            </a:r>
            <a:endParaRPr lang="en-US" sz="1500" dirty="0"/>
          </a:p>
        </p:txBody>
      </p:sp>
      <p:sp>
        <p:nvSpPr>
          <p:cNvPr id="11" name="Shape 9"/>
          <p:cNvSpPr/>
          <p:nvPr/>
        </p:nvSpPr>
        <p:spPr>
          <a:xfrm>
            <a:off x="5897880" y="3364992"/>
            <a:ext cx="292608" cy="292608"/>
          </a:xfrm>
          <a:prstGeom prst="ellipse">
            <a:avLst/>
          </a:prstGeom>
          <a:solidFill>
            <a:srgbClr val="FFFFFF"/>
          </a:solidFill>
          <a:ln w="19050">
            <a:solidFill>
              <a:srgbClr val="1A4B8C"/>
            </a:solidFill>
            <a:prstDash val="solid"/>
          </a:ln>
        </p:spPr>
      </p:sp>
      <p:sp>
        <p:nvSpPr>
          <p:cNvPr id="12" name="Text 10"/>
          <p:cNvSpPr txBox="1"/>
          <p:nvPr/>
        </p:nvSpPr>
        <p:spPr>
          <a:xfrm>
            <a:off x="5897880" y="3364992"/>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1</a:t>
            </a:r>
            <a:endParaRPr lang="en-US" sz="1200" dirty="0"/>
          </a:p>
        </p:txBody>
      </p:sp>
      <p:sp>
        <p:nvSpPr>
          <p:cNvPr id="13" name="Text 11"/>
          <p:cNvSpPr txBox="1"/>
          <p:nvPr/>
        </p:nvSpPr>
        <p:spPr>
          <a:xfrm>
            <a:off x="6309360" y="3346704"/>
            <a:ext cx="5242255" cy="329184"/>
          </a:xfrm>
          <a:prstGeom prst="rect">
            <a:avLst/>
          </a:prstGeom>
          <a:noFill/>
          <a:ln/>
        </p:spPr>
        <p:txBody>
          <a:bodyPr wrap="square" lIns="0" tIns="0" rIns="0" bIns="0" rtlCol="0" anchor="ctr"/>
          <a:lstStyle/>
          <a:p>
            <a:pPr marL="0" indent="0">
              <a:buNone/>
            </a:pPr>
            <a:r>
              <a:rPr lang="en-US" sz="1250" b="1" dirty="0">
                <a:solidFill>
                  <a:srgbClr val="14171A"/>
                </a:solidFill>
                <a:latin typeface="Atkinson Hyperlegible Next" pitchFamily="34" charset="0"/>
                <a:ea typeface="Atkinson Hyperlegible Next" pitchFamily="34" charset="-122"/>
                <a:cs typeface="Atkinson Hyperlegible Next" pitchFamily="34" charset="-120"/>
              </a:rPr>
              <a:t>Need</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route</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contact</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b="1" dirty="0">
                <a:solidFill>
                  <a:srgbClr val="14171A"/>
                </a:solidFill>
                <a:latin typeface="Atkinson Hyperlegible Next" pitchFamily="34" charset="0"/>
                <a:ea typeface="Atkinson Hyperlegible Next" pitchFamily="34" charset="-122"/>
                <a:cs typeface="Atkinson Hyperlegible Next" pitchFamily="34" charset="-120"/>
              </a:rPr>
              <a:t>new implementation</a:t>
            </a:r>
            <a:endParaRPr lang="en-US" sz="1250" dirty="0"/>
          </a:p>
        </p:txBody>
      </p:sp>
      <p:sp>
        <p:nvSpPr>
          <p:cNvPr id="14" name="Shape 12"/>
          <p:cNvSpPr/>
          <p:nvPr/>
        </p:nvSpPr>
        <p:spPr>
          <a:xfrm>
            <a:off x="5897880" y="3895344"/>
            <a:ext cx="292608" cy="292608"/>
          </a:xfrm>
          <a:prstGeom prst="ellipse">
            <a:avLst/>
          </a:prstGeom>
          <a:solidFill>
            <a:srgbClr val="FFFFFF"/>
          </a:solidFill>
          <a:ln w="19050">
            <a:solidFill>
              <a:srgbClr val="1A4B8C"/>
            </a:solidFill>
            <a:prstDash val="solid"/>
          </a:ln>
        </p:spPr>
      </p:sp>
      <p:sp>
        <p:nvSpPr>
          <p:cNvPr id="15" name="Text 13"/>
          <p:cNvSpPr txBox="1"/>
          <p:nvPr/>
        </p:nvSpPr>
        <p:spPr>
          <a:xfrm>
            <a:off x="5897880" y="3895344"/>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2</a:t>
            </a:r>
            <a:endParaRPr lang="en-US" sz="1200" dirty="0"/>
          </a:p>
        </p:txBody>
      </p:sp>
      <p:sp>
        <p:nvSpPr>
          <p:cNvPr id="16" name="Text 14"/>
          <p:cNvSpPr txBox="1"/>
          <p:nvPr/>
        </p:nvSpPr>
        <p:spPr>
          <a:xfrm>
            <a:off x="6309360" y="3877056"/>
            <a:ext cx="5242255" cy="329184"/>
          </a:xfrm>
          <a:prstGeom prst="rect">
            <a:avLst/>
          </a:prstGeom>
          <a:noFill/>
          <a:ln/>
        </p:spPr>
        <p:txBody>
          <a:bodyPr wrap="square" lIns="0" tIns="0" rIns="0" bIns="0" rtlCol="0" anchor="ctr"/>
          <a:lstStyle/>
          <a:p>
            <a:pPr marL="0" indent="0">
              <a:buNone/>
            </a:pPr>
            <a:r>
              <a:rPr lang="en-US" sz="1250" b="1" dirty="0">
                <a:solidFill>
                  <a:srgbClr val="14171A"/>
                </a:solidFill>
                <a:latin typeface="Atkinson Hyperlegible Next" pitchFamily="34" charset="0"/>
                <a:ea typeface="Atkinson Hyperlegible Next" pitchFamily="34" charset="-122"/>
                <a:cs typeface="Atkinson Hyperlegible Next" pitchFamily="34" charset="-120"/>
              </a:rPr>
              <a:t>Need</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no match</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needs bank</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call topic</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b="1" dirty="0">
                <a:solidFill>
                  <a:srgbClr val="14171A"/>
                </a:solidFill>
                <a:latin typeface="Atkinson Hyperlegible Next" pitchFamily="34" charset="0"/>
                <a:ea typeface="Atkinson Hyperlegible Next" pitchFamily="34" charset="-122"/>
                <a:cs typeface="Atkinson Hyperlegible Next" pitchFamily="34" charset="-120"/>
              </a:rPr>
              <a:t>new innovation</a:t>
            </a:r>
            <a:endParaRPr lang="en-US" sz="1250" dirty="0"/>
          </a:p>
        </p:txBody>
      </p:sp>
      <p:sp>
        <p:nvSpPr>
          <p:cNvPr id="17" name="Shape 15"/>
          <p:cNvSpPr/>
          <p:nvPr/>
        </p:nvSpPr>
        <p:spPr>
          <a:xfrm>
            <a:off x="5897880" y="4425696"/>
            <a:ext cx="292608" cy="292608"/>
          </a:xfrm>
          <a:prstGeom prst="ellipse">
            <a:avLst/>
          </a:prstGeom>
          <a:solidFill>
            <a:srgbClr val="FFFFFF"/>
          </a:solidFill>
          <a:ln w="19050">
            <a:solidFill>
              <a:srgbClr val="1A4B8C"/>
            </a:solidFill>
            <a:prstDash val="solid"/>
          </a:ln>
        </p:spPr>
      </p:sp>
      <p:sp>
        <p:nvSpPr>
          <p:cNvPr id="18" name="Text 16"/>
          <p:cNvSpPr txBox="1"/>
          <p:nvPr/>
        </p:nvSpPr>
        <p:spPr>
          <a:xfrm>
            <a:off x="5897880" y="4425696"/>
            <a:ext cx="292608" cy="292608"/>
          </a:xfrm>
          <a:prstGeom prst="rect">
            <a:avLst/>
          </a:prstGeom>
          <a:noFill/>
          <a:ln/>
        </p:spPr>
        <p:txBody>
          <a:bodyPr wrap="square" lIns="0" tIns="0" rIns="0" bIns="0" rtlCol="0" anchor="ctr"/>
          <a:lstStyle/>
          <a:p>
            <a:pPr marL="0" indent="0" algn="ctr">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3</a:t>
            </a:r>
            <a:endParaRPr lang="en-US" sz="1200" dirty="0"/>
          </a:p>
        </p:txBody>
      </p:sp>
      <p:sp>
        <p:nvSpPr>
          <p:cNvPr id="19" name="Text 17"/>
          <p:cNvSpPr txBox="1"/>
          <p:nvPr/>
        </p:nvSpPr>
        <p:spPr>
          <a:xfrm>
            <a:off x="6309360" y="4407408"/>
            <a:ext cx="5242255" cy="329184"/>
          </a:xfrm>
          <a:prstGeom prst="rect">
            <a:avLst/>
          </a:prstGeom>
          <a:noFill/>
          <a:ln/>
        </p:spPr>
        <p:txBody>
          <a:bodyPr wrap="square" lIns="0" tIns="0" rIns="0" bIns="0" rtlCol="0" anchor="ctr"/>
          <a:lstStyle/>
          <a:p>
            <a:pPr marL="0" indent="0">
              <a:buNone/>
            </a:pPr>
            <a:r>
              <a:rPr lang="en-US" sz="1250" b="1" dirty="0">
                <a:solidFill>
                  <a:srgbClr val="14171A"/>
                </a:solidFill>
                <a:latin typeface="Atkinson Hyperlegible Next" pitchFamily="34" charset="0"/>
                <a:ea typeface="Atkinson Hyperlegible Next" pitchFamily="34" charset="-122"/>
                <a:cs typeface="Atkinson Hyperlegible Next" pitchFamily="34" charset="-120"/>
              </a:rPr>
              <a:t>Innovation</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dirty="0">
                <a:solidFill>
                  <a:srgbClr val="14171A"/>
                </a:solidFill>
                <a:latin typeface="Atkinson Hyperlegible Next" pitchFamily="34" charset="0"/>
                <a:ea typeface="Atkinson Hyperlegible Next" pitchFamily="34" charset="-122"/>
                <a:cs typeface="Atkinson Hyperlegible Next" pitchFamily="34" charset="-120"/>
              </a:rPr>
              <a:t>map of need</a:t>
            </a:r>
            <a:r>
              <a:rPr lang="en-US" sz="1250" b="1" dirty="0">
                <a:solidFill>
                  <a:srgbClr val="1A4B8C"/>
                </a:solidFill>
                <a:latin typeface="Atkinson Hyperlegible Next" pitchFamily="34" charset="0"/>
                <a:ea typeface="Atkinson Hyperlegible Next" pitchFamily="34" charset="-122"/>
                <a:cs typeface="Atkinson Hyperlegible Next" pitchFamily="34" charset="-120"/>
              </a:rPr>
              <a:t>  →  </a:t>
            </a:r>
            <a:r>
              <a:rPr lang="en-US" sz="1250" b="1" dirty="0">
                <a:solidFill>
                  <a:srgbClr val="14171A"/>
                </a:solidFill>
                <a:latin typeface="Atkinson Hyperlegible Next" pitchFamily="34" charset="0"/>
                <a:ea typeface="Atkinson Hyperlegible Next" pitchFamily="34" charset="-122"/>
                <a:cs typeface="Atkinson Hyperlegible Next" pitchFamily="34" charset="-120"/>
              </a:rPr>
              <a:t>grants where it is absent</a:t>
            </a:r>
            <a:endParaRPr lang="en-US" sz="1250" dirty="0"/>
          </a:p>
        </p:txBody>
      </p:sp>
      <p:sp>
        <p:nvSpPr>
          <p:cNvPr id="20" name="Shape 18"/>
          <p:cNvSpPr/>
          <p:nvPr/>
        </p:nvSpPr>
        <p:spPr>
          <a:xfrm>
            <a:off x="640080" y="5120640"/>
            <a:ext cx="4846320" cy="1207008"/>
          </a:xfrm>
          <a:prstGeom prst="roundRect">
            <a:avLst>
              <a:gd name="adj" fmla="val 7576"/>
            </a:avLst>
          </a:prstGeom>
          <a:solidFill>
            <a:srgbClr val="F3F5F8"/>
          </a:solidFill>
          <a:ln w="12700">
            <a:solidFill>
              <a:srgbClr val="F3F5F8"/>
            </a:solidFill>
            <a:prstDash val="solid"/>
          </a:ln>
        </p:spPr>
      </p:sp>
      <p:sp>
        <p:nvSpPr>
          <p:cNvPr id="21" name="Text 19"/>
          <p:cNvSpPr txBox="1"/>
          <p:nvPr/>
        </p:nvSpPr>
        <p:spPr>
          <a:xfrm>
            <a:off x="822960" y="5120640"/>
            <a:ext cx="4480560" cy="1207008"/>
          </a:xfrm>
          <a:prstGeom prst="rect">
            <a:avLst/>
          </a:prstGeom>
          <a:noFill/>
          <a:ln/>
        </p:spPr>
        <p:txBody>
          <a:bodyPr wrap="square" lIns="0" tIns="0" rIns="0" bIns="0" rtlCol="0" anchor="ctr"/>
          <a:lstStyle/>
          <a:p>
            <a:pPr marL="0" indent="0">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Counted already:  </a:t>
            </a:r>
            <a:r>
              <a:rPr lang="en-US" sz="1200" dirty="0">
                <a:solidFill>
                  <a:srgbClr val="14171A"/>
                </a:solidFill>
                <a:latin typeface="Atkinson Hyperlegible Next" pitchFamily="34" charset="0"/>
                <a:ea typeface="Atkinson Hyperlegible Next" pitchFamily="34" charset="-122"/>
                <a:cs typeface="Atkinson Hyperlegible Next" pitchFamily="34" charset="-120"/>
              </a:rPr>
              <a:t>routes, contact requests, needs filed, briefs generated. The page that shows them to ROPS is part of the roadmap.</a:t>
            </a:r>
            <a:endParaRPr lang="en-US" sz="1200" dirty="0"/>
          </a:p>
        </p:txBody>
      </p:sp>
      <p:sp>
        <p:nvSpPr>
          <p:cNvPr id="22" name="Shape 20"/>
          <p:cNvSpPr/>
          <p:nvPr/>
        </p:nvSpPr>
        <p:spPr>
          <a:xfrm>
            <a:off x="5897880" y="5120640"/>
            <a:ext cx="5653735" cy="1207008"/>
          </a:xfrm>
          <a:prstGeom prst="roundRect">
            <a:avLst>
              <a:gd name="adj" fmla="val 7576"/>
            </a:avLst>
          </a:prstGeom>
          <a:solidFill>
            <a:srgbClr val="EEF4FB"/>
          </a:solidFill>
          <a:ln w="12700">
            <a:solidFill>
              <a:srgbClr val="EEF4FB"/>
            </a:solidFill>
            <a:prstDash val="solid"/>
          </a:ln>
        </p:spPr>
      </p:sp>
      <p:sp>
        <p:nvSpPr>
          <p:cNvPr id="23" name="Text 21"/>
          <p:cNvSpPr txBox="1"/>
          <p:nvPr/>
        </p:nvSpPr>
        <p:spPr>
          <a:xfrm>
            <a:off x="6080760" y="5212080"/>
            <a:ext cx="5287975" cy="274320"/>
          </a:xfrm>
          <a:prstGeom prst="rect">
            <a:avLst/>
          </a:prstGeom>
          <a:noFill/>
          <a:ln/>
        </p:spPr>
        <p:txBody>
          <a:bodyPr wrap="square" lIns="0" tIns="0" rIns="0" bIns="0" rtlCol="0" anchor="ctr"/>
          <a:lstStyle/>
          <a:p>
            <a:pPr marL="0" indent="0">
              <a:buNone/>
            </a:pPr>
            <a:r>
              <a:rPr lang="en-US" sz="1300" b="1" dirty="0">
                <a:solidFill>
                  <a:srgbClr val="1A4B8C"/>
                </a:solidFill>
                <a:latin typeface="Atkinson Hyperlegible Next" pitchFamily="34" charset="0"/>
                <a:ea typeface="Atkinson Hyperlegible Next" pitchFamily="34" charset="-122"/>
                <a:cs typeface="Atkinson Hyperlegible Next" pitchFamily="34" charset="-120"/>
              </a:rPr>
              <a:t>About $55 a month, plus $8 per 1 000 routes</a:t>
            </a:r>
            <a:endParaRPr lang="en-US" sz="1300" dirty="0"/>
          </a:p>
        </p:txBody>
      </p:sp>
      <p:sp>
        <p:nvSpPr>
          <p:cNvPr id="24" name="Text 22"/>
          <p:cNvSpPr txBox="1"/>
          <p:nvPr/>
        </p:nvSpPr>
        <p:spPr>
          <a:xfrm>
            <a:off x="6080760" y="5504688"/>
            <a:ext cx="4373575" cy="182880"/>
          </a:xfrm>
          <a:prstGeom prst="rect">
            <a:avLst/>
          </a:prstGeom>
          <a:noFill/>
          <a:ln/>
        </p:spPr>
        <p:txBody>
          <a:bodyPr wrap="square" lIns="0" tIns="0" rIns="0" bIns="0" rtlCol="0" anchor="ctr"/>
          <a:lstStyle/>
          <a:p>
            <a:pPr marL="0" indent="0">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Server  </a:t>
            </a:r>
            <a:r>
              <a:rPr lang="en-US" sz="1050" dirty="0">
                <a:solidFill>
                  <a:srgbClr val="454D57"/>
                </a:solidFill>
                <a:latin typeface="Atkinson Hyperlegible Next" pitchFamily="34" charset="0"/>
                <a:ea typeface="Atkinson Hyperlegible Next" pitchFamily="34" charset="-122"/>
                <a:cs typeface="Atkinson Hyperlegible Next" pitchFamily="34" charset="-120"/>
              </a:rPr>
              <a:t>app + Polish embedding model, 4 GB</a:t>
            </a:r>
            <a:endParaRPr lang="en-US" sz="1050" dirty="0"/>
          </a:p>
        </p:txBody>
      </p:sp>
      <p:sp>
        <p:nvSpPr>
          <p:cNvPr id="25" name="Text 23"/>
          <p:cNvSpPr txBox="1"/>
          <p:nvPr/>
        </p:nvSpPr>
        <p:spPr>
          <a:xfrm>
            <a:off x="10408615" y="5504688"/>
            <a:ext cx="960120" cy="182880"/>
          </a:xfrm>
          <a:prstGeom prst="rect">
            <a:avLst/>
          </a:prstGeom>
          <a:noFill/>
          <a:ln/>
        </p:spPr>
        <p:txBody>
          <a:bodyPr wrap="square" lIns="0" tIns="0" rIns="0" bIns="0" rtlCol="0" anchor="ctr"/>
          <a:lstStyle/>
          <a:p>
            <a:pPr marL="0" indent="0" algn="r">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$24 / month</a:t>
            </a:r>
            <a:endParaRPr lang="en-US" sz="1050" dirty="0"/>
          </a:p>
        </p:txBody>
      </p:sp>
      <p:sp>
        <p:nvSpPr>
          <p:cNvPr id="26" name="Text 24"/>
          <p:cNvSpPr txBox="1"/>
          <p:nvPr/>
        </p:nvSpPr>
        <p:spPr>
          <a:xfrm>
            <a:off x="6080760" y="5687568"/>
            <a:ext cx="4373575" cy="182880"/>
          </a:xfrm>
          <a:prstGeom prst="rect">
            <a:avLst/>
          </a:prstGeom>
          <a:noFill/>
          <a:ln/>
        </p:spPr>
        <p:txBody>
          <a:bodyPr wrap="square" lIns="0" tIns="0" rIns="0" bIns="0" rtlCol="0" anchor="ctr"/>
          <a:lstStyle/>
          <a:p>
            <a:pPr marL="0" indent="0">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Database  </a:t>
            </a:r>
            <a:r>
              <a:rPr lang="en-US" sz="1050" dirty="0">
                <a:solidFill>
                  <a:srgbClr val="454D57"/>
                </a:solidFill>
                <a:latin typeface="Atkinson Hyperlegible Next" pitchFamily="34" charset="0"/>
                <a:ea typeface="Atkinson Hyperlegible Next" pitchFamily="34" charset="-122"/>
                <a:cs typeface="Atkinson Hyperlegible Next" pitchFamily="34" charset="-120"/>
              </a:rPr>
              <a:t>PostgreSQL + pgvector, RDS 2 GB</a:t>
            </a:r>
            <a:endParaRPr lang="en-US" sz="1050" dirty="0"/>
          </a:p>
        </p:txBody>
      </p:sp>
      <p:sp>
        <p:nvSpPr>
          <p:cNvPr id="27" name="Text 25"/>
          <p:cNvSpPr txBox="1"/>
          <p:nvPr/>
        </p:nvSpPr>
        <p:spPr>
          <a:xfrm>
            <a:off x="10408615" y="5687568"/>
            <a:ext cx="960120" cy="182880"/>
          </a:xfrm>
          <a:prstGeom prst="rect">
            <a:avLst/>
          </a:prstGeom>
          <a:noFill/>
          <a:ln/>
        </p:spPr>
        <p:txBody>
          <a:bodyPr wrap="square" lIns="0" tIns="0" rIns="0" bIns="0" rtlCol="0" anchor="ctr"/>
          <a:lstStyle/>
          <a:p>
            <a:pPr marL="0" indent="0" algn="r">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$30 / month</a:t>
            </a:r>
            <a:endParaRPr lang="en-US" sz="1050" dirty="0"/>
          </a:p>
        </p:txBody>
      </p:sp>
      <p:sp>
        <p:nvSpPr>
          <p:cNvPr id="28" name="Text 26"/>
          <p:cNvSpPr txBox="1"/>
          <p:nvPr/>
        </p:nvSpPr>
        <p:spPr>
          <a:xfrm>
            <a:off x="6080760" y="5870448"/>
            <a:ext cx="4373575" cy="182880"/>
          </a:xfrm>
          <a:prstGeom prst="rect">
            <a:avLst/>
          </a:prstGeom>
          <a:noFill/>
          <a:ln/>
        </p:spPr>
        <p:txBody>
          <a:bodyPr wrap="square" lIns="0" tIns="0" rIns="0" bIns="0" rtlCol="0" anchor="ctr"/>
          <a:lstStyle/>
          <a:p>
            <a:pPr marL="0" indent="0">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Model call  </a:t>
            </a:r>
            <a:r>
              <a:rPr lang="en-US" sz="1050" dirty="0">
                <a:solidFill>
                  <a:srgbClr val="454D57"/>
                </a:solidFill>
                <a:latin typeface="Atkinson Hyperlegible Next" pitchFamily="34" charset="0"/>
                <a:ea typeface="Atkinson Hyperlegible Next" pitchFamily="34" charset="-122"/>
                <a:cs typeface="Atkinson Hyperlegible Next" pitchFamily="34" charset="-120"/>
              </a:rPr>
              <a:t>Bielik 11B on Hugging Face, ~5k tokens</a:t>
            </a:r>
            <a:endParaRPr lang="en-US" sz="1050" dirty="0"/>
          </a:p>
        </p:txBody>
      </p:sp>
      <p:sp>
        <p:nvSpPr>
          <p:cNvPr id="29" name="Text 27"/>
          <p:cNvSpPr txBox="1"/>
          <p:nvPr/>
        </p:nvSpPr>
        <p:spPr>
          <a:xfrm>
            <a:off x="10408615" y="5870448"/>
            <a:ext cx="960120" cy="182880"/>
          </a:xfrm>
          <a:prstGeom prst="rect">
            <a:avLst/>
          </a:prstGeom>
          <a:noFill/>
          <a:ln/>
        </p:spPr>
        <p:txBody>
          <a:bodyPr wrap="square" lIns="0" tIns="0" rIns="0" bIns="0" rtlCol="0" anchor="ctr"/>
          <a:lstStyle/>
          <a:p>
            <a:pPr marL="0" indent="0" algn="r">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$0.002</a:t>
            </a:r>
            <a:endParaRPr lang="en-US" sz="1050" dirty="0"/>
          </a:p>
        </p:txBody>
      </p:sp>
      <p:sp>
        <p:nvSpPr>
          <p:cNvPr id="30" name="Text 28"/>
          <p:cNvSpPr txBox="1"/>
          <p:nvPr/>
        </p:nvSpPr>
        <p:spPr>
          <a:xfrm>
            <a:off x="6080760" y="6053328"/>
            <a:ext cx="4373575" cy="182880"/>
          </a:xfrm>
          <a:prstGeom prst="rect">
            <a:avLst/>
          </a:prstGeom>
          <a:noFill/>
          <a:ln/>
        </p:spPr>
        <p:txBody>
          <a:bodyPr wrap="square" lIns="0" tIns="0" rIns="0" bIns="0" rtlCol="0" anchor="ctr"/>
          <a:lstStyle/>
          <a:p>
            <a:pPr marL="0" indent="0">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Route  </a:t>
            </a:r>
            <a:r>
              <a:rPr lang="en-US" sz="1050" dirty="0">
                <a:solidFill>
                  <a:srgbClr val="454D57"/>
                </a:solidFill>
                <a:latin typeface="Atkinson Hyperlegible Next" pitchFamily="34" charset="0"/>
                <a:ea typeface="Atkinson Hyperlegible Next" pitchFamily="34" charset="-122"/>
                <a:cs typeface="Atkinson Hyperlegible Next" pitchFamily="34" charset="-120"/>
              </a:rPr>
              <a:t>4 calls, ~21k tokens</a:t>
            </a:r>
            <a:endParaRPr lang="en-US" sz="1050" dirty="0"/>
          </a:p>
        </p:txBody>
      </p:sp>
      <p:sp>
        <p:nvSpPr>
          <p:cNvPr id="31" name="Text 29"/>
          <p:cNvSpPr txBox="1"/>
          <p:nvPr/>
        </p:nvSpPr>
        <p:spPr>
          <a:xfrm>
            <a:off x="10408615" y="6053328"/>
            <a:ext cx="960120" cy="182880"/>
          </a:xfrm>
          <a:prstGeom prst="rect">
            <a:avLst/>
          </a:prstGeom>
          <a:noFill/>
          <a:ln/>
        </p:spPr>
        <p:txBody>
          <a:bodyPr wrap="square" lIns="0" tIns="0" rIns="0" bIns="0" rtlCol="0" anchor="ctr"/>
          <a:lstStyle/>
          <a:p>
            <a:pPr marL="0" indent="0" algn="r">
              <a:buNone/>
            </a:pPr>
            <a:r>
              <a:rPr lang="en-US" sz="1050" b="1" dirty="0">
                <a:solidFill>
                  <a:srgbClr val="14171A"/>
                </a:solidFill>
                <a:latin typeface="Atkinson Hyperlegible Next" pitchFamily="34" charset="0"/>
                <a:ea typeface="Atkinson Hyperlegible Next" pitchFamily="34" charset="-122"/>
                <a:cs typeface="Atkinson Hyperlegible Next" pitchFamily="34" charset="-120"/>
              </a:rPr>
              <a:t>$0.008</a:t>
            </a:r>
            <a:endParaRPr lang="en-US" sz="1050" dirty="0"/>
          </a:p>
        </p:txBody>
      </p:sp>
      <p:sp>
        <p:nvSpPr>
          <p:cNvPr id="32" name="Text 30"/>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Next: pupils' hands for local needs, with DoBro</a:t>
            </a:r>
            <a:endParaRPr lang="en-US" sz="3200" dirty="0"/>
          </a:p>
          <a:p>
            <a:pPr marL="0" indent="0">
              <a:spcBef>
                <a:spcPts val="600"/>
              </a:spcBef>
              <a:buNone/>
            </a:pPr>
            <a:r>
              <a:rPr lang="en-US" sz="1600" b="1" dirty="0">
                <a:solidFill>
                  <a:srgbClr val="1A4B8C"/>
                </a:solidFill>
                <a:latin typeface="Atkinson Hyperlegible Next" pitchFamily="34" charset="0"/>
                <a:ea typeface="Atkinson Hyperlegible Next" pitchFamily="34" charset="-122"/>
                <a:cs typeface="Atkinson Hyperlegible Next" pitchFamily="34" charset="-120"/>
              </a:rPr>
              <a:t>Roadmap, not built yet</a:t>
            </a:r>
            <a:r>
              <a:rPr lang="en-US" sz="1600" dirty="0">
                <a:solidFill>
                  <a:srgbClr val="454D57"/>
                </a:solidFill>
                <a:latin typeface="Atkinson Hyperlegible Next" pitchFamily="34" charset="0"/>
                <a:ea typeface="Atkinson Hyperlegible Next" pitchFamily="34" charset="-122"/>
                <a:cs typeface="Atkinson Hyperlegible Next" pitchFamily="34" charset="-120"/>
              </a:rPr>
              <a:t>: needs become tasks for school volunteers, with a HackYeah 2025 winner</a:t>
            </a:r>
            <a:endParaRPr lang="en-US" sz="3200" dirty="0"/>
          </a:p>
        </p:txBody>
      </p:sp>
      <p:sp>
        <p:nvSpPr>
          <p:cNvPr id="3" name="Shape 1"/>
          <p:cNvSpPr/>
          <p:nvPr/>
        </p:nvSpPr>
        <p:spPr>
          <a:xfrm>
            <a:off x="640080" y="1691640"/>
            <a:ext cx="2926080" cy="2468880"/>
          </a:xfrm>
          <a:prstGeom prst="roundRect">
            <a:avLst>
              <a:gd name="adj" fmla="val 4444"/>
            </a:avLst>
          </a:prstGeom>
          <a:solidFill>
            <a:srgbClr val="EEF4FB"/>
          </a:solidFill>
          <a:ln w="12700">
            <a:solidFill>
              <a:srgbClr val="EEF4FB"/>
            </a:solidFill>
            <a:prstDash val="solid"/>
          </a:ln>
        </p:spPr>
      </p:sp>
      <p:sp>
        <p:nvSpPr>
          <p:cNvPr id="4" name="Text 2"/>
          <p:cNvSpPr txBox="1"/>
          <p:nvPr/>
        </p:nvSpPr>
        <p:spPr>
          <a:xfrm>
            <a:off x="868680" y="1828800"/>
            <a:ext cx="2468880" cy="685800"/>
          </a:xfrm>
          <a:prstGeom prst="rect">
            <a:avLst/>
          </a:prstGeom>
          <a:noFill/>
          <a:ln/>
        </p:spPr>
        <p:txBody>
          <a:bodyPr wrap="square" lIns="0" tIns="0" rIns="0" bIns="0" rtlCol="0" anchor="ctr"/>
          <a:lstStyle/>
          <a:p>
            <a:pPr marL="0" indent="0">
              <a:buNone/>
            </a:pPr>
            <a:r>
              <a:rPr lang="en-US" sz="4000" b="1" dirty="0">
                <a:solidFill>
                  <a:srgbClr val="1A4B8C"/>
                </a:solidFill>
                <a:latin typeface="Atkinson Hyperlegible Next" pitchFamily="34" charset="0"/>
                <a:ea typeface="Atkinson Hyperlegible Next" pitchFamily="34" charset="-122"/>
                <a:cs typeface="Atkinson Hyperlegible Next" pitchFamily="34" charset="-120"/>
              </a:rPr>
              <a:t>3 / 200</a:t>
            </a:r>
            <a:endParaRPr lang="en-US" sz="4000" dirty="0"/>
          </a:p>
        </p:txBody>
      </p:sp>
      <p:sp>
        <p:nvSpPr>
          <p:cNvPr id="5" name="Text 3"/>
          <p:cNvSpPr txBox="1"/>
          <p:nvPr/>
        </p:nvSpPr>
        <p:spPr>
          <a:xfrm>
            <a:off x="868680" y="2560320"/>
            <a:ext cx="2468880" cy="1463040"/>
          </a:xfrm>
          <a:prstGeom prst="rect">
            <a:avLst/>
          </a:prstGeom>
          <a:noFill/>
          <a:ln/>
        </p:spPr>
        <p:txBody>
          <a:bodyPr wrap="square" lIns="0" tIns="0" rIns="0" bIns="0" rtlCol="0" anchor="t"/>
          <a:lstStyle/>
          <a:p>
            <a:pPr marL="0" indent="0">
              <a:buNone/>
            </a:pPr>
            <a:r>
              <a:rPr lang="en-US" sz="1300" dirty="0">
                <a:solidFill>
                  <a:srgbClr val="14171A"/>
                </a:solidFill>
                <a:latin typeface="Atkinson Hyperlegible Next" pitchFamily="34" charset="0"/>
                <a:ea typeface="Atkinson Hyperlegible Next" pitchFamily="34" charset="-122"/>
                <a:cs typeface="Atkinson Hyperlegible Next" pitchFamily="34" charset="-120"/>
              </a:rPr>
              <a:t>recruitment points for secondary school, for volunteering entered on the primary-school certificate</a:t>
            </a:r>
            <a:endParaRPr lang="en-US" sz="1300" dirty="0"/>
          </a:p>
          <a:p>
            <a:pPr marL="0" indent="0">
              <a:spcBef>
                <a:spcPts val="600"/>
              </a:spcBef>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Each school sets the hours, often 20 to 60. Schools need real tasks.</a:t>
            </a:r>
            <a:endParaRPr lang="en-US" sz="1300" dirty="0"/>
          </a:p>
        </p:txBody>
      </p:sp>
      <p:sp>
        <p:nvSpPr>
          <p:cNvPr id="6" name="Shape 4"/>
          <p:cNvSpPr/>
          <p:nvPr/>
        </p:nvSpPr>
        <p:spPr>
          <a:xfrm>
            <a:off x="3977640" y="1691640"/>
            <a:ext cx="3512668" cy="2468880"/>
          </a:xfrm>
          <a:prstGeom prst="roundRect">
            <a:avLst>
              <a:gd name="adj" fmla="val 4444"/>
            </a:avLst>
          </a:prstGeom>
          <a:solidFill>
            <a:srgbClr val="EEF4FB"/>
          </a:solidFill>
          <a:ln w="12700">
            <a:solidFill>
              <a:srgbClr val="EEF4FB"/>
            </a:solidFill>
            <a:prstDash val="solid"/>
          </a:ln>
        </p:spPr>
      </p:sp>
      <p:sp>
        <p:nvSpPr>
          <p:cNvPr id="7" name="Shape 5"/>
          <p:cNvSpPr/>
          <p:nvPr/>
        </p:nvSpPr>
        <p:spPr>
          <a:xfrm>
            <a:off x="4178808" y="1874520"/>
            <a:ext cx="3110332" cy="310896"/>
          </a:xfrm>
          <a:prstGeom prst="roundRect">
            <a:avLst>
              <a:gd name="adj" fmla="val 50000"/>
            </a:avLst>
          </a:prstGeom>
          <a:solidFill>
            <a:srgbClr val="DCE6F2"/>
          </a:solidFill>
          <a:ln w="12700">
            <a:solidFill>
              <a:srgbClr val="DCE6F2"/>
            </a:solidFill>
            <a:prstDash val="solid"/>
          </a:ln>
        </p:spPr>
      </p:sp>
      <p:sp>
        <p:nvSpPr>
          <p:cNvPr id="8" name="Text 6"/>
          <p:cNvSpPr txBox="1"/>
          <p:nvPr/>
        </p:nvSpPr>
        <p:spPr>
          <a:xfrm>
            <a:off x="4178808" y="1874520"/>
            <a:ext cx="3110332" cy="310896"/>
          </a:xfrm>
          <a:prstGeom prst="rect">
            <a:avLst/>
          </a:prstGeom>
          <a:noFill/>
          <a:ln/>
        </p:spPr>
        <p:txBody>
          <a:bodyPr wrap="square" lIns="0" tIns="0" rIns="0" bIns="0" rtlCol="0" anchor="ctr"/>
          <a:lstStyle/>
          <a:p>
            <a:pPr marL="0" indent="0" algn="ctr">
              <a:buNone/>
            </a:pPr>
            <a:r>
              <a:rPr lang="en-US" sz="1000" b="1" kern="0" spc="100" dirty="0">
                <a:solidFill>
                  <a:srgbClr val="1A4B8C"/>
                </a:solidFill>
                <a:latin typeface="Atkinson Hyperlegible Next" pitchFamily="34" charset="0"/>
                <a:ea typeface="Atkinson Hyperlegible Next" pitchFamily="34" charset="-122"/>
                <a:cs typeface="Atkinson Hyperlegible Next" pitchFamily="34" charset="-120"/>
              </a:rPr>
              <a:t>THIS PILOT  ·  HUBMI.PL TASK</a:t>
            </a:r>
            <a:endParaRPr lang="en-US" sz="1000" dirty="0"/>
          </a:p>
        </p:txBody>
      </p:sp>
      <p:sp>
        <p:nvSpPr>
          <p:cNvPr id="9" name="Text 7"/>
          <p:cNvSpPr txBox="1"/>
          <p:nvPr/>
        </p:nvSpPr>
        <p:spPr>
          <a:xfrm>
            <a:off x="4206240" y="2313432"/>
            <a:ext cx="3055468" cy="365760"/>
          </a:xfrm>
          <a:prstGeom prst="rect">
            <a:avLst/>
          </a:prstGeom>
          <a:noFill/>
          <a:ln/>
        </p:spPr>
        <p:txBody>
          <a:bodyPr wrap="square" lIns="0" tIns="0" rIns="0" bIns="0" rtlCol="0" anchor="ctr"/>
          <a:lstStyle/>
          <a:p>
            <a:pPr marL="0" indent="0">
              <a:buNone/>
            </a:pPr>
            <a:r>
              <a:rPr lang="en-US" sz="1700" b="1" dirty="0">
                <a:solidFill>
                  <a:srgbClr val="1A4B8C"/>
                </a:solidFill>
                <a:latin typeface="Atkinson Hyperlegible Next" pitchFamily="34" charset="0"/>
                <a:ea typeface="Atkinson Hyperlegible Next" pitchFamily="34" charset="-122"/>
                <a:cs typeface="Atkinson Hyperlegible Next" pitchFamily="34" charset="-120"/>
              </a:rPr>
              <a:t>HubMI brings the need</a:t>
            </a:r>
            <a:endParaRPr lang="en-US" sz="1700" dirty="0"/>
          </a:p>
        </p:txBody>
      </p:sp>
      <p:sp>
        <p:nvSpPr>
          <p:cNvPr id="10" name="Text 8"/>
          <p:cNvSpPr txBox="1"/>
          <p:nvPr/>
        </p:nvSpPr>
        <p:spPr>
          <a:xfrm>
            <a:off x="4206240" y="2770632"/>
            <a:ext cx="3055468" cy="12801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Real needs from 183 gminas, checked by a person at ROPS</a:t>
            </a:r>
            <a:endParaRPr lang="en-US" sz="1200" dirty="0"/>
          </a:p>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A proven method from the catalogue for each task</a:t>
            </a:r>
            <a:endParaRPr lang="en-US" sz="1200" dirty="0"/>
          </a:p>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The map shows where the help landed</a:t>
            </a:r>
            <a:endParaRPr lang="en-US" sz="1200" dirty="0"/>
          </a:p>
        </p:txBody>
      </p:sp>
      <p:sp>
        <p:nvSpPr>
          <p:cNvPr id="11" name="Shape 9"/>
          <p:cNvSpPr/>
          <p:nvPr/>
        </p:nvSpPr>
        <p:spPr>
          <a:xfrm>
            <a:off x="8038948" y="1691640"/>
            <a:ext cx="3512668" cy="2468880"/>
          </a:xfrm>
          <a:prstGeom prst="roundRect">
            <a:avLst>
              <a:gd name="adj" fmla="val 4444"/>
            </a:avLst>
          </a:prstGeom>
          <a:solidFill>
            <a:srgbClr val="FFFFFF"/>
          </a:solidFill>
          <a:ln w="19050">
            <a:solidFill>
              <a:srgbClr val="1A4B8C"/>
            </a:solidFill>
            <a:prstDash val="solid"/>
          </a:ln>
        </p:spPr>
      </p:sp>
      <p:sp>
        <p:nvSpPr>
          <p:cNvPr id="12" name="Shape 10"/>
          <p:cNvSpPr/>
          <p:nvPr/>
        </p:nvSpPr>
        <p:spPr>
          <a:xfrm>
            <a:off x="8240116" y="1874520"/>
            <a:ext cx="3110332" cy="310896"/>
          </a:xfrm>
          <a:prstGeom prst="roundRect">
            <a:avLst>
              <a:gd name="adj" fmla="val 50000"/>
            </a:avLst>
          </a:prstGeom>
          <a:solidFill>
            <a:srgbClr val="1A4B8C"/>
          </a:solidFill>
          <a:ln w="12700">
            <a:solidFill>
              <a:srgbClr val="1A4B8C"/>
            </a:solidFill>
            <a:prstDash val="solid"/>
          </a:ln>
        </p:spPr>
      </p:sp>
      <p:sp>
        <p:nvSpPr>
          <p:cNvPr id="13" name="Text 11"/>
          <p:cNvSpPr txBox="1"/>
          <p:nvPr/>
        </p:nvSpPr>
        <p:spPr>
          <a:xfrm>
            <a:off x="8240116" y="1874520"/>
            <a:ext cx="3110332" cy="310896"/>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Atkinson Hyperlegible Next" pitchFamily="34" charset="0"/>
                <a:ea typeface="Atkinson Hyperlegible Next" pitchFamily="34" charset="-122"/>
                <a:cs typeface="Atkinson Hyperlegible Next" pitchFamily="34" charset="-120"/>
              </a:rPr>
              <a:t>HACKYEAH 2025 WINNER</a:t>
            </a:r>
            <a:endParaRPr lang="en-US" sz="1000" dirty="0"/>
          </a:p>
        </p:txBody>
      </p:sp>
      <p:sp>
        <p:nvSpPr>
          <p:cNvPr id="14" name="Text 12"/>
          <p:cNvSpPr txBox="1"/>
          <p:nvPr/>
        </p:nvSpPr>
        <p:spPr>
          <a:xfrm>
            <a:off x="8267548" y="2313432"/>
            <a:ext cx="3055468" cy="365760"/>
          </a:xfrm>
          <a:prstGeom prst="rect">
            <a:avLst/>
          </a:prstGeom>
          <a:noFill/>
          <a:ln/>
        </p:spPr>
        <p:txBody>
          <a:bodyPr wrap="square" lIns="0" tIns="0" rIns="0" bIns="0" rtlCol="0" anchor="ctr"/>
          <a:lstStyle/>
          <a:p>
            <a:pPr marL="0" indent="0">
              <a:buNone/>
            </a:pPr>
            <a:r>
              <a:rPr lang="en-US" sz="1700" b="1" dirty="0">
                <a:solidFill>
                  <a:srgbClr val="1A4B8C"/>
                </a:solidFill>
                <a:latin typeface="Atkinson Hyperlegible Next" pitchFamily="34" charset="0"/>
                <a:ea typeface="Atkinson Hyperlegible Next" pitchFamily="34" charset="-122"/>
                <a:cs typeface="Atkinson Hyperlegible Next" pitchFamily="34" charset="-120"/>
              </a:rPr>
              <a:t>DoBro brings the hands</a:t>
            </a:r>
            <a:endParaRPr lang="en-US" sz="1700" dirty="0"/>
          </a:p>
        </p:txBody>
      </p:sp>
      <p:sp>
        <p:nvSpPr>
          <p:cNvPr id="15" name="Text 13"/>
          <p:cNvSpPr txBox="1"/>
          <p:nvPr/>
        </p:nvSpPr>
        <p:spPr>
          <a:xfrm>
            <a:off x="8267548" y="2770632"/>
            <a:ext cx="3055468" cy="12801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Young volunteers, schools and organisations in one place</a:t>
            </a:r>
            <a:endParaRPr lang="en-US" sz="1200" dirty="0"/>
          </a:p>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Recommendations by the pupils' interests</a:t>
            </a:r>
            <a:endParaRPr lang="en-US" sz="1200" dirty="0"/>
          </a:p>
          <a:p>
            <a:pPr marL="177800" indent="-177800">
              <a:spcAft>
                <a:spcPts val="5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Built for the City of Kraków's digital volunteering centre</a:t>
            </a:r>
            <a:endParaRPr lang="en-US" sz="1200" dirty="0"/>
          </a:p>
        </p:txBody>
      </p:sp>
      <p:sp>
        <p:nvSpPr>
          <p:cNvPr id="16" name="Shape 14"/>
          <p:cNvSpPr/>
          <p:nvPr/>
        </p:nvSpPr>
        <p:spPr>
          <a:xfrm>
            <a:off x="7572604" y="2734056"/>
            <a:ext cx="384048" cy="384048"/>
          </a:xfrm>
          <a:prstGeom prst="ellipse">
            <a:avLst/>
          </a:prstGeom>
          <a:solidFill>
            <a:srgbClr val="1A4B8C"/>
          </a:solidFill>
          <a:ln w="12700">
            <a:solidFill>
              <a:srgbClr val="1A4B8C"/>
            </a:solidFill>
            <a:prstDash val="solid"/>
          </a:ln>
        </p:spPr>
      </p:sp>
      <p:sp>
        <p:nvSpPr>
          <p:cNvPr id="17" name="Text 15"/>
          <p:cNvSpPr txBox="1"/>
          <p:nvPr/>
        </p:nvSpPr>
        <p:spPr>
          <a:xfrm>
            <a:off x="7572604" y="2734056"/>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Atkinson Hyperlegible Next" pitchFamily="34" charset="0"/>
                <a:ea typeface="Atkinson Hyperlegible Next" pitchFamily="34" charset="-122"/>
                <a:cs typeface="Atkinson Hyperlegible Next" pitchFamily="34" charset="-120"/>
              </a:rPr>
              <a:t>+</a:t>
            </a:r>
            <a:endParaRPr lang="en-US" sz="2000" dirty="0"/>
          </a:p>
        </p:txBody>
      </p:sp>
      <p:sp>
        <p:nvSpPr>
          <p:cNvPr id="18" name="Shape 16"/>
          <p:cNvSpPr/>
          <p:nvPr/>
        </p:nvSpPr>
        <p:spPr>
          <a:xfrm>
            <a:off x="640080" y="4572000"/>
            <a:ext cx="1948221" cy="960120"/>
          </a:xfrm>
          <a:prstGeom prst="roundRect">
            <a:avLst>
              <a:gd name="adj" fmla="val 9524"/>
            </a:avLst>
          </a:prstGeom>
          <a:solidFill>
            <a:srgbClr val="EEF4FB"/>
          </a:solidFill>
          <a:ln w="12700">
            <a:solidFill>
              <a:srgbClr val="EEF4FB"/>
            </a:solidFill>
            <a:prstDash val="solid"/>
          </a:ln>
        </p:spPr>
      </p:sp>
      <p:sp>
        <p:nvSpPr>
          <p:cNvPr id="19" name="Text 17"/>
          <p:cNvSpPr txBox="1"/>
          <p:nvPr/>
        </p:nvSpPr>
        <p:spPr>
          <a:xfrm>
            <a:off x="777240" y="4572000"/>
            <a:ext cx="1673901" cy="96012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1  Need filed</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by a resident, an organisation or a gmina</a:t>
            </a:r>
            <a:endParaRPr lang="en-US" sz="1300" dirty="0"/>
          </a:p>
        </p:txBody>
      </p:sp>
      <p:sp>
        <p:nvSpPr>
          <p:cNvPr id="20" name="Shape 18"/>
          <p:cNvSpPr/>
          <p:nvPr/>
        </p:nvSpPr>
        <p:spPr>
          <a:xfrm>
            <a:off x="2670597" y="4951476"/>
            <a:ext cx="128016" cy="201168"/>
          </a:xfrm>
          <a:prstGeom prst="chevron">
            <a:avLst/>
          </a:prstGeom>
          <a:solidFill>
            <a:srgbClr val="1A4B8C"/>
          </a:solidFill>
          <a:ln w="12700">
            <a:solidFill>
              <a:srgbClr val="1A4B8C"/>
            </a:solidFill>
            <a:prstDash val="solid"/>
          </a:ln>
        </p:spPr>
      </p:sp>
      <p:sp>
        <p:nvSpPr>
          <p:cNvPr id="21" name="Shape 19"/>
          <p:cNvSpPr/>
          <p:nvPr/>
        </p:nvSpPr>
        <p:spPr>
          <a:xfrm>
            <a:off x="2880909" y="4572000"/>
            <a:ext cx="1948221" cy="960120"/>
          </a:xfrm>
          <a:prstGeom prst="roundRect">
            <a:avLst>
              <a:gd name="adj" fmla="val 9524"/>
            </a:avLst>
          </a:prstGeom>
          <a:solidFill>
            <a:srgbClr val="EEF4FB"/>
          </a:solidFill>
          <a:ln w="12700">
            <a:solidFill>
              <a:srgbClr val="EEF4FB"/>
            </a:solidFill>
            <a:prstDash val="solid"/>
          </a:ln>
        </p:spPr>
      </p:sp>
      <p:sp>
        <p:nvSpPr>
          <p:cNvPr id="22" name="Text 20"/>
          <p:cNvSpPr txBox="1"/>
          <p:nvPr/>
        </p:nvSpPr>
        <p:spPr>
          <a:xfrm>
            <a:off x="3018069" y="4572000"/>
            <a:ext cx="1673901" cy="96012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2  ROPS moderates</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and marks it fit for pupils</a:t>
            </a:r>
            <a:endParaRPr lang="en-US" sz="1300" dirty="0"/>
          </a:p>
        </p:txBody>
      </p:sp>
      <p:sp>
        <p:nvSpPr>
          <p:cNvPr id="23" name="Shape 21"/>
          <p:cNvSpPr/>
          <p:nvPr/>
        </p:nvSpPr>
        <p:spPr>
          <a:xfrm>
            <a:off x="4911425" y="4951476"/>
            <a:ext cx="128016" cy="201168"/>
          </a:xfrm>
          <a:prstGeom prst="chevron">
            <a:avLst/>
          </a:prstGeom>
          <a:solidFill>
            <a:srgbClr val="1A4B8C"/>
          </a:solidFill>
          <a:ln w="12700">
            <a:solidFill>
              <a:srgbClr val="1A4B8C"/>
            </a:solidFill>
            <a:prstDash val="solid"/>
          </a:ln>
        </p:spPr>
      </p:sp>
      <p:sp>
        <p:nvSpPr>
          <p:cNvPr id="24" name="Shape 22"/>
          <p:cNvSpPr/>
          <p:nvPr/>
        </p:nvSpPr>
        <p:spPr>
          <a:xfrm>
            <a:off x="5121737" y="4572000"/>
            <a:ext cx="1948221" cy="960120"/>
          </a:xfrm>
          <a:prstGeom prst="roundRect">
            <a:avLst>
              <a:gd name="adj" fmla="val 9524"/>
            </a:avLst>
          </a:prstGeom>
          <a:solidFill>
            <a:srgbClr val="EEF4FB"/>
          </a:solidFill>
          <a:ln w="12700">
            <a:solidFill>
              <a:srgbClr val="EEF4FB"/>
            </a:solidFill>
            <a:prstDash val="solid"/>
          </a:ln>
        </p:spPr>
      </p:sp>
      <p:sp>
        <p:nvSpPr>
          <p:cNvPr id="25" name="Text 23"/>
          <p:cNvSpPr txBox="1"/>
          <p:nvPr/>
        </p:nvSpPr>
        <p:spPr>
          <a:xfrm>
            <a:off x="5258897" y="4572000"/>
            <a:ext cx="1673901" cy="96012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3  Open task feed</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method, age band, responsible organisation</a:t>
            </a:r>
            <a:endParaRPr lang="en-US" sz="1300" dirty="0"/>
          </a:p>
        </p:txBody>
      </p:sp>
      <p:sp>
        <p:nvSpPr>
          <p:cNvPr id="26" name="Shape 24"/>
          <p:cNvSpPr/>
          <p:nvPr/>
        </p:nvSpPr>
        <p:spPr>
          <a:xfrm>
            <a:off x="7152254" y="4951476"/>
            <a:ext cx="128016" cy="201168"/>
          </a:xfrm>
          <a:prstGeom prst="chevron">
            <a:avLst/>
          </a:prstGeom>
          <a:solidFill>
            <a:srgbClr val="1A4B8C"/>
          </a:solidFill>
          <a:ln w="12700">
            <a:solidFill>
              <a:srgbClr val="1A4B8C"/>
            </a:solidFill>
            <a:prstDash val="solid"/>
          </a:ln>
        </p:spPr>
      </p:sp>
      <p:sp>
        <p:nvSpPr>
          <p:cNvPr id="27" name="Shape 25"/>
          <p:cNvSpPr/>
          <p:nvPr/>
        </p:nvSpPr>
        <p:spPr>
          <a:xfrm>
            <a:off x="7362566" y="4572000"/>
            <a:ext cx="1948221" cy="960120"/>
          </a:xfrm>
          <a:prstGeom prst="roundRect">
            <a:avLst>
              <a:gd name="adj" fmla="val 9524"/>
            </a:avLst>
          </a:prstGeom>
          <a:solidFill>
            <a:srgbClr val="1A4B8C"/>
          </a:solidFill>
          <a:ln w="12700">
            <a:solidFill>
              <a:srgbClr val="1A4B8C"/>
            </a:solidFill>
            <a:prstDash val="solid"/>
          </a:ln>
        </p:spPr>
      </p:sp>
      <p:sp>
        <p:nvSpPr>
          <p:cNvPr id="28" name="Text 26"/>
          <p:cNvSpPr txBox="1"/>
          <p:nvPr/>
        </p:nvSpPr>
        <p:spPr>
          <a:xfrm>
            <a:off x="7499726" y="4572000"/>
            <a:ext cx="1673901" cy="960120"/>
          </a:xfrm>
          <a:prstGeom prst="rect">
            <a:avLst/>
          </a:prstGeom>
          <a:noFill/>
          <a:ln/>
        </p:spPr>
        <p:txBody>
          <a:bodyPr wrap="square" lIns="0" tIns="0" rIns="0" bIns="0" rtlCol="0" anchor="ctr"/>
          <a:lstStyle/>
          <a:p>
            <a:pPr marL="0" indent="0">
              <a:buNone/>
            </a:pPr>
            <a:r>
              <a:rPr lang="en-US" sz="1300" b="1" dirty="0">
                <a:solidFill>
                  <a:srgbClr val="FFFFFF"/>
                </a:solidFill>
                <a:latin typeface="Atkinson Hyperlegible Next" pitchFamily="34" charset="0"/>
                <a:ea typeface="Atkinson Hyperlegible Next" pitchFamily="34" charset="-122"/>
                <a:cs typeface="Atkinson Hyperlegible Next" pitchFamily="34" charset="-120"/>
              </a:rPr>
              <a:t>4  DoBro matches</a:t>
            </a:r>
            <a:endParaRPr lang="en-US" sz="1300" dirty="0"/>
          </a:p>
          <a:p>
            <a:pPr marL="0" indent="0">
              <a:buNone/>
            </a:pPr>
            <a:r>
              <a:rPr lang="en-US" sz="1100" dirty="0">
                <a:solidFill>
                  <a:srgbClr val="DCE6F2"/>
                </a:solidFill>
                <a:latin typeface="Atkinson Hyperlegible Next" pitchFamily="34" charset="0"/>
                <a:ea typeface="Atkinson Hyperlegible Next" pitchFamily="34" charset="-122"/>
                <a:cs typeface="Atkinson Hyperlegible Next" pitchFamily="34" charset="-120"/>
              </a:rPr>
              <a:t>pupils through the school coordinator</a:t>
            </a:r>
            <a:endParaRPr lang="en-US" sz="1300" dirty="0"/>
          </a:p>
        </p:txBody>
      </p:sp>
      <p:sp>
        <p:nvSpPr>
          <p:cNvPr id="29" name="Shape 27"/>
          <p:cNvSpPr/>
          <p:nvPr/>
        </p:nvSpPr>
        <p:spPr>
          <a:xfrm>
            <a:off x="9393083" y="4951476"/>
            <a:ext cx="128016" cy="201168"/>
          </a:xfrm>
          <a:prstGeom prst="chevron">
            <a:avLst/>
          </a:prstGeom>
          <a:solidFill>
            <a:srgbClr val="1A4B8C"/>
          </a:solidFill>
          <a:ln w="12700">
            <a:solidFill>
              <a:srgbClr val="1A4B8C"/>
            </a:solidFill>
            <a:prstDash val="solid"/>
          </a:ln>
        </p:spPr>
      </p:sp>
      <p:sp>
        <p:nvSpPr>
          <p:cNvPr id="30" name="Shape 28"/>
          <p:cNvSpPr/>
          <p:nvPr/>
        </p:nvSpPr>
        <p:spPr>
          <a:xfrm>
            <a:off x="9603395" y="4572000"/>
            <a:ext cx="1948221" cy="960120"/>
          </a:xfrm>
          <a:prstGeom prst="roundRect">
            <a:avLst>
              <a:gd name="adj" fmla="val 9524"/>
            </a:avLst>
          </a:prstGeom>
          <a:solidFill>
            <a:srgbClr val="EEF4FB"/>
          </a:solidFill>
          <a:ln w="12700">
            <a:solidFill>
              <a:srgbClr val="EEF4FB"/>
            </a:solidFill>
            <a:prstDash val="solid"/>
          </a:ln>
        </p:spPr>
      </p:sp>
      <p:sp>
        <p:nvSpPr>
          <p:cNvPr id="31" name="Text 29"/>
          <p:cNvSpPr txBox="1"/>
          <p:nvPr/>
        </p:nvSpPr>
        <p:spPr>
          <a:xfrm>
            <a:off x="9740555" y="4572000"/>
            <a:ext cx="1673901" cy="960120"/>
          </a:xfrm>
          <a:prstGeom prst="rect">
            <a:avLst/>
          </a:prstGeom>
          <a:noFill/>
          <a:ln/>
        </p:spPr>
        <p:txBody>
          <a:bodyPr wrap="square" lIns="0" tIns="0" rIns="0" bIns="0" rtlCol="0" anchor="ctr"/>
          <a:lstStyle/>
          <a:p>
            <a:pPr marL="0" indent="0">
              <a:buNone/>
            </a:pPr>
            <a:r>
              <a:rPr lang="en-US" sz="1300" b="1" dirty="0">
                <a:solidFill>
                  <a:srgbClr val="14171A"/>
                </a:solidFill>
                <a:latin typeface="Atkinson Hyperlegible Next" pitchFamily="34" charset="0"/>
                <a:ea typeface="Atkinson Hyperlegible Next" pitchFamily="34" charset="-122"/>
                <a:cs typeface="Atkinson Hyperlegible Next" pitchFamily="34" charset="-120"/>
              </a:rPr>
              <a:t>5  Hours confirmed</a:t>
            </a:r>
            <a:endParaRPr lang="en-US" sz="1300" dirty="0"/>
          </a:p>
          <a:p>
            <a:pPr marL="0" indent="0">
              <a:buNone/>
            </a:pPr>
            <a:r>
              <a:rPr lang="en-US" sz="1100" dirty="0">
                <a:solidFill>
                  <a:srgbClr val="454D57"/>
                </a:solidFill>
                <a:latin typeface="Atkinson Hyperlegible Next" pitchFamily="34" charset="0"/>
                <a:ea typeface="Atkinson Hyperlegible Next" pitchFamily="34" charset="-122"/>
                <a:cs typeface="Atkinson Hyperlegible Next" pitchFamily="34" charset="-120"/>
              </a:rPr>
              <a:t>the outcome returns to the needs bank and the map</a:t>
            </a:r>
            <a:endParaRPr lang="en-US" sz="1300" dirty="0"/>
          </a:p>
        </p:txBody>
      </p:sp>
      <p:sp>
        <p:nvSpPr>
          <p:cNvPr id="32" name="Text 30"/>
          <p:cNvSpPr txBox="1"/>
          <p:nvPr/>
        </p:nvSpPr>
        <p:spPr>
          <a:xfrm>
            <a:off x="640080" y="5943600"/>
            <a:ext cx="10911535" cy="228600"/>
          </a:xfrm>
          <a:prstGeom prst="rect">
            <a:avLst/>
          </a:prstGeom>
          <a:noFill/>
          <a:ln/>
        </p:spPr>
        <p:txBody>
          <a:bodyPr wrap="square" lIns="0" tIns="0" rIns="0" bIns="0" rtlCol="0" anchor="t"/>
          <a:lstStyle/>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DoBro, by team Szybkie Palce, won the City of Kraków task at HackYeah 2025. An invitation, not yet an agreement.</a:t>
            </a:r>
            <a:endParaRPr lang="en-US" sz="1100" dirty="0"/>
          </a:p>
        </p:txBody>
      </p:sp>
      <p:sp>
        <p:nvSpPr>
          <p:cNvPr id="33" name="Text 31"/>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911535" cy="1143000"/>
          </a:xfrm>
          <a:prstGeom prst="rect">
            <a:avLst/>
          </a:prstGeom>
          <a:noFill/>
          <a:ln/>
        </p:spPr>
        <p:txBody>
          <a:bodyPr wrap="square" lIns="0" tIns="0" rIns="0" bIns="0" rtlCol="0" anchor="b"/>
          <a:lstStyle/>
          <a:p>
            <a:pPr marL="0" indent="0">
              <a:buNone/>
            </a:pPr>
            <a:r>
              <a:rPr lang="en-US" sz="3200" b="1" dirty="0">
                <a:solidFill>
                  <a:srgbClr val="14171A"/>
                </a:solidFill>
                <a:latin typeface="Atkinson Hyperlegible Next" pitchFamily="34" charset="0"/>
                <a:ea typeface="Atkinson Hyperlegible Next" pitchFamily="34" charset="-122"/>
                <a:cs typeface="Atkinson Hyperlegible Next" pitchFamily="34" charset="-120"/>
              </a:rPr>
              <a:t>Built for everyone, built on open data</a:t>
            </a:r>
            <a:endParaRPr lang="en-US" sz="3200" dirty="0"/>
          </a:p>
          <a:p>
            <a:pPr marL="0" indent="0">
              <a:spcBef>
                <a:spcPts val="600"/>
              </a:spcBef>
              <a:buNone/>
            </a:pPr>
            <a:r>
              <a:rPr lang="en-US" sz="1600" dirty="0">
                <a:solidFill>
                  <a:srgbClr val="454D57"/>
                </a:solidFill>
                <a:latin typeface="Atkinson Hyperlegible Next" pitchFamily="34" charset="0"/>
                <a:ea typeface="Atkinson Hyperlegible Next" pitchFamily="34" charset="-122"/>
                <a:cs typeface="Atkinson Hyperlegible Next" pitchFamily="34" charset="-120"/>
              </a:rPr>
              <a:t>Accessibility above the legal bar; every fact linked back to its open source</a:t>
            </a:r>
            <a:endParaRPr lang="en-US" sz="3200" dirty="0"/>
          </a:p>
        </p:txBody>
      </p:sp>
      <p:sp>
        <p:nvSpPr>
          <p:cNvPr id="3" name="Shape 1"/>
          <p:cNvSpPr/>
          <p:nvPr/>
        </p:nvSpPr>
        <p:spPr>
          <a:xfrm>
            <a:off x="640080" y="1691640"/>
            <a:ext cx="4754880" cy="2971800"/>
          </a:xfrm>
          <a:prstGeom prst="rect">
            <a:avLst/>
          </a:prstGeom>
          <a:solidFill>
            <a:srgbClr val="FFFFFF"/>
          </a:solidFill>
          <a:ln w="9525">
            <a:solidFill>
              <a:srgbClr val="C3CAD3"/>
            </a:solidFill>
            <a:prstDash val="solid"/>
          </a:ln>
          <a:effectLst>
            <a:outerShdw blurRad="101600" dist="25400" dir="5400000" algn="bl" rotWithShape="0">
              <a:srgbClr val="000000">
                <a:alpha val="12000"/>
              </a:srgbClr>
            </a:outerShdw>
          </a:effectLst>
        </p:spPr>
      </p:sp>
      <p:pic>
        <p:nvPicPr>
          <p:cNvPr id="4" name="Image 0" descr="C:\Users\bobro\OneDrive\Developer\HackYeah2026\.local\presentation\source\img\contrast.png"/>
          <p:cNvPicPr>
            <a:picLocks noChangeAspect="1"/>
          </p:cNvPicPr>
          <p:nvPr/>
        </p:nvPicPr>
        <p:blipFill>
          <a:blip r:embed="rId3"/>
          <a:stretch>
            <a:fillRect/>
          </a:stretch>
        </p:blipFill>
        <p:spPr>
          <a:xfrm>
            <a:off x="640080" y="1691640"/>
            <a:ext cx="4754880" cy="2971800"/>
          </a:xfrm>
          <a:prstGeom prst="rect">
            <a:avLst/>
          </a:prstGeom>
        </p:spPr>
      </p:pic>
      <p:sp>
        <p:nvSpPr>
          <p:cNvPr id="5" name="Shape 2"/>
          <p:cNvSpPr/>
          <p:nvPr/>
        </p:nvSpPr>
        <p:spPr>
          <a:xfrm>
            <a:off x="640080" y="1691640"/>
            <a:ext cx="4754880" cy="2971800"/>
          </a:xfrm>
          <a:prstGeom prst="rect">
            <a:avLst/>
          </a:prstGeom>
          <a:solidFill>
            <a:srgbClr val="FFFFFF">
              <a:alpha val="0"/>
            </a:srgbClr>
          </a:solidFill>
          <a:ln w="9525">
            <a:solidFill>
              <a:srgbClr val="C3CAD3"/>
            </a:solidFill>
            <a:prstDash val="solid"/>
          </a:ln>
        </p:spPr>
      </p:sp>
      <p:sp>
        <p:nvSpPr>
          <p:cNvPr id="6" name="Text 3"/>
          <p:cNvSpPr txBox="1"/>
          <p:nvPr/>
        </p:nvSpPr>
        <p:spPr>
          <a:xfrm>
            <a:off x="640080" y="4754880"/>
            <a:ext cx="5349240" cy="274320"/>
          </a:xfrm>
          <a:prstGeom prst="rect">
            <a:avLst/>
          </a:prstGeom>
          <a:noFill/>
          <a:ln/>
        </p:spPr>
        <p:txBody>
          <a:bodyPr wrap="square" lIns="0" tIns="0" rIns="0" bIns="0" rtlCol="0" anchor="t"/>
          <a:lstStyle/>
          <a:p>
            <a:pPr marL="0" indent="0" algn="l">
              <a:buNone/>
            </a:pPr>
            <a:r>
              <a:rPr lang="en-US" sz="1100" i="1" dirty="0">
                <a:solidFill>
                  <a:srgbClr val="454D57"/>
                </a:solidFill>
                <a:latin typeface="Atkinson Hyperlegible Next" pitchFamily="34" charset="0"/>
                <a:ea typeface="Atkinson Hyperlegible Next" pitchFamily="34" charset="-122"/>
                <a:cs typeface="Atkinson Hyperlegible Next" pitchFamily="34" charset="-120"/>
              </a:rPr>
              <a:t>The contrast theme, one of three display themes</a:t>
            </a:r>
            <a:endParaRPr lang="en-US" sz="1100" dirty="0"/>
          </a:p>
        </p:txBody>
      </p:sp>
      <p:sp>
        <p:nvSpPr>
          <p:cNvPr id="7" name="Text 4"/>
          <p:cNvSpPr txBox="1"/>
          <p:nvPr/>
        </p:nvSpPr>
        <p:spPr>
          <a:xfrm>
            <a:off x="640080" y="5120640"/>
            <a:ext cx="2583180" cy="10972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A typeface designed for low vision</a:t>
            </a:r>
            <a:endParaRPr lang="en-US" sz="1200" dirty="0"/>
          </a:p>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7:1 text contrast</a:t>
            </a:r>
            <a:endParaRPr lang="en-US" sz="1200" dirty="0"/>
          </a:p>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WCAG 2.2 AA plus three AAA criteria</a:t>
            </a:r>
            <a:endParaRPr lang="en-US" sz="1200" dirty="0"/>
          </a:p>
        </p:txBody>
      </p:sp>
      <p:sp>
        <p:nvSpPr>
          <p:cNvPr id="8" name="Text 5"/>
          <p:cNvSpPr txBox="1"/>
          <p:nvPr/>
        </p:nvSpPr>
        <p:spPr>
          <a:xfrm>
            <a:off x="3406140" y="5120640"/>
            <a:ext cx="2583180" cy="10972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Text size, three themes, phone layout</a:t>
            </a:r>
            <a:endParaRPr lang="en-US" sz="1200" dirty="0"/>
          </a:p>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Keyboard and screen-reader use</a:t>
            </a:r>
            <a:endParaRPr lang="en-US" sz="1200" dirty="0"/>
          </a:p>
          <a:p>
            <a:pPr marL="177800" indent="-177800">
              <a:spcAft>
                <a:spcPts val="400"/>
              </a:spcAft>
              <a:buSzPct val="100000"/>
              <a:buChar char="•"/>
            </a:pPr>
            <a:r>
              <a:rPr lang="en-US" sz="1200" dirty="0">
                <a:solidFill>
                  <a:srgbClr val="14171A"/>
                </a:solidFill>
                <a:latin typeface="Atkinson Hyperlegible Next" pitchFamily="34" charset="0"/>
                <a:ea typeface="Atkinson Hyperlegible Next" pitchFamily="34" charset="-122"/>
                <a:cs typeface="Atkinson Hyperlegible Next" pitchFamily="34" charset="-120"/>
              </a:rPr>
              <a:t>Automated axe check of every screen</a:t>
            </a:r>
            <a:endParaRPr lang="en-US" sz="1200" dirty="0"/>
          </a:p>
        </p:txBody>
      </p:sp>
      <p:sp>
        <p:nvSpPr>
          <p:cNvPr id="9" name="Text 6"/>
          <p:cNvSpPr txBox="1"/>
          <p:nvPr/>
        </p:nvSpPr>
        <p:spPr>
          <a:xfrm>
            <a:off x="6492240" y="1691640"/>
            <a:ext cx="5059375" cy="320040"/>
          </a:xfrm>
          <a:prstGeom prst="rect">
            <a:avLst/>
          </a:prstGeom>
          <a:noFill/>
          <a:ln/>
        </p:spPr>
        <p:txBody>
          <a:bodyPr wrap="square" lIns="0" tIns="0" rIns="0" bIns="0" rtlCol="0" anchor="ctr"/>
          <a:lstStyle/>
          <a:p>
            <a:pPr marL="0" indent="0">
              <a:buNone/>
            </a:pPr>
            <a:r>
              <a:rPr lang="en-US" sz="1600" b="1" dirty="0">
                <a:solidFill>
                  <a:srgbClr val="1A4B8C"/>
                </a:solidFill>
                <a:latin typeface="Atkinson Hyperlegible Next" pitchFamily="34" charset="0"/>
                <a:ea typeface="Atkinson Hyperlegible Next" pitchFamily="34" charset="-122"/>
                <a:cs typeface="Atkinson Hyperlegible Next" pitchFamily="34" charset="-120"/>
              </a:rPr>
              <a:t>Data, models and credits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92240" y="2103120"/>
          <a:ext cx="5059375" cy="914400"/>
        </p:xfrm>
        <a:graphic>
          <a:graphicData uri="http://schemas.openxmlformats.org/drawingml/2006/table">
            <a:tbl>
              <a:tblPr/>
              <a:tblGrid>
                <a:gridCol w="1234440">
                  <a:extLst>
                    <a:ext uri="{9D8B030D-6E8A-4147-A177-3AD203B41FA5}">
                      <a16:colId xmlns:a16="http://schemas.microsoft.com/office/drawing/2014/main" val="20000"/>
                    </a:ext>
                  </a:extLst>
                </a:gridCol>
                <a:gridCol w="3824935">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Innovations</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tc>
                  <a:txBody>
                    <a:bodyPr/>
                    <a:lstStyle/>
                    <a:p>
                      <a:pPr marL="0" indent="0">
                        <a:buNone/>
                      </a:pPr>
                      <a:r>
                        <a:rPr lang="en-US" sz="1100" dirty="0">
                          <a:solidFill>
                            <a:srgbClr val="14171A"/>
                          </a:solidFill>
                          <a:latin typeface="Atkinson Hyperlegible Next" pitchFamily="34" charset="0"/>
                          <a:ea typeface="Atkinson Hyperlegible Next" pitchFamily="34" charset="-122"/>
                          <a:cs typeface="Atkinson Hyperlegible Next" pitchFamily="34" charset="-120"/>
                        </a:rPr>
                        <a:t>300 from the national base innowacjespoleczne.pl (Fundacja Stocznia) and 115 from the ROPS library; 34 duplicates joined into 381 records. CC BY 4.0 or the MIIS terms, with attribution on every entry</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Places</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tc>
                  <a:txBody>
                    <a:bodyPr/>
                    <a:lstStyle/>
                    <a:p>
                      <a:pPr marL="0" indent="0">
                        <a:buNone/>
                      </a:pPr>
                      <a:r>
                        <a:rPr lang="en-US" sz="1100" dirty="0">
                          <a:solidFill>
                            <a:srgbClr val="14171A"/>
                          </a:solidFill>
                          <a:latin typeface="Atkinson Hyperlegible Next" pitchFamily="34" charset="0"/>
                          <a:ea typeface="Atkinson Hyperlegible Next" pitchFamily="34" charset="-122"/>
                          <a:cs typeface="Atkinson Hyperlegible Next" pitchFamily="34" charset="-120"/>
                        </a:rPr>
                        <a:t>GUS: TERC register, Local Data Bank 2024 indicators, PRG boundaries</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Models</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tc>
                  <a:txBody>
                    <a:bodyPr/>
                    <a:lstStyle/>
                    <a:p>
                      <a:pPr marL="0" indent="0">
                        <a:buNone/>
                      </a:pPr>
                      <a:r>
                        <a:rPr lang="en-US" sz="1100" dirty="0">
                          <a:solidFill>
                            <a:srgbClr val="14171A"/>
                          </a:solidFill>
                          <a:latin typeface="Atkinson Hyperlegible Next" pitchFamily="34" charset="0"/>
                          <a:ea typeface="Atkinson Hyperlegible Next" pitchFamily="34" charset="-122"/>
                          <a:cs typeface="Atkinson Hyperlegible Next" pitchFamily="34" charset="-120"/>
                        </a:rPr>
                        <a:t>Bielik 11B v3.0 (SpeakLeash) on the Hugging Face router; Claude (Anthropic) as the fallback; retriever PolDense-400M (OPI PIB)</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Software</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tc>
                  <a:txBody>
                    <a:bodyPr/>
                    <a:lstStyle/>
                    <a:p>
                      <a:pPr marL="0" indent="0">
                        <a:buNone/>
                      </a:pPr>
                      <a:r>
                        <a:rPr lang="en-US" sz="1100" dirty="0">
                          <a:solidFill>
                            <a:srgbClr val="14171A"/>
                          </a:solidFill>
                          <a:latin typeface="Atkinson Hyperlegible Next" pitchFamily="34" charset="0"/>
                          <a:ea typeface="Atkinson Hyperlegible Next" pitchFamily="34" charset="-122"/>
                          <a:cs typeface="Atkinson Hyperlegible Next" pitchFamily="34" charset="-120"/>
                        </a:rPr>
                        <a:t>Next.js, TypeScript, Tailwind CSS, MapLibre GL JS, GOV.UK Design System form patterns; a Python data pipeline</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b="1" dirty="0">
                          <a:solidFill>
                            <a:srgbClr val="1A4B8C"/>
                          </a:solidFill>
                          <a:latin typeface="Atkinson Hyperlegible Next" pitchFamily="34" charset="0"/>
                          <a:ea typeface="Atkinson Hyperlegible Next" pitchFamily="34" charset="-122"/>
                          <a:cs typeface="Atkinson Hyperlegible Next" pitchFamily="34" charset="-120"/>
                        </a:rPr>
                        <a:t>AI agents</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tc>
                  <a:txBody>
                    <a:bodyPr/>
                    <a:lstStyle/>
                    <a:p>
                      <a:pPr marL="0" indent="0">
                        <a:buNone/>
                      </a:pPr>
                      <a:r>
                        <a:rPr lang="en-US" sz="1100" dirty="0">
                          <a:solidFill>
                            <a:srgbClr val="14171A"/>
                          </a:solidFill>
                          <a:latin typeface="Atkinson Hyperlegible Next" pitchFamily="34" charset="0"/>
                          <a:ea typeface="Atkinson Hyperlegible Next" pitchFamily="34" charset="-122"/>
                          <a:cs typeface="Atkinson Hyperlegible Next" pitchFamily="34" charset="-120"/>
                        </a:rPr>
                        <a:t>Claude Code (Anthropic) wrote code, texts and tests under the team's direction; every human decision is documented in the project's decision log, open for review; the team reviewed every Polish text</a:t>
                      </a:r>
                      <a:endParaRPr lang="en-US" sz="1100" dirty="0">
                        <a:latin typeface="Atkinson Hyperlegible Next" charset="0"/>
                        <a:ea typeface="Atkinson Hyperlegible Next" charset="0"/>
                        <a:cs typeface="Atkinson Hyperlegible Next" charset="0"/>
                      </a:endParaRPr>
                    </a:p>
                  </a:txBody>
                  <a:tcPr marL="76200" marR="76200" marT="50800" marB="50800">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7"/>
          <p:cNvSpPr txBox="1"/>
          <p:nvPr/>
        </p:nvSpPr>
        <p:spPr>
          <a:xfrm>
            <a:off x="6492240" y="5074920"/>
            <a:ext cx="5059375" cy="365760"/>
          </a:xfrm>
          <a:prstGeom prst="rect">
            <a:avLst/>
          </a:prstGeom>
          <a:noFill/>
          <a:ln/>
        </p:spPr>
        <p:txBody>
          <a:bodyPr wrap="square" lIns="0" tIns="0" rIns="0" bIns="0" rtlCol="0" anchor="ctr"/>
          <a:lstStyle/>
          <a:p>
            <a:pPr marL="0" indent="0">
              <a:buNone/>
            </a:pPr>
            <a:r>
              <a:rPr lang="en-US" sz="1200" b="1" dirty="0">
                <a:solidFill>
                  <a:srgbClr val="1A4B8C"/>
                </a:solidFill>
                <a:latin typeface="Atkinson Hyperlegible Next" pitchFamily="34" charset="0"/>
                <a:ea typeface="Atkinson Hyperlegible Next" pitchFamily="34" charset="-122"/>
                <a:cs typeface="Atkinson Hyperlegible Next" pitchFamily="34" charset="-120"/>
              </a:rPr>
              <a:t>Code  </a:t>
            </a:r>
            <a:r>
              <a:rPr lang="en-US" sz="1200" u="sng" dirty="0">
                <a:solidFill>
                  <a:srgbClr val="14171A"/>
                </a:solidFill>
                <a:latin typeface="Atkinson Hyperlegible Next" pitchFamily="34" charset="0"/>
                <a:ea typeface="Atkinson Hyperlegible Next" pitchFamily="34" charset="-122"/>
                <a:cs typeface="Atkinson Hyperlegible Next" pitchFamily="34" charset="-120"/>
                <a:hlinkClick r:id="rId4">
                  <a:extLst>
                    <a:ext uri="{A12FA001-AC4F-418D-AE19-62706E023703}">
                      <ahyp:hlinkClr xmlns:ahyp="http://schemas.microsoft.com/office/drawing/2018/hyperlinkcolor" val="tx"/>
                    </a:ext>
                  </a:extLst>
                </a:hlinkClick>
              </a:rPr>
              <a:t>github.com/bobrovsky420/hackyeah2026</a:t>
            </a:r>
            <a:r>
              <a:rPr lang="en-US" sz="1200" dirty="0">
                <a:solidFill>
                  <a:srgbClr val="454D57"/>
                </a:solidFill>
                <a:latin typeface="Atkinson Hyperlegible Next" pitchFamily="34" charset="0"/>
                <a:ea typeface="Atkinson Hyperlegible Next" pitchFamily="34" charset="-122"/>
                <a:cs typeface="Atkinson Hyperlegible Next" pitchFamily="34" charset="-120"/>
              </a:rPr>
              <a:t>   Apache License 2.0</a:t>
            </a:r>
            <a:endParaRPr lang="en-US" sz="1200" dirty="0"/>
          </a:p>
        </p:txBody>
      </p:sp>
      <p:sp>
        <p:nvSpPr>
          <p:cNvPr id="12" name="Text 8"/>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454D57"/>
                </a:solidFill>
                <a:latin typeface="Atkinson Hyperlegible Next" pitchFamily="34" charset="0"/>
                <a:ea typeface="Atkinson Hyperlegible Next" pitchFamily="34" charset="-122"/>
                <a:cs typeface="Atkinson Hyperlegible Next"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640080" y="274320"/>
            <a:ext cx="10911535" cy="868680"/>
          </a:xfrm>
          <a:prstGeom prst="rect">
            <a:avLst/>
          </a:prstGeom>
          <a:noFill/>
          <a:ln/>
        </p:spPr>
        <p:txBody>
          <a:bodyPr wrap="square" lIns="0" tIns="0" rIns="0" bIns="0" rtlCol="0" anchor="b"/>
          <a:lstStyle/>
          <a:p>
            <a:pPr marL="0" indent="0">
              <a:buNone/>
            </a:pPr>
            <a:r>
              <a:rPr lang="en-US" sz="3000" b="1" dirty="0">
                <a:solidFill>
                  <a:srgbClr val="FFFFFF"/>
                </a:solidFill>
                <a:latin typeface="Atkinson Hyperlegible Next" pitchFamily="34" charset="0"/>
                <a:ea typeface="Atkinson Hyperlegible Next" pitchFamily="34" charset="-122"/>
                <a:cs typeface="Atkinson Hyperlegible Next" pitchFamily="34" charset="-120"/>
              </a:rPr>
              <a:t>How AI agents built HubMI</a:t>
            </a:r>
            <a:endParaRPr lang="en-US" sz="3000" dirty="0"/>
          </a:p>
          <a:p>
            <a:pPr marL="0" indent="0">
              <a:spcBef>
                <a:spcPts val="400"/>
              </a:spcBef>
              <a:buNone/>
            </a:pPr>
            <a:r>
              <a:rPr lang="en-US" sz="1500" dirty="0">
                <a:solidFill>
                  <a:srgbClr val="AEB7C2"/>
                </a:solidFill>
                <a:latin typeface="Atkinson Hyperlegible Next" pitchFamily="34" charset="0"/>
                <a:ea typeface="Atkinson Hyperlegible Next" pitchFamily="34" charset="-122"/>
                <a:cs typeface="Atkinson Hyperlegible Next" pitchFamily="34" charset="-120"/>
              </a:rPr>
              <a:t>Every Claude Code session and subagent, linked by who started whom, who wrote which files and who read them</a:t>
            </a:r>
            <a:endParaRPr lang="en-US" sz="3000" dirty="0"/>
          </a:p>
        </p:txBody>
      </p:sp>
      <p:pic>
        <p:nvPicPr>
          <p:cNvPr id="3" name="Image 0" descr="C:\Users\bobro\OneDrive\Developer\HackYeah2026\.local\presentation\source\img\agent-web.png"/>
          <p:cNvPicPr>
            <a:picLocks noChangeAspect="1"/>
          </p:cNvPicPr>
          <p:nvPr/>
        </p:nvPicPr>
        <p:blipFill>
          <a:blip r:embed="rId3"/>
          <a:stretch>
            <a:fillRect/>
          </a:stretch>
        </p:blipFill>
        <p:spPr>
          <a:xfrm>
            <a:off x="274320" y="1188720"/>
            <a:ext cx="11643055" cy="4572325"/>
          </a:xfrm>
          <a:prstGeom prst="rect">
            <a:avLst/>
          </a:prstGeom>
        </p:spPr>
      </p:pic>
      <p:sp>
        <p:nvSpPr>
          <p:cNvPr id="4" name="Text 1"/>
          <p:cNvSpPr txBox="1"/>
          <p:nvPr/>
        </p:nvSpPr>
        <p:spPr>
          <a:xfrm>
            <a:off x="640080" y="5898205"/>
            <a:ext cx="1843979" cy="776915"/>
          </a:xfrm>
          <a:prstGeom prst="rect">
            <a:avLst/>
          </a:prstGeom>
          <a:noFill/>
          <a:ln/>
        </p:spPr>
        <p:txBody>
          <a:bodyPr wrap="square" lIns="0" tIns="0" rIns="0" bIns="0" rtlCol="0" anchor="t"/>
          <a:lstStyle/>
          <a:p>
            <a:pPr marL="0" indent="0">
              <a:buNone/>
            </a:pPr>
            <a:r>
              <a:rPr lang="en-US" sz="2600" b="1" dirty="0">
                <a:solidFill>
                  <a:srgbClr val="9DC3F7"/>
                </a:solidFill>
                <a:latin typeface="Atkinson Hyperlegible Next" pitchFamily="34" charset="0"/>
                <a:ea typeface="Atkinson Hyperlegible Next" pitchFamily="34" charset="-122"/>
                <a:cs typeface="Atkinson Hyperlegible Next" pitchFamily="34" charset="-120"/>
              </a:rPr>
              <a:t>177</a:t>
            </a:r>
            <a:endParaRPr lang="en-US" sz="2600" dirty="0"/>
          </a:p>
          <a:p>
            <a:pPr marL="0" indent="0">
              <a:buNone/>
            </a:pPr>
            <a:r>
              <a:rPr lang="en-US" sz="1100" dirty="0">
                <a:solidFill>
                  <a:srgbClr val="D5DBE3"/>
                </a:solidFill>
                <a:latin typeface="Atkinson Hyperlegible Next" pitchFamily="34" charset="0"/>
                <a:ea typeface="Atkinson Hyperlegible Next" pitchFamily="34" charset="-122"/>
                <a:cs typeface="Atkinson Hyperlegible Next" pitchFamily="34" charset="-120"/>
              </a:rPr>
              <a:t>AI agents: 50 sessions and 127 subagents</a:t>
            </a:r>
            <a:endParaRPr lang="en-US" sz="2600" dirty="0"/>
          </a:p>
        </p:txBody>
      </p:sp>
      <p:sp>
        <p:nvSpPr>
          <p:cNvPr id="5" name="Text 2"/>
          <p:cNvSpPr txBox="1"/>
          <p:nvPr/>
        </p:nvSpPr>
        <p:spPr>
          <a:xfrm>
            <a:off x="2712659" y="5898205"/>
            <a:ext cx="1843979" cy="776915"/>
          </a:xfrm>
          <a:prstGeom prst="rect">
            <a:avLst/>
          </a:prstGeom>
          <a:noFill/>
          <a:ln/>
        </p:spPr>
        <p:txBody>
          <a:bodyPr wrap="square" lIns="0" tIns="0" rIns="0" bIns="0" rtlCol="0" anchor="t"/>
          <a:lstStyle/>
          <a:p>
            <a:pPr marL="0" indent="0">
              <a:buNone/>
            </a:pPr>
            <a:r>
              <a:rPr lang="en-US" sz="2600" b="1" dirty="0">
                <a:solidFill>
                  <a:srgbClr val="9DC3F7"/>
                </a:solidFill>
                <a:latin typeface="Atkinson Hyperlegible Next" pitchFamily="34" charset="0"/>
                <a:ea typeface="Atkinson Hyperlegible Next" pitchFamily="34" charset="-122"/>
                <a:cs typeface="Atkinson Hyperlegible Next" pitchFamily="34" charset="-120"/>
              </a:rPr>
              <a:t>993</a:t>
            </a:r>
            <a:endParaRPr lang="en-US" sz="2600" dirty="0"/>
          </a:p>
          <a:p>
            <a:pPr marL="0" indent="0">
              <a:buNone/>
            </a:pPr>
            <a:r>
              <a:rPr lang="en-US" sz="1100" dirty="0">
                <a:solidFill>
                  <a:srgbClr val="D5DBE3"/>
                </a:solidFill>
                <a:latin typeface="Atkinson Hyperlegible Next" pitchFamily="34" charset="0"/>
                <a:ea typeface="Atkinson Hyperlegible Next" pitchFamily="34" charset="-122"/>
                <a:cs typeface="Atkinson Hyperlegible Next" pitchFamily="34" charset="-120"/>
              </a:rPr>
              <a:t>links between them, 847 of them data flow</a:t>
            </a:r>
            <a:endParaRPr lang="en-US" sz="2600" dirty="0"/>
          </a:p>
        </p:txBody>
      </p:sp>
      <p:sp>
        <p:nvSpPr>
          <p:cNvPr id="6" name="Text 3"/>
          <p:cNvSpPr txBox="1"/>
          <p:nvPr/>
        </p:nvSpPr>
        <p:spPr>
          <a:xfrm>
            <a:off x="4785238" y="5898205"/>
            <a:ext cx="1843979" cy="776915"/>
          </a:xfrm>
          <a:prstGeom prst="rect">
            <a:avLst/>
          </a:prstGeom>
          <a:noFill/>
          <a:ln/>
        </p:spPr>
        <p:txBody>
          <a:bodyPr wrap="square" lIns="0" tIns="0" rIns="0" bIns="0" rtlCol="0" anchor="t"/>
          <a:lstStyle/>
          <a:p>
            <a:pPr marL="0" indent="0">
              <a:buNone/>
            </a:pPr>
            <a:r>
              <a:rPr lang="en-US" sz="2600" b="1" dirty="0">
                <a:solidFill>
                  <a:srgbClr val="9DC3F7"/>
                </a:solidFill>
                <a:latin typeface="Atkinson Hyperlegible Next" pitchFamily="34" charset="0"/>
                <a:ea typeface="Atkinson Hyperlegible Next" pitchFamily="34" charset="-122"/>
                <a:cs typeface="Atkinson Hyperlegible Next" pitchFamily="34" charset="-120"/>
              </a:rPr>
              <a:t>14</a:t>
            </a:r>
            <a:endParaRPr lang="en-US" sz="2600" dirty="0"/>
          </a:p>
          <a:p>
            <a:pPr marL="0" indent="0">
              <a:buNone/>
            </a:pPr>
            <a:r>
              <a:rPr lang="en-US" sz="1100" dirty="0">
                <a:solidFill>
                  <a:srgbClr val="D5DBE3"/>
                </a:solidFill>
                <a:latin typeface="Atkinson Hyperlegible Next" pitchFamily="34" charset="0"/>
                <a:ea typeface="Atkinson Hyperlegible Next" pitchFamily="34" charset="-122"/>
                <a:cs typeface="Atkinson Hyperlegible Next" pitchFamily="34" charset="-120"/>
              </a:rPr>
              <a:t>shared artifacts they wrote and read</a:t>
            </a:r>
            <a:endParaRPr lang="en-US" sz="2600" dirty="0"/>
          </a:p>
        </p:txBody>
      </p:sp>
      <p:sp>
        <p:nvSpPr>
          <p:cNvPr id="7" name="Text 4"/>
          <p:cNvSpPr txBox="1"/>
          <p:nvPr/>
        </p:nvSpPr>
        <p:spPr>
          <a:xfrm>
            <a:off x="6857817" y="5898205"/>
            <a:ext cx="1843979" cy="776915"/>
          </a:xfrm>
          <a:prstGeom prst="rect">
            <a:avLst/>
          </a:prstGeom>
          <a:noFill/>
          <a:ln/>
        </p:spPr>
        <p:txBody>
          <a:bodyPr wrap="square" lIns="0" tIns="0" rIns="0" bIns="0" rtlCol="0" anchor="t"/>
          <a:lstStyle/>
          <a:p>
            <a:pPr marL="0" indent="0">
              <a:buNone/>
            </a:pPr>
            <a:r>
              <a:rPr lang="en-US" sz="2600" b="1" dirty="0">
                <a:solidFill>
                  <a:srgbClr val="9DC3F7"/>
                </a:solidFill>
                <a:latin typeface="Atkinson Hyperlegible Next" pitchFamily="34" charset="0"/>
                <a:ea typeface="Atkinson Hyperlegible Next" pitchFamily="34" charset="-122"/>
                <a:cs typeface="Atkinson Hyperlegible Next" pitchFamily="34" charset="-120"/>
              </a:rPr>
              <a:t>50</a:t>
            </a:r>
            <a:endParaRPr lang="en-US" sz="2600" dirty="0"/>
          </a:p>
          <a:p>
            <a:pPr marL="0" indent="0">
              <a:buNone/>
            </a:pPr>
            <a:r>
              <a:rPr lang="en-US" sz="1100" dirty="0">
                <a:solidFill>
                  <a:srgbClr val="D5DBE3"/>
                </a:solidFill>
                <a:latin typeface="Atkinson Hyperlegible Next" pitchFamily="34" charset="0"/>
                <a:ea typeface="Atkinson Hyperlegible Next" pitchFamily="34" charset="-122"/>
                <a:cs typeface="Atkinson Hyperlegible Next" pitchFamily="34" charset="-120"/>
              </a:rPr>
              <a:t>subagents in a single extraction run</a:t>
            </a:r>
            <a:endParaRPr lang="en-US" sz="2600" dirty="0"/>
          </a:p>
        </p:txBody>
      </p:sp>
      <p:sp>
        <p:nvSpPr>
          <p:cNvPr id="8" name="Text 5"/>
          <p:cNvSpPr txBox="1"/>
          <p:nvPr/>
        </p:nvSpPr>
        <p:spPr>
          <a:xfrm>
            <a:off x="8930396" y="5898205"/>
            <a:ext cx="1843979" cy="776915"/>
          </a:xfrm>
          <a:prstGeom prst="rect">
            <a:avLst/>
          </a:prstGeom>
          <a:noFill/>
          <a:ln/>
        </p:spPr>
        <p:txBody>
          <a:bodyPr wrap="square" lIns="0" tIns="0" rIns="0" bIns="0" rtlCol="0" anchor="t"/>
          <a:lstStyle/>
          <a:p>
            <a:pPr marL="0" indent="0">
              <a:buNone/>
            </a:pPr>
            <a:r>
              <a:rPr lang="en-US" sz="2600" b="1" dirty="0">
                <a:solidFill>
                  <a:srgbClr val="9DC3F7"/>
                </a:solidFill>
                <a:latin typeface="Atkinson Hyperlegible Next" pitchFamily="34" charset="0"/>
                <a:ea typeface="Atkinson Hyperlegible Next" pitchFamily="34" charset="-122"/>
                <a:cs typeface="Atkinson Hyperlegible Next" pitchFamily="34" charset="-120"/>
              </a:rPr>
              <a:t>4</a:t>
            </a:r>
            <a:endParaRPr lang="en-US" sz="2600" dirty="0"/>
          </a:p>
          <a:p>
            <a:pPr marL="0" indent="0">
              <a:buNone/>
            </a:pPr>
            <a:r>
              <a:rPr lang="en-US" sz="1100" dirty="0">
                <a:solidFill>
                  <a:srgbClr val="D5DBE3"/>
                </a:solidFill>
                <a:latin typeface="Atkinson Hyperlegible Next" pitchFamily="34" charset="0"/>
                <a:ea typeface="Atkinson Hyperlegible Next" pitchFamily="34" charset="-122"/>
                <a:cs typeface="Atkinson Hyperlegible Next" pitchFamily="34" charset="-120"/>
              </a:rPr>
              <a:t>Claude models: Sonnet, Opus, Fable, Haiku</a:t>
            </a:r>
            <a:endParaRPr lang="en-US" sz="2600" dirty="0"/>
          </a:p>
        </p:txBody>
      </p:sp>
      <p:sp>
        <p:nvSpPr>
          <p:cNvPr id="9" name="Text 6"/>
          <p:cNvSpPr txBox="1"/>
          <p:nvPr/>
        </p:nvSpPr>
        <p:spPr>
          <a:xfrm>
            <a:off x="9722815" y="6473952"/>
            <a:ext cx="1828800" cy="274320"/>
          </a:xfrm>
          <a:prstGeom prst="rect">
            <a:avLst/>
          </a:prstGeom>
          <a:noFill/>
          <a:ln/>
        </p:spPr>
        <p:txBody>
          <a:bodyPr wrap="square" lIns="0" tIns="0" rIns="0" bIns="0" rtlCol="0" anchor="ctr"/>
          <a:lstStyle/>
          <a:p>
            <a:pPr marL="0" indent="0" algn="r">
              <a:buNone/>
            </a:pPr>
            <a:r>
              <a:rPr lang="en-US" sz="1000" dirty="0">
                <a:solidFill>
                  <a:srgbClr val="8C96A3"/>
                </a:solidFill>
                <a:latin typeface="Atkinson Hyperlegible Next" pitchFamily="34" charset="0"/>
                <a:ea typeface="Atkinson Hyperlegible Next" pitchFamily="34" charset="-122"/>
                <a:cs typeface="Atkinson Hyperlegible Next"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3210</Words>
  <Application>Microsoft Office PowerPoint</Application>
  <PresentationFormat>Widescreen</PresentationFormat>
  <Paragraphs>219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Atkinson Hyperlegible Next</vt:lpstr>
      <vt:lpstr>Georgia</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HubMI: from need to solution</dc:title>
  <dc:subject>PptxGenJS Presentation</dc:subject>
  <dc:creator>Team HubMI, HackYeah 2026</dc:creator>
  <cp:lastModifiedBy>Alexander Bobrovsky</cp:lastModifiedBy>
  <cp:revision>2</cp:revision>
  <dcterms:created xsi:type="dcterms:W3CDTF">2026-10-02T04:52:55Z</dcterms:created>
  <dcterms:modified xsi:type="dcterms:W3CDTF">2026-10-02T04:53:22Z</dcterms:modified>
</cp:coreProperties>
</file>